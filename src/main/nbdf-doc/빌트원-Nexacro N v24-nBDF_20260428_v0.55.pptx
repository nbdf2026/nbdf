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126"/>
  </p:notesMasterIdLst>
  <p:handoutMasterIdLst>
    <p:handoutMasterId r:id="rId127"/>
  </p:handoutMasterIdLst>
  <p:sldIdLst>
    <p:sldId id="277" r:id="rId2"/>
    <p:sldId id="970" r:id="rId3"/>
    <p:sldId id="949" r:id="rId4"/>
    <p:sldId id="983" r:id="rId5"/>
    <p:sldId id="988" r:id="rId6"/>
    <p:sldId id="438" r:id="rId7"/>
    <p:sldId id="862" r:id="rId8"/>
    <p:sldId id="865" r:id="rId9"/>
    <p:sldId id="866" r:id="rId10"/>
    <p:sldId id="867" r:id="rId11"/>
    <p:sldId id="871" r:id="rId12"/>
    <p:sldId id="966" r:id="rId13"/>
    <p:sldId id="965" r:id="rId14"/>
    <p:sldId id="967" r:id="rId15"/>
    <p:sldId id="962" r:id="rId16"/>
    <p:sldId id="963" r:id="rId17"/>
    <p:sldId id="900" r:id="rId18"/>
    <p:sldId id="901" r:id="rId19"/>
    <p:sldId id="971" r:id="rId20"/>
    <p:sldId id="899" r:id="rId21"/>
    <p:sldId id="973" r:id="rId22"/>
    <p:sldId id="904" r:id="rId23"/>
    <p:sldId id="905" r:id="rId24"/>
    <p:sldId id="964" r:id="rId25"/>
    <p:sldId id="907" r:id="rId26"/>
    <p:sldId id="968" r:id="rId27"/>
    <p:sldId id="972" r:id="rId28"/>
    <p:sldId id="1010" r:id="rId29"/>
    <p:sldId id="1011" r:id="rId30"/>
    <p:sldId id="961" r:id="rId31"/>
    <p:sldId id="872" r:id="rId32"/>
    <p:sldId id="874" r:id="rId33"/>
    <p:sldId id="875" r:id="rId34"/>
    <p:sldId id="876" r:id="rId35"/>
    <p:sldId id="877" r:id="rId36"/>
    <p:sldId id="937" r:id="rId37"/>
    <p:sldId id="878" r:id="rId38"/>
    <p:sldId id="879" r:id="rId39"/>
    <p:sldId id="880" r:id="rId40"/>
    <p:sldId id="882" r:id="rId41"/>
    <p:sldId id="969" r:id="rId42"/>
    <p:sldId id="883" r:id="rId43"/>
    <p:sldId id="884" r:id="rId44"/>
    <p:sldId id="951" r:id="rId45"/>
    <p:sldId id="885" r:id="rId46"/>
    <p:sldId id="886" r:id="rId47"/>
    <p:sldId id="887" r:id="rId48"/>
    <p:sldId id="953" r:id="rId49"/>
    <p:sldId id="954" r:id="rId50"/>
    <p:sldId id="955" r:id="rId51"/>
    <p:sldId id="958" r:id="rId52"/>
    <p:sldId id="974" r:id="rId53"/>
    <p:sldId id="959" r:id="rId54"/>
    <p:sldId id="975" r:id="rId55"/>
    <p:sldId id="976" r:id="rId56"/>
    <p:sldId id="894" r:id="rId57"/>
    <p:sldId id="977" r:id="rId58"/>
    <p:sldId id="978" r:id="rId59"/>
    <p:sldId id="979" r:id="rId60"/>
    <p:sldId id="980" r:id="rId61"/>
    <p:sldId id="981" r:id="rId62"/>
    <p:sldId id="888" r:id="rId63"/>
    <p:sldId id="893" r:id="rId64"/>
    <p:sldId id="1012" r:id="rId65"/>
    <p:sldId id="1013" r:id="rId66"/>
    <p:sldId id="1014" r:id="rId67"/>
    <p:sldId id="1015" r:id="rId68"/>
    <p:sldId id="1016" r:id="rId69"/>
    <p:sldId id="1017" r:id="rId70"/>
    <p:sldId id="1018" r:id="rId71"/>
    <p:sldId id="1019" r:id="rId72"/>
    <p:sldId id="1020" r:id="rId73"/>
    <p:sldId id="914" r:id="rId74"/>
    <p:sldId id="911" r:id="rId75"/>
    <p:sldId id="913" r:id="rId76"/>
    <p:sldId id="982" r:id="rId77"/>
    <p:sldId id="912" r:id="rId78"/>
    <p:sldId id="939" r:id="rId79"/>
    <p:sldId id="940" r:id="rId80"/>
    <p:sldId id="943" r:id="rId81"/>
    <p:sldId id="942" r:id="rId82"/>
    <p:sldId id="915" r:id="rId83"/>
    <p:sldId id="990" r:id="rId84"/>
    <p:sldId id="991" r:id="rId85"/>
    <p:sldId id="992" r:id="rId86"/>
    <p:sldId id="989" r:id="rId87"/>
    <p:sldId id="923" r:id="rId88"/>
    <p:sldId id="917" r:id="rId89"/>
    <p:sldId id="924" r:id="rId90"/>
    <p:sldId id="925" r:id="rId91"/>
    <p:sldId id="926" r:id="rId92"/>
    <p:sldId id="930" r:id="rId93"/>
    <p:sldId id="931" r:id="rId94"/>
    <p:sldId id="987" r:id="rId95"/>
    <p:sldId id="1000" r:id="rId96"/>
    <p:sldId id="1001" r:id="rId97"/>
    <p:sldId id="1002" r:id="rId98"/>
    <p:sldId id="993" r:id="rId99"/>
    <p:sldId id="922" r:id="rId100"/>
    <p:sldId id="1008" r:id="rId101"/>
    <p:sldId id="998" r:id="rId102"/>
    <p:sldId id="999" r:id="rId103"/>
    <p:sldId id="1003" r:id="rId104"/>
    <p:sldId id="1005" r:id="rId105"/>
    <p:sldId id="1006" r:id="rId106"/>
    <p:sldId id="1007" r:id="rId107"/>
    <p:sldId id="1009" r:id="rId108"/>
    <p:sldId id="984" r:id="rId109"/>
    <p:sldId id="945" r:id="rId110"/>
    <p:sldId id="946" r:id="rId111"/>
    <p:sldId id="947" r:id="rId112"/>
    <p:sldId id="944" r:id="rId113"/>
    <p:sldId id="941" r:id="rId114"/>
    <p:sldId id="948" r:id="rId115"/>
    <p:sldId id="896" r:id="rId116"/>
    <p:sldId id="889" r:id="rId117"/>
    <p:sldId id="891" r:id="rId118"/>
    <p:sldId id="892" r:id="rId119"/>
    <p:sldId id="902" r:id="rId120"/>
    <p:sldId id="903" r:id="rId121"/>
    <p:sldId id="908" r:id="rId122"/>
    <p:sldId id="909" r:id="rId123"/>
    <p:sldId id="910" r:id="rId124"/>
    <p:sldId id="480" r:id="rId125"/>
  </p:sldIdLst>
  <p:sldSz cx="9906000" cy="6858000" type="A4"/>
  <p:notesSz cx="6797675" cy="9874250"/>
  <p:embeddedFontLst>
    <p:embeddedFont>
      <p:font typeface="D2Coding" panose="020B0609020101020101" pitchFamily="49" charset="-127"/>
      <p:regular r:id="rId128"/>
      <p:bold r:id="rId129"/>
    </p:embeddedFont>
    <p:embeddedFont>
      <p:font typeface="Pretendard" panose="02000503000000020004" pitchFamily="2" charset="-127"/>
      <p:regular r:id="rId130"/>
      <p:bold r:id="rId131"/>
    </p:embeddedFont>
    <p:embeddedFont>
      <p:font typeface="맑은 고딕" panose="020B0503020000020004" pitchFamily="50" charset="-127"/>
      <p:regular r:id="rId132"/>
      <p:bold r:id="rId13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6194E6F-382C-4068-A65C-0FBA48032718}">
          <p14:sldIdLst>
            <p14:sldId id="277"/>
            <p14:sldId id="970"/>
            <p14:sldId id="949"/>
            <p14:sldId id="983"/>
            <p14:sldId id="988"/>
          </p14:sldIdLst>
        </p14:section>
        <p14:section name="1.프로그램 설치" id="{9BF3F2B4-66D1-4C30-BC3C-167CE68A0EB6}">
          <p14:sldIdLst>
            <p14:sldId id="438"/>
            <p14:sldId id="862"/>
            <p14:sldId id="865"/>
            <p14:sldId id="866"/>
            <p14:sldId id="867"/>
            <p14:sldId id="871"/>
            <p14:sldId id="966"/>
            <p14:sldId id="965"/>
            <p14:sldId id="967"/>
            <p14:sldId id="962"/>
            <p14:sldId id="963"/>
          </p14:sldIdLst>
        </p14:section>
        <p14:section name="2.이클립스 환경 설정" id="{9ACE4A21-7C42-41C6-B80B-E29FC6390ED6}">
          <p14:sldIdLst>
            <p14:sldId id="900"/>
            <p14:sldId id="901"/>
            <p14:sldId id="971"/>
            <p14:sldId id="899"/>
            <p14:sldId id="973"/>
            <p14:sldId id="904"/>
            <p14:sldId id="905"/>
            <p14:sldId id="964"/>
            <p14:sldId id="907"/>
            <p14:sldId id="968"/>
            <p14:sldId id="972"/>
            <p14:sldId id="1010"/>
            <p14:sldId id="1011"/>
          </p14:sldIdLst>
        </p14:section>
        <p14:section name="3.넥사크로 UI Adapter 설정" id="{C5B76772-CB43-4134-BA2A-7601CA4A27A8}">
          <p14:sldIdLst>
            <p14:sldId id="961"/>
            <p14:sldId id="872"/>
            <p14:sldId id="874"/>
            <p14:sldId id="875"/>
            <p14:sldId id="876"/>
            <p14:sldId id="877"/>
            <p14:sldId id="937"/>
            <p14:sldId id="878"/>
            <p14:sldId id="879"/>
            <p14:sldId id="880"/>
            <p14:sldId id="882"/>
            <p14:sldId id="969"/>
            <p14:sldId id="883"/>
            <p14:sldId id="884"/>
            <p14:sldId id="951"/>
            <p14:sldId id="885"/>
            <p14:sldId id="886"/>
          </p14:sldIdLst>
        </p14:section>
        <p14:section name="4.ERP 프로젝트 환경 전환" id="{553DD968-EF09-42DF-A396-F40DA2E2B5A2}">
          <p14:sldIdLst>
            <p14:sldId id="887"/>
            <p14:sldId id="953"/>
            <p14:sldId id="954"/>
            <p14:sldId id="955"/>
            <p14:sldId id="958"/>
            <p14:sldId id="974"/>
            <p14:sldId id="959"/>
            <p14:sldId id="975"/>
            <p14:sldId id="976"/>
            <p14:sldId id="894"/>
            <p14:sldId id="977"/>
            <p14:sldId id="978"/>
            <p14:sldId id="979"/>
            <p14:sldId id="980"/>
            <p14:sldId id="981"/>
            <p14:sldId id="888"/>
            <p14:sldId id="893"/>
            <p14:sldId id="1012"/>
            <p14:sldId id="1013"/>
            <p14:sldId id="1014"/>
            <p14:sldId id="1015"/>
            <p14:sldId id="1016"/>
            <p14:sldId id="1017"/>
            <p14:sldId id="1018"/>
            <p14:sldId id="1019"/>
            <p14:sldId id="1020"/>
          </p14:sldIdLst>
        </p14:section>
        <p14:section name="5.프로그램 명명 규칙" id="{79F85B85-A8E3-4687-A579-727E99DAA25C}">
          <p14:sldIdLst>
            <p14:sldId id="914"/>
            <p14:sldId id="911"/>
          </p14:sldIdLst>
        </p14:section>
        <p14:section name="6.넥사크로 환경 설정" id="{579C4B6F-CBBC-48E4-B459-F4485E65BCBF}">
          <p14:sldIdLst>
            <p14:sldId id="913"/>
            <p14:sldId id="982"/>
            <p14:sldId id="912"/>
            <p14:sldId id="939"/>
            <p14:sldId id="940"/>
            <p14:sldId id="943"/>
            <p14:sldId id="942"/>
          </p14:sldIdLst>
        </p14:section>
        <p14:section name="7.git 설치" id="{9A69451F-79FF-4427-B7EF-0BB8DE4027C8}">
          <p14:sldIdLst>
            <p14:sldId id="915"/>
            <p14:sldId id="990"/>
            <p14:sldId id="991"/>
            <p14:sldId id="992"/>
          </p14:sldIdLst>
        </p14:section>
        <p14:section name="8.GitHub Repository 생성 및 Add People" id="{5A6D2016-8D42-4543-8783-404B457874DA}">
          <p14:sldIdLst>
            <p14:sldId id="989"/>
            <p14:sldId id="923"/>
            <p14:sldId id="917"/>
            <p14:sldId id="924"/>
            <p14:sldId id="925"/>
            <p14:sldId id="926"/>
            <p14:sldId id="930"/>
            <p14:sldId id="931"/>
            <p14:sldId id="987"/>
            <p14:sldId id="1000"/>
            <p14:sldId id="1001"/>
          </p14:sldIdLst>
        </p14:section>
        <p14:section name="9.최초 프로젝트 Clone, pull and push" id="{D042FAA9-85BB-4934-AD1F-8D5C0232070C}">
          <p14:sldIdLst>
            <p14:sldId id="1002"/>
            <p14:sldId id="993"/>
            <p14:sldId id="922"/>
            <p14:sldId id="1008"/>
            <p14:sldId id="998"/>
            <p14:sldId id="999"/>
            <p14:sldId id="1003"/>
            <p14:sldId id="1005"/>
            <p14:sldId id="1006"/>
            <p14:sldId id="1007"/>
            <p14:sldId id="1009"/>
          </p14:sldIdLst>
        </p14:section>
        <p14:section name="10.넥사크로 공통기능 설정" id="{AC891C1A-4FCF-4A04-A0E6-80477B6CD8ED}">
          <p14:sldIdLst>
            <p14:sldId id="984"/>
            <p14:sldId id="945"/>
            <p14:sldId id="946"/>
            <p14:sldId id="947"/>
            <p14:sldId id="944"/>
            <p14:sldId id="941"/>
            <p14:sldId id="948"/>
          </p14:sldIdLst>
        </p14:section>
        <p14:section name="10.조회 프로그램 작성" id="{26589709-4C61-4DCC-830F-6980AB255DC0}">
          <p14:sldIdLst>
            <p14:sldId id="896"/>
            <p14:sldId id="889"/>
            <p14:sldId id="891"/>
            <p14:sldId id="892"/>
            <p14:sldId id="902"/>
            <p14:sldId id="903"/>
            <p14:sldId id="908"/>
            <p14:sldId id="909"/>
            <p14:sldId id="910"/>
          </p14:sldIdLst>
        </p14:section>
        <p14:section name="감사합니다." id="{2BDE5215-8A35-44C5-9C0A-8B6D4D199597}">
          <p14:sldIdLst>
            <p14:sldId id="480"/>
          </p14:sldIdLst>
        </p14:section>
      </p14:sectionLst>
    </p:ext>
    <p:ext uri="{EFAFB233-063F-42B5-8137-9DF3F51BA10A}">
      <p15:sldGuideLst xmlns:p15="http://schemas.microsoft.com/office/powerpoint/2012/main">
        <p15:guide id="6" orient="horz" pos="391">
          <p15:clr>
            <a:srgbClr val="A4A3A4"/>
          </p15:clr>
        </p15:guide>
        <p15:guide id="7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정기" initials="강" lastIdx="0" clrIdx="0">
    <p:extLst>
      <p:ext uri="{19B8F6BF-5375-455C-9EA6-DF929625EA0E}">
        <p15:presenceInfo xmlns:p15="http://schemas.microsoft.com/office/powerpoint/2012/main" userId="강정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FF"/>
    <a:srgbClr val="FF3300"/>
    <a:srgbClr val="00FF00"/>
    <a:srgbClr val="7DD1FF"/>
    <a:srgbClr val="FF0066"/>
    <a:srgbClr val="EE1C25"/>
    <a:srgbClr val="5A5A5A"/>
    <a:srgbClr val="80808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6571" autoAdjust="0"/>
  </p:normalViewPr>
  <p:slideViewPr>
    <p:cSldViewPr snapToObjects="1" showGuides="1">
      <p:cViewPr varScale="1">
        <p:scale>
          <a:sx n="105" d="100"/>
          <a:sy n="105" d="100"/>
        </p:scale>
        <p:origin x="678" y="-18"/>
      </p:cViewPr>
      <p:guideLst>
        <p:guide orient="horz" pos="391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78" d="100"/>
          <a:sy n="78" d="100"/>
        </p:scale>
        <p:origin x="-4086" y="-10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font" Target="fonts/font1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commentAuthors" Target="commentAuthor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font" Target="fonts/font2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3.fntdata"/><Relationship Id="rId135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4.fntdata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font" Target="fonts/font5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r">
              <a:defRPr sz="1200"/>
            </a:lvl1pPr>
          </a:lstStyle>
          <a:p>
            <a:fld id="{288C2AEE-21CA-4571-A7FF-D57A2D9C665B}" type="datetimeFigureOut">
              <a:rPr lang="ko-KR" altLang="en-US" smtClean="0"/>
              <a:pPr/>
              <a:t>2026-06-19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r">
              <a:defRPr sz="1200"/>
            </a:lvl1pPr>
          </a:lstStyle>
          <a:p>
            <a:fld id="{98BEF993-7811-4F14-B64F-D37093BF2E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9792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r">
              <a:defRPr sz="1200"/>
            </a:lvl1pPr>
          </a:lstStyle>
          <a:p>
            <a:fld id="{79DEEBEA-F324-4CD5-845E-15A6CD0FE458}" type="datetimeFigureOut">
              <a:rPr lang="ko-KR" altLang="en-US" smtClean="0"/>
              <a:pPr/>
              <a:t>2026-06-19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3900" y="741363"/>
            <a:ext cx="5349875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38" tIns="45569" rIns="91138" bIns="4556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2"/>
          </a:xfrm>
          <a:prstGeom prst="rect">
            <a:avLst/>
          </a:prstGeom>
        </p:spPr>
        <p:txBody>
          <a:bodyPr vert="horz" lIns="91138" tIns="45569" rIns="91138" bIns="45569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r">
              <a:defRPr sz="1200"/>
            </a:lvl1pPr>
          </a:lstStyle>
          <a:p>
            <a:fld id="{C3E41871-1C59-4583-A9C2-5004F498C3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4058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"/>
          <p:cNvSpPr>
            <a:spLocks noGrp="1"/>
          </p:cNvSpPr>
          <p:nvPr>
            <p:ph type="body" sz="quarter" idx="13" hasCustomPrompt="1"/>
          </p:nvPr>
        </p:nvSpPr>
        <p:spPr>
          <a:xfrm>
            <a:off x="630339" y="2060848"/>
            <a:ext cx="8643735" cy="1151954"/>
          </a:xfrm>
          <a:prstGeom prst="rect">
            <a:avLst/>
          </a:prstGeom>
        </p:spPr>
        <p:txBody>
          <a:bodyPr lIns="0" tIns="0" rIns="0" bIns="0"/>
          <a:lstStyle>
            <a:lvl1pPr algn="ctr">
              <a:buNone/>
              <a:defRPr lang="ko-KR" altLang="en-US" sz="3200" b="1" kern="1200" spc="-8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 algn="ctr"/>
            <a:r>
              <a:rPr lang="en-US" altLang="en-US" sz="3600" dirty="0"/>
              <a:t>Nexacro N v24 </a:t>
            </a:r>
            <a:r>
              <a:rPr lang="ko-KR" altLang="en-US" sz="3600" dirty="0"/>
              <a:t>교육자료</a:t>
            </a:r>
            <a:r>
              <a:rPr lang="en-US" altLang="en-US" sz="3600" dirty="0"/>
              <a:t> </a:t>
            </a:r>
            <a:endParaRPr lang="en-US" altLang="ko-KR" sz="3600" dirty="0"/>
          </a:p>
        </p:txBody>
      </p:sp>
      <p:sp>
        <p:nvSpPr>
          <p:cNvPr id="22" name="텍스트 개체 틀 2"/>
          <p:cNvSpPr>
            <a:spLocks noGrp="1"/>
          </p:cNvSpPr>
          <p:nvPr>
            <p:ph type="body" sz="quarter" idx="14" hasCustomPrompt="1"/>
          </p:nvPr>
        </p:nvSpPr>
        <p:spPr>
          <a:xfrm>
            <a:off x="630339" y="3333441"/>
            <a:ext cx="8643735" cy="629233"/>
          </a:xfrm>
          <a:prstGeom prst="rect">
            <a:avLst/>
          </a:prstGeom>
        </p:spPr>
        <p:txBody>
          <a:bodyPr lIns="0" tIns="0" rIns="0" bIns="0"/>
          <a:lstStyle>
            <a:lvl1pPr marL="449263" indent="-268288" algn="ctr">
              <a:buFont typeface="+mj-lt"/>
              <a:buAutoNum type="arabicPeriod"/>
              <a:defRPr sz="1800" b="0" spc="-8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/>
              <a:t>소제목은 맑은고딕 </a:t>
            </a:r>
            <a:r>
              <a:rPr lang="en-US" altLang="ko-KR"/>
              <a:t>18pt</a:t>
            </a:r>
            <a:r>
              <a:rPr lang="ko-KR" altLang="en-US"/>
              <a:t>를 사용합니다</a:t>
            </a:r>
            <a:endParaRPr lang="en-US" altLang="ko-KR"/>
          </a:p>
        </p:txBody>
      </p:sp>
      <p:cxnSp>
        <p:nvCxnSpPr>
          <p:cNvPr id="165" name="직선 연결선 1"/>
          <p:cNvCxnSpPr/>
          <p:nvPr userDrawn="1"/>
        </p:nvCxnSpPr>
        <p:spPr>
          <a:xfrm>
            <a:off x="342955" y="6290270"/>
            <a:ext cx="9218503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텍스트 개체 틀 4"/>
          <p:cNvSpPr txBox="1">
            <a:spLocks/>
          </p:cNvSpPr>
          <p:nvPr userDrawn="1"/>
        </p:nvSpPr>
        <p:spPr>
          <a:xfrm>
            <a:off x="344488" y="6347420"/>
            <a:ext cx="9216970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Segoe U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빌트원은 기업 규모에 맞는 방법론을 채택하여 업무 프로세스 개선 및 시스템 구현 부문에 대한 실적을 인정 받고 있으며</a:t>
            </a:r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또한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성공적인 프로젝트를 이끌수 있는 최적의 파트너로 자리 매김하고 있습니다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.</a:t>
            </a:r>
            <a:endParaRPr lang="en-GB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5761ADB-825B-4D12-B7C4-AB3A594A06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44736" y="4981215"/>
            <a:ext cx="816528" cy="3199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44.png"/>
          <p:cNvPicPr>
            <a:picLocks/>
          </p:cNvPicPr>
          <p:nvPr userDrawn="1"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665" t="1286" r="1461" b="3613"/>
          <a:stretch>
            <a:fillRect/>
          </a:stretch>
        </p:blipFill>
        <p:spPr>
          <a:xfrm>
            <a:off x="342954" y="28768"/>
            <a:ext cx="2088335" cy="1195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31" name="텍스트 개체 틀 1"/>
          <p:cNvSpPr>
            <a:spLocks noGrp="1"/>
          </p:cNvSpPr>
          <p:nvPr>
            <p:ph type="body" sz="quarter" idx="15" hasCustomPrompt="1"/>
          </p:nvPr>
        </p:nvSpPr>
        <p:spPr>
          <a:xfrm>
            <a:off x="2576736" y="1412775"/>
            <a:ext cx="5544616" cy="4896541"/>
          </a:xfrm>
          <a:prstGeom prst="rect">
            <a:avLst/>
          </a:prstGeom>
        </p:spPr>
        <p:txBody>
          <a:bodyPr lIns="0" tIns="0" rIns="0" bIns="0"/>
          <a:lstStyle>
            <a:lvl1pPr marL="311150" marR="0" indent="-3111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 sz="1600" b="1" spc="-8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  <a:lvl2pPr marL="630238" indent="-268288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  <a:defRPr sz="1500" b="1" spc="-8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2pPr>
            <a:lvl3pPr marL="801688" indent="-171450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tabLst>
                <a:tab pos="1165225" algn="l"/>
              </a:tabLst>
              <a:defRPr sz="1200" spc="-8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3pPr>
            <a:lvl4pPr marL="982663" indent="-180975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defRPr sz="1100" spc="-8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4pPr>
          </a:lstStyle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pPr marL="311150" marR="0" lvl="0" indent="-3111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pPr marL="311150" marR="0" lvl="0" indent="-3111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en-US" altLang="ko-KR" dirty="0"/>
              <a:t>git </a:t>
            </a:r>
            <a:r>
              <a:rPr lang="ko-KR" altLang="en-US" dirty="0"/>
              <a:t>설치 및 프로젝트 적용</a:t>
            </a:r>
          </a:p>
          <a:p>
            <a:r>
              <a:rPr lang="ko-KR" altLang="en-US" dirty="0"/>
              <a:t>넥사크로 공통기능 설정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  <p:pic>
        <p:nvPicPr>
          <p:cNvPr id="12" name="그림 11" descr="038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92924" y="454497"/>
            <a:ext cx="1588395" cy="286207"/>
          </a:xfrm>
          <a:prstGeom prst="rect">
            <a:avLst/>
          </a:prstGeom>
        </p:spPr>
      </p:pic>
      <p:cxnSp>
        <p:nvCxnSpPr>
          <p:cNvPr id="9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7DB6CD0C-8B6D-4740-8F52-90F46BC64D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.프로젝트 구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0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FBE262-4A39-433D-8CC0-D8BBA3910176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프로젝트 구성</a:t>
            </a:r>
          </a:p>
        </p:txBody>
      </p:sp>
    </p:spTree>
    <p:extLst>
      <p:ext uri="{BB962C8B-B14F-4D97-AF65-F5344CB8AC3E}">
        <p14:creationId xmlns:p14="http://schemas.microsoft.com/office/powerpoint/2010/main" val="3106725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프로그램 설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Ⅰ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FBE262-4A39-433D-8CC0-D8BBA3910176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프로그램 설치</a:t>
            </a:r>
          </a:p>
        </p:txBody>
      </p:sp>
    </p:spTree>
    <p:extLst>
      <p:ext uri="{BB962C8B-B14F-4D97-AF65-F5344CB8AC3E}">
        <p14:creationId xmlns:p14="http://schemas.microsoft.com/office/powerpoint/2010/main" val="789899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6068" userDrawn="1">
          <p15:clr>
            <a:srgbClr val="FBAE40"/>
          </p15:clr>
        </p15:guide>
        <p15:guide id="4" pos="172" userDrawn="1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4662" userDrawn="1">
          <p15:clr>
            <a:srgbClr val="FBAE40"/>
          </p15:clr>
        </p15:guide>
        <p15:guide id="8" pos="217" userDrawn="1">
          <p15:clr>
            <a:srgbClr val="FBAE40"/>
          </p15:clr>
        </p15:guide>
        <p15:guide id="9" pos="4617" userDrawn="1">
          <p15:clr>
            <a:srgbClr val="FBAE40"/>
          </p15:clr>
        </p15:guide>
        <p15:guide id="10" orient="horz" pos="890" userDrawn="1">
          <p15:clr>
            <a:srgbClr val="FBAE40"/>
          </p15:clr>
        </p15:guide>
        <p15:guide id="11" orient="horz" pos="397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ERP 프로젝트 환경 전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Ⅱ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3C454B-231D-48F0-856D-FD5F2588400B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이클립스 환경 설정</a:t>
            </a:r>
          </a:p>
        </p:txBody>
      </p:sp>
    </p:spTree>
    <p:extLst>
      <p:ext uri="{BB962C8B-B14F-4D97-AF65-F5344CB8AC3E}">
        <p14:creationId xmlns:p14="http://schemas.microsoft.com/office/powerpoint/2010/main" val="11587180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>
          <p15:clr>
            <a:srgbClr val="FBAE40"/>
          </p15:clr>
        </p15:guide>
        <p15:guide id="6" orient="horz" pos="845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pos="4662">
          <p15:clr>
            <a:srgbClr val="FBAE40"/>
          </p15:clr>
        </p15:guide>
        <p15:guide id="9" orient="horz" pos="890">
          <p15:clr>
            <a:srgbClr val="FBAE40"/>
          </p15:clr>
        </p15:guide>
        <p15:guide id="10" orient="horz" pos="3974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넥사크로 UI Adapter 설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Ⅲ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8A69A-4369-49C2-B754-8A90DE4ABF07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19962922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217" userDrawn="1">
          <p15:clr>
            <a:srgbClr val="FBAE40"/>
          </p15:clr>
        </p15:guide>
        <p15:guide id="8" pos="4662" userDrawn="1">
          <p15:clr>
            <a:srgbClr val="FBAE40"/>
          </p15:clr>
        </p15:guide>
        <p15:guide id="9" pos="4617" userDrawn="1">
          <p15:clr>
            <a:srgbClr val="FBAE40"/>
          </p15:clr>
        </p15:guide>
        <p15:guide id="10" orient="horz" pos="3974" userDrawn="1">
          <p15:clr>
            <a:srgbClr val="FBAE40"/>
          </p15:clr>
        </p15:guide>
        <p15:guide id="11" orient="horz" pos="89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ERP 프로젝트 환경 전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Ⅳ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3C454B-231D-48F0-856D-FD5F2588400B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</a:p>
        </p:txBody>
      </p:sp>
    </p:spTree>
    <p:extLst>
      <p:ext uri="{BB962C8B-B14F-4D97-AF65-F5344CB8AC3E}">
        <p14:creationId xmlns:p14="http://schemas.microsoft.com/office/powerpoint/2010/main" val="168855477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 userDrawn="1">
          <p15:clr>
            <a:srgbClr val="FBAE40"/>
          </p15:clr>
        </p15:guide>
        <p15:guide id="6" orient="horz" pos="845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  <p15:guide id="8" pos="4662" userDrawn="1">
          <p15:clr>
            <a:srgbClr val="FBAE40"/>
          </p15:clr>
        </p15:guide>
        <p15:guide id="9" orient="horz" pos="890" userDrawn="1">
          <p15:clr>
            <a:srgbClr val="FBAE40"/>
          </p15:clr>
        </p15:guide>
        <p15:guide id="10" orient="horz" pos="3974" userDrawn="1">
          <p15:clr>
            <a:srgbClr val="FBAE40"/>
          </p15:clr>
        </p15:guide>
        <p15:guide id="11" pos="461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프로그램 명명규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Ⅴ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프로그램 명명규칙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264075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217" userDrawn="1">
          <p15:clr>
            <a:srgbClr val="FBAE40"/>
          </p15:clr>
        </p15:guide>
        <p15:guide id="8" pos="4662" userDrawn="1">
          <p15:clr>
            <a:srgbClr val="FBAE40"/>
          </p15:clr>
        </p15:guide>
        <p15:guide id="9" pos="4617" userDrawn="1">
          <p15:clr>
            <a:srgbClr val="FBAE40"/>
          </p15:clr>
        </p15:guide>
        <p15:guide id="10" orient="horz" pos="3974" userDrawn="1">
          <p15:clr>
            <a:srgbClr val="FBAE40"/>
          </p15:clr>
        </p15:guide>
        <p15:guide id="1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넥사크로 환경 설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Ⅵ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넥사크로 환경 설정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56915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 userDrawn="1">
          <p15:clr>
            <a:srgbClr val="FBAE40"/>
          </p15:clr>
        </p15:guide>
        <p15:guide id="6" orient="horz" pos="845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  <p15:guide id="8" orient="horz" pos="890" userDrawn="1">
          <p15:clr>
            <a:srgbClr val="FBAE40"/>
          </p15:clr>
        </p15:guide>
        <p15:guide id="9" orient="horz" pos="3974" userDrawn="1">
          <p15:clr>
            <a:srgbClr val="FBAE40"/>
          </p15:clr>
        </p15:guide>
        <p15:guide id="10" pos="4662" userDrawn="1">
          <p15:clr>
            <a:srgbClr val="FBAE40"/>
          </p15:clr>
        </p15:guide>
        <p15:guide id="11" pos="461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git 설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Ⅶ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dirty="0"/>
              <a:t>git </a:t>
            </a:r>
            <a:r>
              <a:rPr lang="ko-KR" altLang="en-US" dirty="0"/>
              <a:t>설치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041977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pos="4662">
          <p15:clr>
            <a:srgbClr val="FBAE40"/>
          </p15:clr>
        </p15:guide>
        <p15:guide id="8" orient="horz" pos="890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pos="217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GitHub Repository 생성 및 Add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Ⅷ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</p:txBody>
      </p:sp>
    </p:spTree>
    <p:extLst>
      <p:ext uri="{BB962C8B-B14F-4D97-AF65-F5344CB8AC3E}">
        <p14:creationId xmlns:p14="http://schemas.microsoft.com/office/powerpoint/2010/main" val="365877086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4662" userDrawn="1">
          <p15:clr>
            <a:srgbClr val="FBAE40"/>
          </p15:clr>
        </p15:guide>
        <p15:guide id="8" orient="horz" pos="890" userDrawn="1">
          <p15:clr>
            <a:srgbClr val="FBAE40"/>
          </p15:clr>
        </p15:guide>
        <p15:guide id="9" orient="horz" pos="3974" userDrawn="1">
          <p15:clr>
            <a:srgbClr val="FBAE40"/>
          </p15:clr>
        </p15:guide>
        <p15:guide id="10" pos="217" userDrawn="1">
          <p15:clr>
            <a:srgbClr val="FBAE40"/>
          </p15:clr>
        </p15:guide>
        <p15:guide id="11" pos="461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.최초 프로젝트 Clone, pull and pu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Ⅸ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최초 프로젝트 </a:t>
            </a:r>
            <a:r>
              <a:rPr lang="en-US" altLang="ko-KR" dirty="0"/>
              <a:t>Clone, pull and push</a:t>
            </a:r>
          </a:p>
        </p:txBody>
      </p:sp>
    </p:spTree>
    <p:extLst>
      <p:ext uri="{BB962C8B-B14F-4D97-AF65-F5344CB8AC3E}">
        <p14:creationId xmlns:p14="http://schemas.microsoft.com/office/powerpoint/2010/main" val="35175253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pos="4662">
          <p15:clr>
            <a:srgbClr val="FBAE40"/>
          </p15:clr>
        </p15:guide>
        <p15:guide id="8" orient="horz" pos="890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pos="217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.넥사크로 공통기능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Ⅹ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넥사크로 공통기능 추가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831594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>
          <p15:clr>
            <a:srgbClr val="FBAE40"/>
          </p15:clr>
        </p15:guide>
        <p15:guide id="6" orient="horz" pos="845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orient="horz" pos="890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pos="4662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.조회 프로그램 작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Ⅹ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조회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5414429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2F11F0A-0723-437B-BC85-6D92078ABE3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3484750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실행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톰캣 서버는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Stop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상태로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선택 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Run / Run As / Run on Server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Tomcat v9.0 Server at Localhost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선택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Configured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서버 확인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Finish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정상적으로 웹페이지 오픈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http://localhost:8080/nbdf/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373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감사합니다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3116501" y="3343441"/>
            <a:ext cx="3672996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3152511" y="2752050"/>
            <a:ext cx="3600977" cy="431800"/>
          </a:xfrm>
          <a:prstGeom prst="rect">
            <a:avLst/>
          </a:prstGeom>
        </p:spPr>
        <p:txBody>
          <a:bodyPr lIns="0" tIns="0" rIns="0" bIns="0"/>
          <a:lstStyle>
            <a:lvl1pPr algn="ctr">
              <a:buNone/>
              <a:defRPr sz="2800" b="1" spc="-8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감사합니다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CCC02B0-3CC0-41AB-A36C-F0161B6CE2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09601" y="3507146"/>
            <a:ext cx="1086799" cy="42591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968B510-D810-4142-BA96-29557CA32420}"/>
              </a:ext>
            </a:extLst>
          </p:cNvPr>
          <p:cNvGrpSpPr/>
          <p:nvPr userDrawn="1"/>
        </p:nvGrpSpPr>
        <p:grpSpPr>
          <a:xfrm>
            <a:off x="0" y="0"/>
            <a:ext cx="9906000" cy="0"/>
            <a:chOff x="0" y="0"/>
            <a:chExt cx="9906000" cy="0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2DB3521-D7DB-4752-958A-DC6599685229}"/>
                </a:ext>
              </a:extLst>
            </p:cNvPr>
            <p:cNvCxnSpPr/>
            <p:nvPr userDrawn="1"/>
          </p:nvCxnSpPr>
          <p:spPr>
            <a:xfrm>
              <a:off x="0" y="0"/>
              <a:ext cx="720000" cy="0"/>
            </a:xfrm>
            <a:prstGeom prst="line">
              <a:avLst/>
            </a:prstGeom>
            <a:noFill/>
            <a:ln w="57150" cap="flat" cmpd="sng" algn="ctr">
              <a:solidFill>
                <a:srgbClr val="FF0066"/>
              </a:solidFill>
              <a:prstDash val="solid"/>
            </a:ln>
            <a:effectLst/>
          </p:spPr>
        </p:cxn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EC8B51D7-6D97-4376-93AD-216984979C57}"/>
                </a:ext>
              </a:extLst>
            </p:cNvPr>
            <p:cNvCxnSpPr/>
            <p:nvPr userDrawn="1"/>
          </p:nvCxnSpPr>
          <p:spPr>
            <a:xfrm>
              <a:off x="1446000" y="0"/>
              <a:ext cx="8460000" cy="0"/>
            </a:xfrm>
            <a:prstGeom prst="line">
              <a:avLst/>
            </a:prstGeom>
            <a:noFill/>
            <a:ln w="57150" cap="flat" cmpd="sng" algn="ctr">
              <a:solidFill>
                <a:srgbClr val="7DD1FF"/>
              </a:solidFill>
              <a:prstDash val="solid"/>
            </a:ln>
            <a:effectLst/>
          </p:spPr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7F3789A-E730-4C48-9D27-B1C9C1052773}"/>
                </a:ext>
              </a:extLst>
            </p:cNvPr>
            <p:cNvCxnSpPr/>
            <p:nvPr userDrawn="1"/>
          </p:nvCxnSpPr>
          <p:spPr>
            <a:xfrm>
              <a:off x="719206" y="0"/>
              <a:ext cx="1152000" cy="0"/>
            </a:xfrm>
            <a:prstGeom prst="line">
              <a:avLst/>
            </a:prstGeom>
            <a:noFill/>
            <a:ln w="57150" cap="flat" cmpd="sng" algn="ctr">
              <a:solidFill>
                <a:srgbClr val="00FF00"/>
              </a:solidFill>
              <a:prstDash val="solid"/>
            </a:ln>
            <a:effectLst/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67" r:id="rId2"/>
    <p:sldLayoutId id="2147483691" r:id="rId3"/>
    <p:sldLayoutId id="2147483684" r:id="rId4"/>
    <p:sldLayoutId id="2147483694" r:id="rId5"/>
    <p:sldLayoutId id="2147483685" r:id="rId6"/>
    <p:sldLayoutId id="2147483686" r:id="rId7"/>
    <p:sldLayoutId id="2147483687" r:id="rId8"/>
    <p:sldLayoutId id="2147483688" r:id="rId9"/>
    <p:sldLayoutId id="2147483695" r:id="rId10"/>
    <p:sldLayoutId id="2147483689" r:id="rId11"/>
    <p:sldLayoutId id="2147483696" r:id="rId12"/>
    <p:sldLayoutId id="2147483693" r:id="rId13"/>
    <p:sldLayoutId id="2147483690" r:id="rId14"/>
    <p:sldLayoutId id="2147483692" r:id="rId15"/>
    <p:sldLayoutId id="2147483662" r:id="rId16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bdf2026/nbdf.git" TargetMode="External"/><Relationship Id="rId2" Type="http://schemas.openxmlformats.org/officeDocument/2006/relationships/hyperlink" Target="mailto:nbdf2026@gmail.com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egovframe.go.kr/home/sub.do?menuNo=107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tobesoft.co.kr/Support/?menu=home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tobesoft.co.kr/Support/?menu=home" TargetMode="Externa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0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44.png"/><Relationship Id="rId7" Type="http://schemas.openxmlformats.org/officeDocument/2006/relationships/image" Target="../media/image148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9" Type="http://schemas.openxmlformats.org/officeDocument/2006/relationships/image" Target="../media/image150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hyperlink" Target="https://download.eclipse.org/egit/updates" TargetMode="External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2" Type="http://schemas.openxmlformats.org/officeDocument/2006/relationships/hyperlink" Target="https://download.eclipse.org/egit/updates" TargetMode="Externa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hyperlink" Target="mailto:nbdf2026@gmail.com" TargetMode="Externa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hyperlink" Target="https://github.com/?utm_source=chatgpt.com" TargetMode="Externa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hyperlink" Target="https://github.com/nbdf2026/nbdf.git" TargetMode="External"/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hyperlink" Target="https://github.com/nbdf2026/nbdf.git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9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9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1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8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1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2.png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메인 타이틀"/>
          <p:cNvSpPr>
            <a:spLocks noGrp="1"/>
          </p:cNvSpPr>
          <p:nvPr>
            <p:ph type="body" sz="quarter" idx="13"/>
          </p:nvPr>
        </p:nvSpPr>
        <p:spPr>
          <a:xfrm>
            <a:off x="417290" y="1772816"/>
            <a:ext cx="9071420" cy="1654967"/>
          </a:xfrm>
        </p:spPr>
        <p:txBody>
          <a:bodyPr/>
          <a:lstStyle/>
          <a:p>
            <a:pPr lvl="0" algn="ctr"/>
            <a:r>
              <a:rPr lang="en-US" altLang="ko-KR" sz="36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Nexacro N v24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교육자료</a:t>
            </a:r>
            <a:endParaRPr lang="en-US" altLang="ko-KR" sz="3600" dirty="0">
              <a:solidFill>
                <a:schemeClr val="accent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algn="ctr"/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넥사크로 전자정부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(v4.3)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연동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날짜"/>
          <p:cNvSpPr>
            <a:spLocks noGrp="1"/>
          </p:cNvSpPr>
          <p:nvPr>
            <p:ph type="body" sz="quarter" idx="14"/>
          </p:nvPr>
        </p:nvSpPr>
        <p:spPr>
          <a:xfrm>
            <a:off x="2071093" y="3519847"/>
            <a:ext cx="5546203" cy="629233"/>
          </a:xfrm>
        </p:spPr>
        <p:txBody>
          <a:bodyPr/>
          <a:lstStyle/>
          <a:p>
            <a:pPr marL="180975" indent="0" algn="ctr">
              <a:buNone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2026. 05.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직선 연결선 1"/>
          <p:cNvCxnSpPr/>
          <p:nvPr/>
        </p:nvCxnSpPr>
        <p:spPr>
          <a:xfrm>
            <a:off x="1695000" y="2958852"/>
            <a:ext cx="6516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42" name="그림 41">
            <a:extLst>
              <a:ext uri="{FF2B5EF4-FFF2-40B4-BE49-F238E27FC236}">
                <a16:creationId xmlns:a16="http://schemas.microsoft.com/office/drawing/2014/main" id="{91F84F8D-4F12-4E06-8CC9-3D716C3E6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52" y="1407481"/>
            <a:ext cx="2575567" cy="4026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746E218D-DF13-4D83-844D-A432CBE65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2" y="2182469"/>
            <a:ext cx="2059939" cy="41262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nbdf </a:t>
            </a:r>
            <a:r>
              <a:rPr lang="ko-KR" altLang="en-US" dirty="0"/>
              <a:t>프로젝트 구성</a:t>
            </a:r>
            <a:r>
              <a:rPr lang="en-US" altLang="ko-KR" dirty="0"/>
              <a:t>(</a:t>
            </a:r>
            <a:r>
              <a:rPr lang="ko-KR" altLang="en-US" dirty="0"/>
              <a:t>최초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전자정부 프레임워크 압축 해제 후 </a:t>
            </a:r>
            <a:r>
              <a:rPr lang="en-US" altLang="ko-KR" dirty="0"/>
              <a:t>nbdf </a:t>
            </a:r>
            <a:r>
              <a:rPr lang="ko-KR" altLang="en-US" dirty="0"/>
              <a:t>프로젝트 구성 내역입니다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57F562B-C4F6-4100-813B-FE89F33FD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01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793F97-94F2-4C1A-B3F6-FEA72401D64A}"/>
              </a:ext>
            </a:extLst>
          </p:cNvPr>
          <p:cNvSpPr/>
          <p:nvPr/>
        </p:nvSpPr>
        <p:spPr>
          <a:xfrm>
            <a:off x="392493" y="1670230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eclipse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3922A0-1976-47DC-9674-918B33401B38}"/>
              </a:ext>
            </a:extLst>
          </p:cNvPr>
          <p:cNvSpPr/>
          <p:nvPr/>
        </p:nvSpPr>
        <p:spPr>
          <a:xfrm>
            <a:off x="2000672" y="1617043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전자정부프레임워크</a:t>
            </a:r>
            <a:endParaRPr lang="en-US" altLang="ko-KR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eGovFrameDev-4.3.1-64bit – 2025-05-12)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F0F38B-75B8-4140-A912-7D9789DB4C59}"/>
              </a:ext>
            </a:extLst>
          </p:cNvPr>
          <p:cNvSpPr/>
          <p:nvPr/>
        </p:nvSpPr>
        <p:spPr>
          <a:xfrm>
            <a:off x="392493" y="1916832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workspace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4" name="연결선: 꺾임 64">
            <a:extLst>
              <a:ext uri="{FF2B5EF4-FFF2-40B4-BE49-F238E27FC236}">
                <a16:creationId xmlns:a16="http://schemas.microsoft.com/office/drawing/2014/main" id="{97B4E5E6-55F0-45AC-B8E5-4DBC485B8D3B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 flipV="1">
            <a:off x="1832653" y="1778230"/>
            <a:ext cx="168019" cy="90813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64">
            <a:extLst>
              <a:ext uri="{FF2B5EF4-FFF2-40B4-BE49-F238E27FC236}">
                <a16:creationId xmlns:a16="http://schemas.microsoft.com/office/drawing/2014/main" id="{23F23483-B978-4430-999E-F3CAF46DF44D}"/>
              </a:ext>
            </a:extLst>
          </p:cNvPr>
          <p:cNvCxnSpPr>
            <a:cxnSpLocks/>
            <a:stCxn id="14" idx="1"/>
            <a:endCxn id="23" idx="3"/>
          </p:cNvCxnSpPr>
          <p:nvPr/>
        </p:nvCxnSpPr>
        <p:spPr>
          <a:xfrm flipH="1">
            <a:off x="1832653" y="1869043"/>
            <a:ext cx="168019" cy="155789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B901B63-3F0B-420C-A878-ECFC6F53681A}"/>
              </a:ext>
            </a:extLst>
          </p:cNvPr>
          <p:cNvSpPr/>
          <p:nvPr/>
        </p:nvSpPr>
        <p:spPr>
          <a:xfrm>
            <a:off x="272480" y="1423627"/>
            <a:ext cx="1440160" cy="216000"/>
          </a:xfrm>
          <a:prstGeom prst="rect">
            <a:avLst/>
          </a:prstGeom>
          <a:solidFill>
            <a:schemeClr val="tx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nBDF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91B68-B3A6-4FD8-B078-AA3C27A300AB}"/>
              </a:ext>
            </a:extLst>
          </p:cNvPr>
          <p:cNvSpPr/>
          <p:nvPr/>
        </p:nvSpPr>
        <p:spPr>
          <a:xfrm>
            <a:off x="781399" y="6155640"/>
            <a:ext cx="1620000" cy="150440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F9C31B-3F33-4C79-83B8-C0541B002A26}"/>
              </a:ext>
            </a:extLst>
          </p:cNvPr>
          <p:cNvSpPr/>
          <p:nvPr/>
        </p:nvSpPr>
        <p:spPr>
          <a:xfrm>
            <a:off x="704528" y="2348880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0D0C38-856C-420E-A21E-B472F0CDB956}"/>
              </a:ext>
            </a:extLst>
          </p:cNvPr>
          <p:cNvSpPr/>
          <p:nvPr/>
        </p:nvSpPr>
        <p:spPr>
          <a:xfrm>
            <a:off x="632520" y="3846460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66098A-69D6-492C-B02F-2238CAC0D7FC}"/>
              </a:ext>
            </a:extLst>
          </p:cNvPr>
          <p:cNvSpPr/>
          <p:nvPr/>
        </p:nvSpPr>
        <p:spPr>
          <a:xfrm>
            <a:off x="7149424" y="3398084"/>
            <a:ext cx="1944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BEB0722-2381-4F5A-B694-5CFF802044DF}"/>
              </a:ext>
            </a:extLst>
          </p:cNvPr>
          <p:cNvSpPr/>
          <p:nvPr/>
        </p:nvSpPr>
        <p:spPr>
          <a:xfrm>
            <a:off x="7149424" y="1700808"/>
            <a:ext cx="1944000" cy="32402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0324A90-9F09-474B-B803-A2639C73A9B6}"/>
              </a:ext>
            </a:extLst>
          </p:cNvPr>
          <p:cNvSpPr/>
          <p:nvPr/>
        </p:nvSpPr>
        <p:spPr>
          <a:xfrm>
            <a:off x="7149424" y="2326128"/>
            <a:ext cx="1944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5FFF0C8-FBA0-469B-8911-B93071962606}"/>
              </a:ext>
            </a:extLst>
          </p:cNvPr>
          <p:cNvSpPr/>
          <p:nvPr/>
        </p:nvSpPr>
        <p:spPr>
          <a:xfrm>
            <a:off x="781399" y="2774030"/>
            <a:ext cx="1875692" cy="1064266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4C81770-C472-4140-9FED-E9D4ACE8673F}"/>
              </a:ext>
            </a:extLst>
          </p:cNvPr>
          <p:cNvSpPr/>
          <p:nvPr/>
        </p:nvSpPr>
        <p:spPr>
          <a:xfrm>
            <a:off x="781399" y="4675771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385F3A1-32A3-483B-9754-81115D70771E}"/>
              </a:ext>
            </a:extLst>
          </p:cNvPr>
          <p:cNvSpPr/>
          <p:nvPr/>
        </p:nvSpPr>
        <p:spPr>
          <a:xfrm>
            <a:off x="781399" y="4813382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24929BC-9DA4-4BD2-B3C1-CDAE056E0DDB}"/>
              </a:ext>
            </a:extLst>
          </p:cNvPr>
          <p:cNvSpPr/>
          <p:nvPr/>
        </p:nvSpPr>
        <p:spPr>
          <a:xfrm>
            <a:off x="781399" y="5782150"/>
            <a:ext cx="1620000" cy="372077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025293E-DC1D-4D31-859A-A8D4555F9004}"/>
              </a:ext>
            </a:extLst>
          </p:cNvPr>
          <p:cNvSpPr/>
          <p:nvPr/>
        </p:nvSpPr>
        <p:spPr>
          <a:xfrm>
            <a:off x="7833320" y="4037720"/>
            <a:ext cx="1692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6F1B3A2-552C-4EFB-8421-964C62FD2131}"/>
              </a:ext>
            </a:extLst>
          </p:cNvPr>
          <p:cNvSpPr/>
          <p:nvPr/>
        </p:nvSpPr>
        <p:spPr>
          <a:xfrm>
            <a:off x="781399" y="5078133"/>
            <a:ext cx="1620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D099F78-7A85-4371-8FB1-91B4CD9783C7}"/>
              </a:ext>
            </a:extLst>
          </p:cNvPr>
          <p:cNvSpPr/>
          <p:nvPr/>
        </p:nvSpPr>
        <p:spPr>
          <a:xfrm>
            <a:off x="7833320" y="4651247"/>
            <a:ext cx="1692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426C1B3-EC08-40A9-A676-511A2B4B1D53}"/>
              </a:ext>
            </a:extLst>
          </p:cNvPr>
          <p:cNvSpPr/>
          <p:nvPr/>
        </p:nvSpPr>
        <p:spPr>
          <a:xfrm>
            <a:off x="7304772" y="5280712"/>
            <a:ext cx="1692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558C50A-8D33-4EAB-A326-67FB10757A39}"/>
              </a:ext>
            </a:extLst>
          </p:cNvPr>
          <p:cNvSpPr/>
          <p:nvPr/>
        </p:nvSpPr>
        <p:spPr>
          <a:xfrm>
            <a:off x="7833320" y="4501867"/>
            <a:ext cx="1692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설명선: 선 8">
            <a:extLst>
              <a:ext uri="{FF2B5EF4-FFF2-40B4-BE49-F238E27FC236}">
                <a16:creationId xmlns:a16="http://schemas.microsoft.com/office/drawing/2014/main" id="{7A01D704-5138-46F3-A118-41F9318D9853}"/>
              </a:ext>
            </a:extLst>
          </p:cNvPr>
          <p:cNvSpPr/>
          <p:nvPr/>
        </p:nvSpPr>
        <p:spPr>
          <a:xfrm>
            <a:off x="2841338" y="2260253"/>
            <a:ext cx="1463590" cy="504000"/>
          </a:xfrm>
          <a:prstGeom prst="borderCallout1">
            <a:avLst>
              <a:gd name="adj1" fmla="val 18751"/>
              <a:gd name="adj2" fmla="val -297"/>
              <a:gd name="adj3" fmla="val 31498"/>
              <a:gd name="adj4" fmla="val -3483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자바 프로그램 영역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A79B4C0-912C-4F65-B84B-AAC8A866DE4F}"/>
              </a:ext>
            </a:extLst>
          </p:cNvPr>
          <p:cNvSpPr/>
          <p:nvPr/>
        </p:nvSpPr>
        <p:spPr>
          <a:xfrm>
            <a:off x="704528" y="2504412"/>
            <a:ext cx="1620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40320FD-9298-4072-8868-072A1FF1479F}"/>
              </a:ext>
            </a:extLst>
          </p:cNvPr>
          <p:cNvSpPr/>
          <p:nvPr/>
        </p:nvSpPr>
        <p:spPr>
          <a:xfrm>
            <a:off x="704528" y="4132702"/>
            <a:ext cx="1620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설명선: 선 53">
            <a:extLst>
              <a:ext uri="{FF2B5EF4-FFF2-40B4-BE49-F238E27FC236}">
                <a16:creationId xmlns:a16="http://schemas.microsoft.com/office/drawing/2014/main" id="{2AE11161-89E4-48F4-A1DF-10E91461AC58}"/>
              </a:ext>
            </a:extLst>
          </p:cNvPr>
          <p:cNvSpPr/>
          <p:nvPr/>
        </p:nvSpPr>
        <p:spPr>
          <a:xfrm>
            <a:off x="2841338" y="3006946"/>
            <a:ext cx="1463590" cy="504000"/>
          </a:xfrm>
          <a:prstGeom prst="borderCallout1">
            <a:avLst>
              <a:gd name="adj1" fmla="val 18751"/>
              <a:gd name="adj2" fmla="val -297"/>
              <a:gd name="adj3" fmla="val 68756"/>
              <a:gd name="adj4" fmla="val -12520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업무별 자바 프로그램 영역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설명선: 선 55">
            <a:extLst>
              <a:ext uri="{FF2B5EF4-FFF2-40B4-BE49-F238E27FC236}">
                <a16:creationId xmlns:a16="http://schemas.microsoft.com/office/drawing/2014/main" id="{69E4A139-7FBF-41FA-BC47-EAEE88EF5239}"/>
              </a:ext>
            </a:extLst>
          </p:cNvPr>
          <p:cNvSpPr/>
          <p:nvPr/>
        </p:nvSpPr>
        <p:spPr>
          <a:xfrm>
            <a:off x="2841338" y="3717032"/>
            <a:ext cx="1463590" cy="504000"/>
          </a:xfrm>
          <a:prstGeom prst="borderCallout1">
            <a:avLst>
              <a:gd name="adj1" fmla="val 18751"/>
              <a:gd name="adj2" fmla="val -297"/>
              <a:gd name="adj3" fmla="val 89815"/>
              <a:gd name="adj4" fmla="val -35949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전자정부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넥사크로 및 오라클 설정 파일 영역</a:t>
            </a:r>
          </a:p>
        </p:txBody>
      </p:sp>
      <p:sp>
        <p:nvSpPr>
          <p:cNvPr id="57" name="설명선: 선 56">
            <a:extLst>
              <a:ext uri="{FF2B5EF4-FFF2-40B4-BE49-F238E27FC236}">
                <a16:creationId xmlns:a16="http://schemas.microsoft.com/office/drawing/2014/main" id="{1B06D125-C2DE-445E-B5CB-121B55B5170B}"/>
              </a:ext>
            </a:extLst>
          </p:cNvPr>
          <p:cNvSpPr/>
          <p:nvPr/>
        </p:nvSpPr>
        <p:spPr>
          <a:xfrm>
            <a:off x="2841338" y="4293096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107309"/>
              <a:gd name="adj4" fmla="val -31486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전자정보 공통 설정</a:t>
            </a:r>
          </a:p>
        </p:txBody>
      </p:sp>
      <p:sp>
        <p:nvSpPr>
          <p:cNvPr id="58" name="설명선: 선 57">
            <a:extLst>
              <a:ext uri="{FF2B5EF4-FFF2-40B4-BE49-F238E27FC236}">
                <a16:creationId xmlns:a16="http://schemas.microsoft.com/office/drawing/2014/main" id="{1B08C858-F7D6-4200-A6BB-EF60029CE788}"/>
              </a:ext>
            </a:extLst>
          </p:cNvPr>
          <p:cNvSpPr/>
          <p:nvPr/>
        </p:nvSpPr>
        <p:spPr>
          <a:xfrm>
            <a:off x="2841338" y="4695547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52881"/>
              <a:gd name="adj4" fmla="val -298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 설정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설명선: 선 63">
            <a:extLst>
              <a:ext uri="{FF2B5EF4-FFF2-40B4-BE49-F238E27FC236}">
                <a16:creationId xmlns:a16="http://schemas.microsoft.com/office/drawing/2014/main" id="{89375678-78F5-42F6-8699-B79042A012E9}"/>
              </a:ext>
            </a:extLst>
          </p:cNvPr>
          <p:cNvSpPr/>
          <p:nvPr/>
        </p:nvSpPr>
        <p:spPr>
          <a:xfrm>
            <a:off x="2841338" y="5097998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9792"/>
              <a:gd name="adj4" fmla="val -30371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매퍼 및 매퍼 인터페이스 설정</a:t>
            </a:r>
          </a:p>
        </p:txBody>
      </p:sp>
      <p:sp>
        <p:nvSpPr>
          <p:cNvPr id="66" name="설명선: 선 65">
            <a:extLst>
              <a:ext uri="{FF2B5EF4-FFF2-40B4-BE49-F238E27FC236}">
                <a16:creationId xmlns:a16="http://schemas.microsoft.com/office/drawing/2014/main" id="{B70501D6-09CE-4C4D-AF15-D4BCCEE7F2C1}"/>
              </a:ext>
            </a:extLst>
          </p:cNvPr>
          <p:cNvSpPr/>
          <p:nvPr/>
        </p:nvSpPr>
        <p:spPr>
          <a:xfrm>
            <a:off x="2841338" y="5517232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86899"/>
              <a:gd name="adj4" fmla="val -298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매퍼 전체 설정 및 업무별 매퍼 저장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설명선: 선 66">
            <a:extLst>
              <a:ext uri="{FF2B5EF4-FFF2-40B4-BE49-F238E27FC236}">
                <a16:creationId xmlns:a16="http://schemas.microsoft.com/office/drawing/2014/main" id="{F137B01E-D475-4EEA-A402-91C07FBD0949}"/>
              </a:ext>
            </a:extLst>
          </p:cNvPr>
          <p:cNvSpPr/>
          <p:nvPr/>
        </p:nvSpPr>
        <p:spPr>
          <a:xfrm>
            <a:off x="2841338" y="5936466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86899"/>
              <a:gd name="adj4" fmla="val -298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출력 설정</a:t>
            </a:r>
          </a:p>
        </p:txBody>
      </p:sp>
      <p:sp>
        <p:nvSpPr>
          <p:cNvPr id="68" name="설명선: 선 67">
            <a:extLst>
              <a:ext uri="{FF2B5EF4-FFF2-40B4-BE49-F238E27FC236}">
                <a16:creationId xmlns:a16="http://schemas.microsoft.com/office/drawing/2014/main" id="{4A5521DE-4C36-41CE-985F-092D9DFA5CDC}"/>
              </a:ext>
            </a:extLst>
          </p:cNvPr>
          <p:cNvSpPr/>
          <p:nvPr/>
        </p:nvSpPr>
        <p:spPr>
          <a:xfrm flipH="1">
            <a:off x="5241031" y="1599460"/>
            <a:ext cx="1500063" cy="504000"/>
          </a:xfrm>
          <a:prstGeom prst="borderCallout1">
            <a:avLst>
              <a:gd name="adj1" fmla="val 18751"/>
              <a:gd name="adj2" fmla="val -297"/>
              <a:gd name="adj3" fmla="val 39598"/>
              <a:gd name="adj4" fmla="val -272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자바 라이브러리</a:t>
            </a:r>
            <a:endParaRPr lang="en-US" altLang="ko-KR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메이븐 라이브러리</a:t>
            </a:r>
          </a:p>
        </p:txBody>
      </p:sp>
      <p:sp>
        <p:nvSpPr>
          <p:cNvPr id="70" name="설명선: 선 69">
            <a:extLst>
              <a:ext uri="{FF2B5EF4-FFF2-40B4-BE49-F238E27FC236}">
                <a16:creationId xmlns:a16="http://schemas.microsoft.com/office/drawing/2014/main" id="{BFE4F305-1B08-4A19-82DE-5FF6385BFB54}"/>
              </a:ext>
            </a:extLst>
          </p:cNvPr>
          <p:cNvSpPr/>
          <p:nvPr/>
        </p:nvSpPr>
        <p:spPr>
          <a:xfrm flipH="1">
            <a:off x="4952998" y="3429000"/>
            <a:ext cx="1944217" cy="792032"/>
          </a:xfrm>
          <a:prstGeom prst="borderCallout1">
            <a:avLst>
              <a:gd name="adj1" fmla="val 18751"/>
              <a:gd name="adj2" fmla="val -297"/>
              <a:gd name="adj3" fmla="val 82598"/>
              <a:gd name="adj4" fmla="val -47487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web.xml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요청을 처리하기 위한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Application Context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설정 파일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요청한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호출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JSP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출력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Dataset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전송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– Spring MVC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설명선: 선 70">
            <a:extLst>
              <a:ext uri="{FF2B5EF4-FFF2-40B4-BE49-F238E27FC236}">
                <a16:creationId xmlns:a16="http://schemas.microsoft.com/office/drawing/2014/main" id="{995787FC-B5FA-4533-A563-32F0CE9F1505}"/>
              </a:ext>
            </a:extLst>
          </p:cNvPr>
          <p:cNvSpPr/>
          <p:nvPr/>
        </p:nvSpPr>
        <p:spPr>
          <a:xfrm flipH="1">
            <a:off x="5241031" y="4271578"/>
            <a:ext cx="1500063" cy="504000"/>
          </a:xfrm>
          <a:prstGeom prst="borderCallout1">
            <a:avLst>
              <a:gd name="adj1" fmla="val 18751"/>
              <a:gd name="adj2" fmla="val -297"/>
              <a:gd name="adj3" fmla="val 59036"/>
              <a:gd name="adj4" fmla="val -71299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넥사크로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X-API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 등록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설명선: 선 72">
            <a:extLst>
              <a:ext uri="{FF2B5EF4-FFF2-40B4-BE49-F238E27FC236}">
                <a16:creationId xmlns:a16="http://schemas.microsoft.com/office/drawing/2014/main" id="{27536114-BA7D-4101-AD73-A09CECD1F2FC}"/>
              </a:ext>
            </a:extLst>
          </p:cNvPr>
          <p:cNvSpPr/>
          <p:nvPr/>
        </p:nvSpPr>
        <p:spPr>
          <a:xfrm flipH="1">
            <a:off x="5241030" y="5834604"/>
            <a:ext cx="2007880" cy="504000"/>
          </a:xfrm>
          <a:prstGeom prst="borderCallout1">
            <a:avLst>
              <a:gd name="adj1" fmla="val 18751"/>
              <a:gd name="adj2" fmla="val -297"/>
              <a:gd name="adj3" fmla="val -81895"/>
              <a:gd name="adj4" fmla="val -21559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 저장소 지정</a:t>
            </a:r>
            <a:endParaRPr lang="en-US" altLang="ko-KR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 다운로드 설정</a:t>
            </a:r>
          </a:p>
        </p:txBody>
      </p:sp>
      <p:sp>
        <p:nvSpPr>
          <p:cNvPr id="74" name="설명선: 선 73">
            <a:extLst>
              <a:ext uri="{FF2B5EF4-FFF2-40B4-BE49-F238E27FC236}">
                <a16:creationId xmlns:a16="http://schemas.microsoft.com/office/drawing/2014/main" id="{46EDDA21-4BD4-4B99-B01C-A3FCC769EFE2}"/>
              </a:ext>
            </a:extLst>
          </p:cNvPr>
          <p:cNvSpPr/>
          <p:nvPr/>
        </p:nvSpPr>
        <p:spPr>
          <a:xfrm flipH="1">
            <a:off x="4952998" y="4845998"/>
            <a:ext cx="1944215" cy="936152"/>
          </a:xfrm>
          <a:prstGeom prst="borderCallout1">
            <a:avLst>
              <a:gd name="adj1" fmla="val 18751"/>
              <a:gd name="adj2" fmla="val -297"/>
              <a:gd name="adj3" fmla="val -13986"/>
              <a:gd name="adj4" fmla="val -47115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사용자가 요청 </a:t>
            </a:r>
            <a:r>
              <a:rPr lang="ko-KR" altLang="en-US" sz="105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웹서버을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통하여 프로젝트 </a:t>
            </a:r>
            <a:r>
              <a:rPr lang="ko-KR" altLang="en-US" sz="105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실행시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최초 스캔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(context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bean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전환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dispatcher-servlet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URL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매핑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한글처리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세션설정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3A1276B-EE43-417C-9BEE-620101CC56A3}"/>
              </a:ext>
            </a:extLst>
          </p:cNvPr>
          <p:cNvSpPr/>
          <p:nvPr/>
        </p:nvSpPr>
        <p:spPr>
          <a:xfrm>
            <a:off x="9461320" y="4667910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4A194BA-FE32-4D79-ABA7-A3BE2144283A}"/>
              </a:ext>
            </a:extLst>
          </p:cNvPr>
          <p:cNvSpPr/>
          <p:nvPr/>
        </p:nvSpPr>
        <p:spPr>
          <a:xfrm>
            <a:off x="9461320" y="3883352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왼쪽 대괄호 14">
            <a:extLst>
              <a:ext uri="{FF2B5EF4-FFF2-40B4-BE49-F238E27FC236}">
                <a16:creationId xmlns:a16="http://schemas.microsoft.com/office/drawing/2014/main" id="{00A04251-F7CB-40EF-A443-78BAF37F645E}"/>
              </a:ext>
            </a:extLst>
          </p:cNvPr>
          <p:cNvSpPr/>
          <p:nvPr/>
        </p:nvSpPr>
        <p:spPr>
          <a:xfrm>
            <a:off x="620660" y="4581128"/>
            <a:ext cx="155876" cy="1008112"/>
          </a:xfrm>
          <a:prstGeom prst="leftBracket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EA2E3CAA-DF90-494F-9574-F47D9D301361}"/>
              </a:ext>
            </a:extLst>
          </p:cNvPr>
          <p:cNvSpPr/>
          <p:nvPr/>
        </p:nvSpPr>
        <p:spPr>
          <a:xfrm>
            <a:off x="495273" y="4960204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왼쪽 대괄호 77">
            <a:extLst>
              <a:ext uri="{FF2B5EF4-FFF2-40B4-BE49-F238E27FC236}">
                <a16:creationId xmlns:a16="http://schemas.microsoft.com/office/drawing/2014/main" id="{AB2C5E91-35F3-4C2C-8B11-48C9EA833412}"/>
              </a:ext>
            </a:extLst>
          </p:cNvPr>
          <p:cNvSpPr/>
          <p:nvPr/>
        </p:nvSpPr>
        <p:spPr>
          <a:xfrm>
            <a:off x="620660" y="2799978"/>
            <a:ext cx="155876" cy="1008112"/>
          </a:xfrm>
          <a:prstGeom prst="leftBracket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7BA7532-29C7-487B-B9E8-D1FAB1E8BD9C}"/>
              </a:ext>
            </a:extLst>
          </p:cNvPr>
          <p:cNvSpPr/>
          <p:nvPr/>
        </p:nvSpPr>
        <p:spPr>
          <a:xfrm>
            <a:off x="495273" y="3179054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194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3409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65" name="그림 64">
            <a:extLst>
              <a:ext uri="{FF2B5EF4-FFF2-40B4-BE49-F238E27FC236}">
                <a16:creationId xmlns:a16="http://schemas.microsoft.com/office/drawing/2014/main" id="{21516B0C-50A2-4284-B23D-8152EB486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52" y="1407481"/>
            <a:ext cx="2574091" cy="488519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nbdf </a:t>
            </a:r>
            <a:r>
              <a:rPr lang="ko-KR" altLang="en-US" dirty="0"/>
              <a:t>프로젝트 구성</a:t>
            </a:r>
            <a:r>
              <a:rPr lang="en-US" altLang="ko-KR" dirty="0"/>
              <a:t>(</a:t>
            </a:r>
            <a:r>
              <a:rPr lang="ko-KR" altLang="en-US" dirty="0"/>
              <a:t>완료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nbdf</a:t>
            </a:r>
            <a:r>
              <a:rPr lang="ko-KR" altLang="en-US" dirty="0"/>
              <a:t> 설정 및 디렉터리 변경을 통하여 최종 구축된 프로젝트는 아래와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57F562B-C4F6-4100-813B-FE89F33FD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793F97-94F2-4C1A-B3F6-FEA72401D64A}"/>
              </a:ext>
            </a:extLst>
          </p:cNvPr>
          <p:cNvSpPr/>
          <p:nvPr/>
        </p:nvSpPr>
        <p:spPr>
          <a:xfrm>
            <a:off x="392493" y="1670230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eclipse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3922A0-1976-47DC-9674-918B33401B38}"/>
              </a:ext>
            </a:extLst>
          </p:cNvPr>
          <p:cNvSpPr/>
          <p:nvPr/>
        </p:nvSpPr>
        <p:spPr>
          <a:xfrm>
            <a:off x="2000672" y="1617043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전자정부프레임워크</a:t>
            </a:r>
            <a:endParaRPr lang="en-US" altLang="ko-KR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eGovFrameDev-4.3.1-64bit)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9389A82-211D-47D9-ABD2-8E720EE16557}"/>
              </a:ext>
            </a:extLst>
          </p:cNvPr>
          <p:cNvSpPr/>
          <p:nvPr/>
        </p:nvSpPr>
        <p:spPr>
          <a:xfrm>
            <a:off x="2959833" y="2396560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v24</a:t>
            </a: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NexacroN_SetupStudio_x64)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87AE16-269B-4350-ACB2-CD0991CEA899}"/>
              </a:ext>
            </a:extLst>
          </p:cNvPr>
          <p:cNvSpPr/>
          <p:nvPr/>
        </p:nvSpPr>
        <p:spPr>
          <a:xfrm>
            <a:off x="2957493" y="2976247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X-API</a:t>
            </a: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NexacroN_XAPI_JAVA_20260326(2.0.5)_1)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510FB7-502E-43DE-8E95-375378FF8BEC}"/>
              </a:ext>
            </a:extLst>
          </p:cNvPr>
          <p:cNvSpPr/>
          <p:nvPr/>
        </p:nvSpPr>
        <p:spPr>
          <a:xfrm>
            <a:off x="2957493" y="3555934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UI Adapter</a:t>
            </a: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nexacroN_uiadapter)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360922-4500-4BAF-8998-8DEFD5C30C22}"/>
              </a:ext>
            </a:extLst>
          </p:cNvPr>
          <p:cNvSpPr/>
          <p:nvPr/>
        </p:nvSpPr>
        <p:spPr>
          <a:xfrm>
            <a:off x="2957493" y="4135620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</a:t>
            </a:r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라이선스</a:t>
            </a:r>
            <a:endParaRPr lang="en-US" altLang="ko-KR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서버 및 클라이언트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132183-4A48-494E-99F5-41DDF9ABC9C3}"/>
              </a:ext>
            </a:extLst>
          </p:cNvPr>
          <p:cNvSpPr/>
          <p:nvPr/>
        </p:nvSpPr>
        <p:spPr>
          <a:xfrm>
            <a:off x="5912161" y="1407481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설치파일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F0F38B-75B8-4140-A912-7D9789DB4C59}"/>
              </a:ext>
            </a:extLst>
          </p:cNvPr>
          <p:cNvSpPr/>
          <p:nvPr/>
        </p:nvSpPr>
        <p:spPr>
          <a:xfrm>
            <a:off x="392493" y="1916832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workspace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4" name="연결선: 꺾임 64">
            <a:extLst>
              <a:ext uri="{FF2B5EF4-FFF2-40B4-BE49-F238E27FC236}">
                <a16:creationId xmlns:a16="http://schemas.microsoft.com/office/drawing/2014/main" id="{97B4E5E6-55F0-45AC-B8E5-4DBC485B8D3B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 flipV="1">
            <a:off x="1832653" y="1778230"/>
            <a:ext cx="168019" cy="90813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64">
            <a:extLst>
              <a:ext uri="{FF2B5EF4-FFF2-40B4-BE49-F238E27FC236}">
                <a16:creationId xmlns:a16="http://schemas.microsoft.com/office/drawing/2014/main" id="{23F23483-B978-4430-999E-F3CAF46DF44D}"/>
              </a:ext>
            </a:extLst>
          </p:cNvPr>
          <p:cNvCxnSpPr>
            <a:cxnSpLocks/>
            <a:stCxn id="14" idx="1"/>
            <a:endCxn id="23" idx="3"/>
          </p:cNvCxnSpPr>
          <p:nvPr/>
        </p:nvCxnSpPr>
        <p:spPr>
          <a:xfrm flipH="1">
            <a:off x="1832653" y="1869043"/>
            <a:ext cx="168019" cy="155789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B901B63-3F0B-420C-A878-ECFC6F53681A}"/>
              </a:ext>
            </a:extLst>
          </p:cNvPr>
          <p:cNvSpPr/>
          <p:nvPr/>
        </p:nvSpPr>
        <p:spPr>
          <a:xfrm>
            <a:off x="272480" y="1423627"/>
            <a:ext cx="1440160" cy="216000"/>
          </a:xfrm>
          <a:prstGeom prst="rect">
            <a:avLst/>
          </a:prstGeom>
          <a:solidFill>
            <a:schemeClr val="tx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nBDF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58457C3-B6AD-41BE-A44A-355868013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2" y="2182469"/>
            <a:ext cx="2059939" cy="41262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91B68-B3A6-4FD8-B078-AA3C27A300AB}"/>
              </a:ext>
            </a:extLst>
          </p:cNvPr>
          <p:cNvSpPr/>
          <p:nvPr/>
        </p:nvSpPr>
        <p:spPr>
          <a:xfrm>
            <a:off x="781399" y="6188296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7" name="연결선: 꺾임 64">
            <a:extLst>
              <a:ext uri="{FF2B5EF4-FFF2-40B4-BE49-F238E27FC236}">
                <a16:creationId xmlns:a16="http://schemas.microsoft.com/office/drawing/2014/main" id="{CD62A707-E3BF-4883-8103-B5B19039AEB0}"/>
              </a:ext>
            </a:extLst>
          </p:cNvPr>
          <p:cNvCxnSpPr>
            <a:cxnSpLocks/>
            <a:stCxn id="21" idx="2"/>
            <a:endCxn id="31" idx="3"/>
          </p:cNvCxnSpPr>
          <p:nvPr/>
        </p:nvCxnSpPr>
        <p:spPr>
          <a:xfrm rot="5400000">
            <a:off x="2605580" y="4435439"/>
            <a:ext cx="1623896" cy="2032258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F9C31B-3F33-4C79-83B8-C0541B002A26}"/>
              </a:ext>
            </a:extLst>
          </p:cNvPr>
          <p:cNvSpPr/>
          <p:nvPr/>
        </p:nvSpPr>
        <p:spPr>
          <a:xfrm>
            <a:off x="781399" y="2396560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0D0C38-856C-420E-A21E-B472F0CDB956}"/>
              </a:ext>
            </a:extLst>
          </p:cNvPr>
          <p:cNvSpPr/>
          <p:nvPr/>
        </p:nvSpPr>
        <p:spPr>
          <a:xfrm>
            <a:off x="781399" y="3657145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1" name="연결선: 꺾임 64">
            <a:extLst>
              <a:ext uri="{FF2B5EF4-FFF2-40B4-BE49-F238E27FC236}">
                <a16:creationId xmlns:a16="http://schemas.microsoft.com/office/drawing/2014/main" id="{1D8D107A-5339-4CF3-907B-746C3EFF45F8}"/>
              </a:ext>
            </a:extLst>
          </p:cNvPr>
          <p:cNvCxnSpPr>
            <a:cxnSpLocks/>
            <a:stCxn id="16" idx="3"/>
            <a:endCxn id="45" idx="1"/>
          </p:cNvCxnSpPr>
          <p:nvPr/>
        </p:nvCxnSpPr>
        <p:spPr>
          <a:xfrm>
            <a:off x="5912161" y="2648560"/>
            <a:ext cx="1237263" cy="97801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66098A-69D6-492C-B02F-2238CAC0D7FC}"/>
              </a:ext>
            </a:extLst>
          </p:cNvPr>
          <p:cNvSpPr/>
          <p:nvPr/>
        </p:nvSpPr>
        <p:spPr>
          <a:xfrm>
            <a:off x="7149424" y="3551352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BEB0722-2381-4F5A-B694-5CFF802044DF}"/>
              </a:ext>
            </a:extLst>
          </p:cNvPr>
          <p:cNvSpPr/>
          <p:nvPr/>
        </p:nvSpPr>
        <p:spPr>
          <a:xfrm>
            <a:off x="7149424" y="1829584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0324A90-9F09-474B-B803-A2639C73A9B6}"/>
              </a:ext>
            </a:extLst>
          </p:cNvPr>
          <p:cNvSpPr/>
          <p:nvPr/>
        </p:nvSpPr>
        <p:spPr>
          <a:xfrm>
            <a:off x="7149424" y="2395472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0D08FF-E306-431B-B005-93ABE6CB7247}"/>
              </a:ext>
            </a:extLst>
          </p:cNvPr>
          <p:cNvSpPr/>
          <p:nvPr/>
        </p:nvSpPr>
        <p:spPr>
          <a:xfrm>
            <a:off x="7941512" y="4846407"/>
            <a:ext cx="1620000" cy="5877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C5D61CA-C239-4A36-8FDE-EF035AAC928F}"/>
              </a:ext>
            </a:extLst>
          </p:cNvPr>
          <p:cNvSpPr/>
          <p:nvPr/>
        </p:nvSpPr>
        <p:spPr>
          <a:xfrm>
            <a:off x="7149424" y="5990808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3" name="연결선: 꺾임 64">
            <a:extLst>
              <a:ext uri="{FF2B5EF4-FFF2-40B4-BE49-F238E27FC236}">
                <a16:creationId xmlns:a16="http://schemas.microsoft.com/office/drawing/2014/main" id="{5FC7198B-78D4-4176-91AA-C2522395FB2E}"/>
              </a:ext>
            </a:extLst>
          </p:cNvPr>
          <p:cNvCxnSpPr>
            <a:cxnSpLocks/>
            <a:stCxn id="17" idx="3"/>
            <a:endCxn id="48" idx="1"/>
          </p:cNvCxnSpPr>
          <p:nvPr/>
        </p:nvCxnSpPr>
        <p:spPr>
          <a:xfrm>
            <a:off x="5909821" y="3228247"/>
            <a:ext cx="2031691" cy="191205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5FFF0C8-FBA0-469B-8911-B93071962606}"/>
              </a:ext>
            </a:extLst>
          </p:cNvPr>
          <p:cNvSpPr/>
          <p:nvPr/>
        </p:nvSpPr>
        <p:spPr>
          <a:xfrm>
            <a:off x="781399" y="4471718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4C81770-C472-4140-9FED-E9D4ACE8673F}"/>
              </a:ext>
            </a:extLst>
          </p:cNvPr>
          <p:cNvSpPr/>
          <p:nvPr/>
        </p:nvSpPr>
        <p:spPr>
          <a:xfrm>
            <a:off x="781399" y="4692099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385F3A1-32A3-483B-9754-81115D70771E}"/>
              </a:ext>
            </a:extLst>
          </p:cNvPr>
          <p:cNvSpPr/>
          <p:nvPr/>
        </p:nvSpPr>
        <p:spPr>
          <a:xfrm>
            <a:off x="781399" y="4813382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24929BC-9DA4-4BD2-B3C1-CDAE056E0DDB}"/>
              </a:ext>
            </a:extLst>
          </p:cNvPr>
          <p:cNvSpPr/>
          <p:nvPr/>
        </p:nvSpPr>
        <p:spPr>
          <a:xfrm>
            <a:off x="781399" y="6062552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025293E-DC1D-4D31-859A-A8D4555F9004}"/>
              </a:ext>
            </a:extLst>
          </p:cNvPr>
          <p:cNvSpPr/>
          <p:nvPr/>
        </p:nvSpPr>
        <p:spPr>
          <a:xfrm>
            <a:off x="7833320" y="4285476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9" name="연결선: 꺾임 64">
            <a:extLst>
              <a:ext uri="{FF2B5EF4-FFF2-40B4-BE49-F238E27FC236}">
                <a16:creationId xmlns:a16="http://schemas.microsoft.com/office/drawing/2014/main" id="{C0EC179E-3950-4C4D-99C3-FCBA79B0E75A}"/>
              </a:ext>
            </a:extLst>
          </p:cNvPr>
          <p:cNvCxnSpPr>
            <a:cxnSpLocks/>
            <a:stCxn id="20" idx="3"/>
            <a:endCxn id="55" idx="1"/>
          </p:cNvCxnSpPr>
          <p:nvPr/>
        </p:nvCxnSpPr>
        <p:spPr>
          <a:xfrm>
            <a:off x="5909821" y="3807934"/>
            <a:ext cx="1239603" cy="2258094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64">
            <a:extLst>
              <a:ext uri="{FF2B5EF4-FFF2-40B4-BE49-F238E27FC236}">
                <a16:creationId xmlns:a16="http://schemas.microsoft.com/office/drawing/2014/main" id="{F501B949-3811-4DE6-8EBA-A8A768662256}"/>
              </a:ext>
            </a:extLst>
          </p:cNvPr>
          <p:cNvCxnSpPr>
            <a:cxnSpLocks/>
            <a:stCxn id="20" idx="3"/>
            <a:endCxn id="63" idx="1"/>
          </p:cNvCxnSpPr>
          <p:nvPr/>
        </p:nvCxnSpPr>
        <p:spPr>
          <a:xfrm>
            <a:off x="5909821" y="3807934"/>
            <a:ext cx="1923499" cy="539708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804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설치 파일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프로젝트</a:t>
            </a:r>
            <a:r>
              <a:rPr lang="ko-KR" altLang="en-US" dirty="0"/>
              <a:t> 진행을 위하여 아래의 </a:t>
            </a:r>
            <a:r>
              <a:rPr lang="ko-KR" altLang="en-US" b="1" dirty="0">
                <a:solidFill>
                  <a:srgbClr val="00FFFF"/>
                </a:solidFill>
              </a:rPr>
              <a:t>소프트웨어</a:t>
            </a:r>
            <a:r>
              <a:rPr lang="ko-KR" altLang="en-US" dirty="0"/>
              <a:t>를 사용하고 관련된 기능을 설명하도록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850602"/>
              </p:ext>
            </p:extLst>
          </p:nvPr>
        </p:nvGraphicFramePr>
        <p:xfrm>
          <a:off x="273050" y="1341439"/>
          <a:ext cx="9360471" cy="5040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69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2736305">
                  <a:extLst>
                    <a:ext uri="{9D8B030D-6E8A-4147-A177-3AD203B41FA5}">
                      <a16:colId xmlns:a16="http://schemas.microsoft.com/office/drawing/2014/main" val="2853409090"/>
                    </a:ext>
                  </a:extLst>
                </a:gridCol>
              </a:tblGrid>
              <a:tr h="31014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및 버전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전자정부 프레임워크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개발자용 개발환경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 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Windows 64bit (Implementation Tool) Version 4.3.1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2025-05-12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https://www.egovframe.go.kr/home/sub.do?menuNo=107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톰켓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apache-tomcat-9.0.86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이클립스 설정에서 설치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메이븐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maven-3.9.6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전자정부 프레임워크에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Embedded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439729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v24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Developer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x64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정기버전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2026.05.22.1(21.0.0.2100)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https://support.tobesoft.co.kr/Support/?menu=Download_N&amp;page=1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X-API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NexacroN_XAPI_JAVA_20250610(2.0.3)_1.zip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2025-06-10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https://support.tobesoft.co.kr/Support/?menu=Download_N&amp;page=1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uiadapter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nexacroN_uiadapter.zip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2025-05-23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https://support.tobesoft.co.kr/Support/?menu=Download_N&amp;page=1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uiadapter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pom.xml / dispatcher-servlet.xml / context-nexacro.xml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sql-mapper-config.xml /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xeni.properties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web.xml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https://docs.tobesoft.com/edu-nexacro-egov/64758130f0590a7b#017677f6a3f2a602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23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설치 파일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프로젝트</a:t>
            </a:r>
            <a:r>
              <a:rPr lang="ko-KR" altLang="en-US" dirty="0"/>
              <a:t> 진행을 위하여 아래의 </a:t>
            </a:r>
            <a:r>
              <a:rPr lang="ko-KR" altLang="en-US" b="1" dirty="0">
                <a:solidFill>
                  <a:srgbClr val="00FFFF"/>
                </a:solidFill>
              </a:rPr>
              <a:t>소프트웨어</a:t>
            </a:r>
            <a:r>
              <a:rPr lang="ko-KR" altLang="en-US" dirty="0"/>
              <a:t>를 사용하고 관련된 기능을 설명하도록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88249"/>
              </p:ext>
            </p:extLst>
          </p:nvPr>
        </p:nvGraphicFramePr>
        <p:xfrm>
          <a:off x="273050" y="1341439"/>
          <a:ext cx="9360471" cy="5197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69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2736305">
                  <a:extLst>
                    <a:ext uri="{9D8B030D-6E8A-4147-A177-3AD203B41FA5}">
                      <a16:colId xmlns:a16="http://schemas.microsoft.com/office/drawing/2014/main" val="2853409090"/>
                    </a:ext>
                  </a:extLst>
                </a:gridCol>
              </a:tblGrid>
              <a:tr h="31014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및 버전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eGIT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/>
                        <a:t>이클립스 </a:t>
                      </a:r>
                      <a:r>
                        <a:rPr lang="en-US" altLang="ko-KR" sz="1050" dirty="0"/>
                        <a:t>Install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/>
                        <a:t>https://download.eclipse.org/egit/updates 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이클립스 설정에서 설치</a:t>
                      </a:r>
                      <a:endParaRPr lang="en-US" altLang="ko-KR" sz="105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(Skip)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GitHub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계정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2"/>
                        </a:rPr>
                        <a:t>nbdf2026@gmail.com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</a:t>
                      </a:r>
                      <a:r>
                        <a:rPr lang="en-US" altLang="ko-KR" sz="1050" dirty="0">
                          <a:solidFill>
                            <a:schemeClr val="accent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nbdf2026NBDF!@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URI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https://github.com/nbdf2026/nbdf.git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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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https://github.com/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for Windows/x64 Setup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window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cmd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이클립스 터미널에서 실행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Git-2.54.0-64-bit.exe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https://git-scm.com/install/windows?utm_source=chatgpt.com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439729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669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41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8C37DF-133B-4440-BBEC-480FE7DDA6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FF"/>
                </a:solidFill>
              </a:rPr>
              <a:t>프로그램 설치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83591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하단의 첨부파일 다운로드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eGovFrameDev-4.3.1-64bit.zip [1,522,817,612 Byte]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폴더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E:\nBDF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 해제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38113" indent="-138113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압축해제시 파일 경로가 길어서 오류가 발생함으로 반디집으로 압축 해제</a:t>
                      </a: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E:\nBDF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. eclipse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. workspace-</a:t>
                      </a:r>
                      <a:r>
                        <a:rPr lang="en-US" altLang="ko-KR" sz="1050" b="1" dirty="0" err="1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</a:t>
                      </a:r>
                      <a:endParaRPr lang="en-US" altLang="ko-KR" sz="1050" b="1" dirty="0">
                        <a:solidFill>
                          <a:schemeClr val="accent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[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]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전자정부 프레임워크 최신 버전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Dynamic Web Module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설정되어 있는데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전자정부에서 실행 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Dynamic Web Module 4.0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설정 되어 오류가 발생</a:t>
                      </a: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오류를 해결하기 위하여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Dynamic Web Module 4.0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설정 후 실행하면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서블릿 코딩 부분을 모두 바꿔야 함으로 전자정부 프레임워크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4.3.1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을 설치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/>
              <a:t>eGovFrame </a:t>
            </a:r>
            <a:r>
              <a:rPr lang="ko-KR" altLang="en-US"/>
              <a:t>다운로드 및 압축 해제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 프레임워크 버전</a:t>
            </a:r>
            <a:r>
              <a:rPr lang="en-US" altLang="ko-KR" b="1" dirty="0">
                <a:solidFill>
                  <a:srgbClr val="00FFFF"/>
                </a:solidFill>
              </a:rPr>
              <a:t>4.3.1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https://www.egovframe.go.kr/home/sub.do?menuNo=107</a:t>
            </a:r>
            <a:r>
              <a:rPr lang="en-US" altLang="ko-KR" dirty="0"/>
              <a:t>)</a:t>
            </a:r>
            <a:r>
              <a:rPr lang="ko-KR" altLang="en-US" dirty="0"/>
              <a:t>을 다운로드합니다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Version: eGovFrameDev-4.3.1-64bit.zip [1,522,817,612 Byte]</a:t>
            </a:r>
          </a:p>
          <a:p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57F562B-C4F6-4100-813B-FE89F33FD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01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76BB1D1-2489-465D-A0F5-4ADE9B43C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08249"/>
            <a:ext cx="6974778" cy="374894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3833A90-0838-49F6-9B94-8106C5A5E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667" y="5450645"/>
            <a:ext cx="5068534" cy="638741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763255-BB9C-4990-B378-10A6D7432226}"/>
              </a:ext>
            </a:extLst>
          </p:cNvPr>
          <p:cNvSpPr/>
          <p:nvPr/>
        </p:nvSpPr>
        <p:spPr>
          <a:xfrm>
            <a:off x="6083235" y="5710396"/>
            <a:ext cx="662345" cy="2931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775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68016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Workspace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workspace-ego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workspace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Eclipse.exe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 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E:\nBDF\eclipse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eclipse.exe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워크스페이스 지정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E:\nBDF\workspace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Eclipse Version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Version: 2024-03 (4.31.0)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Build id: 20240307-1437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eGovFrame Version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Version: eGovFrameDev-4.3.1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개발자용 개발환경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for Windows 64bit (Implementation Tool)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818C834-D36D-4BB9-AC77-881BDABF5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24" y="1417836"/>
            <a:ext cx="7050234" cy="479318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74A876F-56C8-4407-B42D-D12786A79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32" y="4245745"/>
            <a:ext cx="3822804" cy="19652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/>
              <a:t>워크스페이스 설정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압축해제 후 이클립스 실행 파일을 찾아 더블 클릭합니다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프로젝트 생성시 작업공간을 생성을 위하여 </a:t>
            </a:r>
            <a:r>
              <a:rPr lang="ko-KR" altLang="en-US" b="1" dirty="0">
                <a:solidFill>
                  <a:srgbClr val="00FFFF"/>
                </a:solidFill>
              </a:rPr>
              <a:t>워크스페이스 폴더</a:t>
            </a:r>
            <a:r>
              <a:rPr lang="ko-KR" altLang="en-US" dirty="0"/>
              <a:t>를 아래와 같이 선택합니다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A5259B4-5EBC-48AC-A51C-62904E6439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02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DB9DE5-39FC-428B-B261-ECFE594BF637}"/>
              </a:ext>
            </a:extLst>
          </p:cNvPr>
          <p:cNvSpPr/>
          <p:nvPr/>
        </p:nvSpPr>
        <p:spPr>
          <a:xfrm>
            <a:off x="3443514" y="4923044"/>
            <a:ext cx="3822804" cy="25960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64AC57-1153-45A7-B9AC-F7EF24302BFB}"/>
              </a:ext>
            </a:extLst>
          </p:cNvPr>
          <p:cNvSpPr/>
          <p:nvPr/>
        </p:nvSpPr>
        <p:spPr>
          <a:xfrm>
            <a:off x="306611" y="5629660"/>
            <a:ext cx="2486149" cy="1773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DA1A45-E9E1-4BD4-BF6B-EB6245C570E7}"/>
              </a:ext>
            </a:extLst>
          </p:cNvPr>
          <p:cNvSpPr/>
          <p:nvPr/>
        </p:nvSpPr>
        <p:spPr>
          <a:xfrm>
            <a:off x="3642024" y="4001601"/>
            <a:ext cx="3636000" cy="1773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2CACE3-524D-48AC-AD9E-84F1A1B20EAE}"/>
              </a:ext>
            </a:extLst>
          </p:cNvPr>
          <p:cNvSpPr/>
          <p:nvPr/>
        </p:nvSpPr>
        <p:spPr>
          <a:xfrm>
            <a:off x="306611" y="6026501"/>
            <a:ext cx="2486149" cy="1773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7318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10685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Perspective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 변경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Show Text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eGovFrame perspective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Eclipse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개발환경 구성을 위하여 창 이동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(Drag and Drop)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Package Explorer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이동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Servers, Progress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 창 이동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Console,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Properties,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Problems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Package Explorer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eGovFrame Web Project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39971812-949E-4163-9432-9DF810B1D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22" y="1417835"/>
            <a:ext cx="6978165" cy="4890890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생성 및 개발환경 설정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 개발환경 설정을 위하여 하단의 탭을 이동 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또한 신규 프로젝트 생성을 위하여 </a:t>
            </a:r>
            <a:r>
              <a:rPr lang="en-US" altLang="ko-KR" b="1" dirty="0">
                <a:solidFill>
                  <a:srgbClr val="00FFFF"/>
                </a:solidFill>
              </a:rPr>
              <a:t>eGovFrame Web Project</a:t>
            </a:r>
            <a:r>
              <a:rPr lang="ko-KR" altLang="en-US" dirty="0"/>
              <a:t>를 선택합니다</a:t>
            </a:r>
            <a:r>
              <a:rPr lang="en-US" altLang="ko-KR" dirty="0"/>
              <a:t>.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A90318B-A965-4D28-B71F-62E5715B18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20CAA3-E766-473E-9B8D-6BFE7FC3F060}"/>
              </a:ext>
            </a:extLst>
          </p:cNvPr>
          <p:cNvSpPr/>
          <p:nvPr/>
        </p:nvSpPr>
        <p:spPr>
          <a:xfrm>
            <a:off x="362153" y="2410199"/>
            <a:ext cx="1080000" cy="1465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BB2FB1-7132-4748-918B-F8D6966F3D29}"/>
              </a:ext>
            </a:extLst>
          </p:cNvPr>
          <p:cNvSpPr/>
          <p:nvPr/>
        </p:nvSpPr>
        <p:spPr>
          <a:xfrm>
            <a:off x="351322" y="4581128"/>
            <a:ext cx="1577342" cy="10081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54672A0-3C6A-488B-AB45-6F835ABDA349}"/>
              </a:ext>
            </a:extLst>
          </p:cNvPr>
          <p:cNvSpPr/>
          <p:nvPr/>
        </p:nvSpPr>
        <p:spPr>
          <a:xfrm>
            <a:off x="1935498" y="5013176"/>
            <a:ext cx="1001278" cy="57606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CE5B03-D800-4288-A2A9-249F4CD22B0B}"/>
              </a:ext>
            </a:extLst>
          </p:cNvPr>
          <p:cNvSpPr/>
          <p:nvPr/>
        </p:nvSpPr>
        <p:spPr>
          <a:xfrm>
            <a:off x="6609185" y="1618950"/>
            <a:ext cx="728770" cy="1465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3393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8654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Package Name, Group id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Project name: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Group id: </a:t>
                      </a:r>
                      <a:r>
                        <a:rPr lang="en-US" altLang="ko-KR" sz="105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com.nbdf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Group id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의미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프로젝트를 고유하게 구분하는 최상위 그룹 역할을 하며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보통 도메인을 거꾸로 적는 규칙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예시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com.nbdf.erp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Generate Example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Finish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파일을 일괄 생성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nbdf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 / Clean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04CEF79F-5925-4F33-A4E3-52D8158D0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4"/>
            <a:ext cx="3653331" cy="403224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65D3985-F8E6-4A82-94C5-65742A638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760" y="2268656"/>
            <a:ext cx="3653333" cy="4032250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생성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생성을 위하여 </a:t>
            </a:r>
            <a:r>
              <a:rPr lang="ko-KR" altLang="en-US" b="1" dirty="0">
                <a:solidFill>
                  <a:srgbClr val="00FFFF"/>
                </a:solidFill>
              </a:rPr>
              <a:t>프로젝트 명칭과 그룹 아이디</a:t>
            </a:r>
            <a:r>
              <a:rPr lang="ko-KR" altLang="en-US" dirty="0"/>
              <a:t>를 입력 후 </a:t>
            </a:r>
            <a:r>
              <a:rPr lang="en-US" altLang="ko-KR" dirty="0"/>
              <a:t>Next </a:t>
            </a:r>
            <a:r>
              <a:rPr lang="ko-KR" altLang="en-US" dirty="0"/>
              <a:t>버튼을 클릭합니다</a:t>
            </a:r>
            <a:r>
              <a:rPr lang="en-US" altLang="ko-KR" dirty="0"/>
              <a:t>.</a:t>
            </a:r>
          </a:p>
          <a:p>
            <a:r>
              <a:rPr lang="ko-KR" altLang="en-US" b="1" dirty="0">
                <a:solidFill>
                  <a:srgbClr val="00FFFF"/>
                </a:solidFill>
              </a:rPr>
              <a:t>프로젝트 파일을 일괄생성</a:t>
            </a:r>
            <a:r>
              <a:rPr lang="ko-KR" altLang="en-US" dirty="0"/>
              <a:t>하기 위하여 </a:t>
            </a:r>
            <a:r>
              <a:rPr lang="en-US" altLang="ko-KR" dirty="0"/>
              <a:t>Generate Example </a:t>
            </a:r>
            <a:r>
              <a:rPr lang="ko-KR" altLang="en-US" dirty="0"/>
              <a:t>선택 후 </a:t>
            </a:r>
            <a:r>
              <a:rPr lang="en-US" altLang="ko-KR" dirty="0"/>
              <a:t>Finish </a:t>
            </a:r>
            <a:r>
              <a:rPr lang="ko-KR" altLang="en-US" dirty="0"/>
              <a:t>버튼을 클릭합니다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BDE546C-DC15-43E3-8262-B9BCC5EE49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56E063-4C35-4A10-ACBA-86F8436092AE}"/>
              </a:ext>
            </a:extLst>
          </p:cNvPr>
          <p:cNvSpPr/>
          <p:nvPr/>
        </p:nvSpPr>
        <p:spPr>
          <a:xfrm>
            <a:off x="362153" y="2154735"/>
            <a:ext cx="1870872" cy="25960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8F497B-FDA0-4A3E-8984-75625E3A7587}"/>
              </a:ext>
            </a:extLst>
          </p:cNvPr>
          <p:cNvSpPr/>
          <p:nvPr/>
        </p:nvSpPr>
        <p:spPr>
          <a:xfrm>
            <a:off x="362153" y="3821696"/>
            <a:ext cx="1870872" cy="4331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9F8984-5C6A-4B7B-AFD4-33FC760D58A1}"/>
              </a:ext>
            </a:extLst>
          </p:cNvPr>
          <p:cNvSpPr/>
          <p:nvPr/>
        </p:nvSpPr>
        <p:spPr>
          <a:xfrm>
            <a:off x="2806609" y="2982998"/>
            <a:ext cx="1066047" cy="2173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C073B3B-CB9A-4758-B846-0F65D52D2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928" y="4107508"/>
            <a:ext cx="3077718" cy="219339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3A4891E-DC70-453F-A113-D4A0A341C364}"/>
              </a:ext>
            </a:extLst>
          </p:cNvPr>
          <p:cNvSpPr/>
          <p:nvPr/>
        </p:nvSpPr>
        <p:spPr>
          <a:xfrm>
            <a:off x="4304928" y="4756731"/>
            <a:ext cx="2376263" cy="15441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6119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10632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Servers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No servers are ...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링크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Define a New Server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Apache / Tomcat v9.0 Server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Download and Install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Feature License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팝업창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설치 경로 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Process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창에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Tomcat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소프트웨어가 다운로드 및 설치 진행 </a:t>
                      </a:r>
                      <a:r>
                        <a:rPr lang="en-US" altLang="ko-KR" sz="1050" b="1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시스템 마다 시간이 다소 소요됨</a:t>
                      </a:r>
                      <a:r>
                        <a:rPr lang="en-US" altLang="ko-KR" sz="1050" b="1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Tomcat</a:t>
            </a:r>
            <a:r>
              <a:rPr lang="ko-KR" altLang="en-US" dirty="0"/>
              <a:t> 설치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Tomcat Server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en-US" altLang="ko-KR" b="1" dirty="0">
                <a:solidFill>
                  <a:srgbClr val="00FFFF"/>
                </a:solidFill>
              </a:rPr>
              <a:t>9.0.86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버전을 아래와 같이 설치합니다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A93BD4-CF7E-498C-AA1C-B6B1DB279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32" y="1421920"/>
            <a:ext cx="4171950" cy="89535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BEF4E84-AADC-4DE2-B596-22D05EBD7530}"/>
              </a:ext>
            </a:extLst>
          </p:cNvPr>
          <p:cNvSpPr/>
          <p:nvPr/>
        </p:nvSpPr>
        <p:spPr>
          <a:xfrm>
            <a:off x="359720" y="1869595"/>
            <a:ext cx="3225128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704D4F-7338-4B84-BE8A-B6443EDFC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20" y="2204057"/>
            <a:ext cx="2876202" cy="327583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9F2D3E72-C1F6-4DB8-92EF-1EF08DE1F9F5}"/>
              </a:ext>
            </a:extLst>
          </p:cNvPr>
          <p:cNvSpPr/>
          <p:nvPr/>
        </p:nvSpPr>
        <p:spPr>
          <a:xfrm>
            <a:off x="359720" y="3592003"/>
            <a:ext cx="1188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872151-103A-42D6-A7DD-FA6487BBA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337" y="1412776"/>
            <a:ext cx="2577653" cy="29358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10E54413-6D49-4CB4-AD34-E69FFF333715}"/>
              </a:ext>
            </a:extLst>
          </p:cNvPr>
          <p:cNvSpPr/>
          <p:nvPr/>
        </p:nvSpPr>
        <p:spPr>
          <a:xfrm>
            <a:off x="5132448" y="2421695"/>
            <a:ext cx="737655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D10344-6793-4ED0-BFB1-81109CDCC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299" y="2682568"/>
            <a:ext cx="2254189" cy="225860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390E9A1F-33E0-4C09-A425-F5F976FFDD9C}"/>
              </a:ext>
            </a:extLst>
          </p:cNvPr>
          <p:cNvSpPr/>
          <p:nvPr/>
        </p:nvSpPr>
        <p:spPr>
          <a:xfrm>
            <a:off x="6383201" y="4733736"/>
            <a:ext cx="503828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B414CB5-D040-4D41-8E36-32D714874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69" y="3140968"/>
            <a:ext cx="3042987" cy="212162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A737B64-751F-4683-98E6-C6BBDFAF66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488" y="5442653"/>
            <a:ext cx="4171950" cy="89535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113B35-385B-4D7C-95D0-1A283155FBBA}"/>
              </a:ext>
            </a:extLst>
          </p:cNvPr>
          <p:cNvSpPr/>
          <p:nvPr/>
        </p:nvSpPr>
        <p:spPr>
          <a:xfrm>
            <a:off x="2989613" y="4869365"/>
            <a:ext cx="503828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CFE2470-D2C8-4A20-AA8B-6AB35AB46442}"/>
              </a:ext>
            </a:extLst>
          </p:cNvPr>
          <p:cNvSpPr/>
          <p:nvPr/>
        </p:nvSpPr>
        <p:spPr>
          <a:xfrm>
            <a:off x="353632" y="5710327"/>
            <a:ext cx="4162806" cy="5983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493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08431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New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Server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정상적으로 설치가 완료되면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활성화되며 해당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 Add and Remove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Available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Configured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영역에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이동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6. Servers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 Tomcat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Tomcat v9.0 Server at localhost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링크 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Clear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Tomcat</a:t>
            </a:r>
            <a:r>
              <a:rPr lang="ko-KR" altLang="en-US" dirty="0"/>
              <a:t> 설치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Tomcat Server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en-US" altLang="ko-KR" b="1" dirty="0">
                <a:solidFill>
                  <a:srgbClr val="00FFFF"/>
                </a:solidFill>
              </a:rPr>
              <a:t>9.0.86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버전을 아래와 같이 설치합니다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C0AFCDC-5047-44A7-8EBD-53BB84CA5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96" y="1436014"/>
            <a:ext cx="2305048" cy="262531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734628EF-A92C-491F-A51B-B3EAB27694E1}"/>
              </a:ext>
            </a:extLst>
          </p:cNvPr>
          <p:cNvSpPr/>
          <p:nvPr/>
        </p:nvSpPr>
        <p:spPr>
          <a:xfrm>
            <a:off x="1219115" y="3837397"/>
            <a:ext cx="554211" cy="198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BB8C253-E325-4794-A916-E8876400F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064" y="1436014"/>
            <a:ext cx="2907424" cy="27744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C80972-06BA-481D-AD14-261630C523EF}"/>
              </a:ext>
            </a:extLst>
          </p:cNvPr>
          <p:cNvSpPr/>
          <p:nvPr/>
        </p:nvSpPr>
        <p:spPr>
          <a:xfrm>
            <a:off x="4413512" y="1448208"/>
            <a:ext cx="1619608" cy="40833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43D18A-3437-4456-95FC-C1DC57D1D83D}"/>
              </a:ext>
            </a:extLst>
          </p:cNvPr>
          <p:cNvSpPr/>
          <p:nvPr/>
        </p:nvSpPr>
        <p:spPr>
          <a:xfrm>
            <a:off x="5915900" y="3339000"/>
            <a:ext cx="918067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7914985-69FF-4340-8D14-38BBEA3A1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469" y="2811276"/>
            <a:ext cx="2829507" cy="3222648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8CAF4130-635A-42A1-9F08-38B388C292E6}"/>
              </a:ext>
            </a:extLst>
          </p:cNvPr>
          <p:cNvSpPr/>
          <p:nvPr/>
        </p:nvSpPr>
        <p:spPr>
          <a:xfrm>
            <a:off x="3630315" y="3647641"/>
            <a:ext cx="1044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7414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179186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실행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톰캣 서버는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Stop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상태로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Run / Run As / Run on Server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Run On Server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Tomcat v9.0 Server at Localhost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Configured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서버 확인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Finish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웹페이지 오픈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http://localhost:8080/nbdf/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2CBE3347-2432-4440-A2EB-F91321238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53" y="1414349"/>
            <a:ext cx="6970735" cy="237469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743719D-9EBE-449C-A333-3CFCDB2E5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743" y="3449746"/>
            <a:ext cx="2254176" cy="2571543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실행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Tomcat Server</a:t>
            </a:r>
            <a:r>
              <a:rPr lang="ko-KR" altLang="en-US" b="1" dirty="0">
                <a:solidFill>
                  <a:srgbClr val="00FFFF"/>
                </a:solidFill>
              </a:rPr>
              <a:t> 설치 후 프로젝트 실행</a:t>
            </a:r>
            <a:r>
              <a:rPr lang="ko-KR" altLang="en-US" dirty="0"/>
              <a:t>을 위하여 </a:t>
            </a:r>
            <a:r>
              <a:rPr lang="en-US" altLang="ko-KR" dirty="0"/>
              <a:t>Run on Server</a:t>
            </a:r>
            <a:r>
              <a:rPr lang="ko-KR" altLang="en-US" dirty="0"/>
              <a:t>를 실행합니다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정상적으로 설정이 완료되면 </a:t>
            </a:r>
            <a:r>
              <a:rPr lang="en-US" altLang="ko-KR" b="1" dirty="0">
                <a:solidFill>
                  <a:srgbClr val="00FFFF"/>
                </a:solidFill>
              </a:rPr>
              <a:t>List Sample </a:t>
            </a:r>
            <a:r>
              <a:rPr lang="ko-KR" altLang="en-US" b="1" dirty="0">
                <a:solidFill>
                  <a:srgbClr val="00FFFF"/>
                </a:solidFill>
              </a:rPr>
              <a:t>웹 페이지가 오픈</a:t>
            </a:r>
            <a:r>
              <a:rPr lang="ko-KR" altLang="en-US" dirty="0"/>
              <a:t>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6C4BF8-5B8E-40DD-ABE5-F4C1BBAF5F31}"/>
              </a:ext>
            </a:extLst>
          </p:cNvPr>
          <p:cNvSpPr/>
          <p:nvPr/>
        </p:nvSpPr>
        <p:spPr>
          <a:xfrm>
            <a:off x="5159488" y="2266818"/>
            <a:ext cx="2124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9502A8-F27E-4EF7-925F-700D267FC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88" y="3429000"/>
            <a:ext cx="2265552" cy="28797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EF7A43-6120-4D52-86C6-16EA7891E62D}"/>
              </a:ext>
            </a:extLst>
          </p:cNvPr>
          <p:cNvSpPr/>
          <p:nvPr/>
        </p:nvSpPr>
        <p:spPr>
          <a:xfrm>
            <a:off x="333353" y="4365104"/>
            <a:ext cx="2265552" cy="3072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CCBF44D-6F6C-472F-BB29-B55E85D48139}"/>
              </a:ext>
            </a:extLst>
          </p:cNvPr>
          <p:cNvSpPr/>
          <p:nvPr/>
        </p:nvSpPr>
        <p:spPr>
          <a:xfrm>
            <a:off x="4054868" y="3989898"/>
            <a:ext cx="826304" cy="27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DC61300-746F-4E73-9121-C8BF87C8E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174" y="4322208"/>
            <a:ext cx="2747314" cy="1995995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AE3EB0-1C19-4E6B-BC5B-1A655C9739DC}"/>
              </a:ext>
            </a:extLst>
          </p:cNvPr>
          <p:cNvSpPr/>
          <p:nvPr/>
        </p:nvSpPr>
        <p:spPr>
          <a:xfrm>
            <a:off x="4582174" y="4312729"/>
            <a:ext cx="2747314" cy="20054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0314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16101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Terminal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Show View / Others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Terminal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창이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버전 확인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java –version : 17.0.11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javac –version : 17.0.11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Java, Javac</a:t>
            </a:r>
            <a:r>
              <a:rPr lang="ko-KR" altLang="en-US" dirty="0"/>
              <a:t> 버전 확인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Java </a:t>
            </a:r>
            <a:r>
              <a:rPr lang="ko-KR" altLang="en-US" dirty="0"/>
              <a:t>버전을 확인하기 위하여 </a:t>
            </a:r>
            <a:r>
              <a:rPr lang="en-US" altLang="ko-KR" b="1" dirty="0">
                <a:solidFill>
                  <a:srgbClr val="00FFFF"/>
                </a:solidFill>
              </a:rPr>
              <a:t>Terminal </a:t>
            </a:r>
            <a:r>
              <a:rPr lang="ko-KR" altLang="en-US" b="1" dirty="0">
                <a:solidFill>
                  <a:srgbClr val="00FFFF"/>
                </a:solidFill>
              </a:rPr>
              <a:t>창을 추가 후 자바 및 자바 컴파일러 버전</a:t>
            </a:r>
            <a:r>
              <a:rPr lang="ko-KR" altLang="en-US" dirty="0"/>
              <a:t>을 아래와 같이 확인합니다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EEF401-0441-439B-9F93-120F4AD00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53" y="1412875"/>
            <a:ext cx="2099368" cy="295416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144E98-16A6-4638-8C5B-06F5A67050ED}"/>
              </a:ext>
            </a:extLst>
          </p:cNvPr>
          <p:cNvSpPr/>
          <p:nvPr/>
        </p:nvSpPr>
        <p:spPr>
          <a:xfrm>
            <a:off x="371168" y="3121636"/>
            <a:ext cx="1080000" cy="2757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AF67B6-55BE-413F-AF00-6A7328F39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80" y="1956048"/>
            <a:ext cx="4981575" cy="1905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B46769-75A1-4603-9A1C-CD83CFDBC17C}"/>
              </a:ext>
            </a:extLst>
          </p:cNvPr>
          <p:cNvSpPr/>
          <p:nvPr/>
        </p:nvSpPr>
        <p:spPr>
          <a:xfrm>
            <a:off x="4232920" y="1924719"/>
            <a:ext cx="1080000" cy="2757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5892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6936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Maven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 확인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Window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Preferences / Maven / Installations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Embedded / 3.9.6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Maven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구성은 실행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(mvn.cmd)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아닌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파일로 구성되어 있으며 설정 화면에 버전으로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Maven</a:t>
            </a:r>
            <a:r>
              <a:rPr lang="ko-KR" altLang="en-US" dirty="0"/>
              <a:t> 버전 및 </a:t>
            </a:r>
            <a:r>
              <a:rPr lang="en-US" altLang="ko-KR" dirty="0"/>
              <a:t>Repository </a:t>
            </a:r>
            <a:r>
              <a:rPr lang="ko-KR" altLang="en-US" dirty="0"/>
              <a:t>재설정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전자정부 프레임워크에서는 </a:t>
            </a:r>
            <a:r>
              <a:rPr lang="en-US" altLang="ko-KR" b="1" dirty="0">
                <a:solidFill>
                  <a:srgbClr val="00FFFF"/>
                </a:solidFill>
              </a:rPr>
              <a:t>Maven</a:t>
            </a:r>
            <a:r>
              <a:rPr lang="ko-KR" altLang="en-US" b="1" dirty="0">
                <a:solidFill>
                  <a:srgbClr val="00FFFF"/>
                </a:solidFill>
              </a:rPr>
              <a:t> 소프트웨어는 </a:t>
            </a:r>
            <a:r>
              <a:rPr lang="en-US" altLang="ko-KR" b="1" dirty="0">
                <a:solidFill>
                  <a:srgbClr val="00FFFF"/>
                </a:solidFill>
              </a:rPr>
              <a:t>Embedded</a:t>
            </a:r>
            <a:r>
              <a:rPr lang="ko-KR" altLang="en-US" dirty="0"/>
              <a:t>되어 이클립스 환경설정의 설치정보에서 확인할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671033-51AF-45E7-AC59-4886D0CF5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776"/>
            <a:ext cx="3802863" cy="3537805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0442E69-9BD1-4A80-B2F8-F115B72FD02F}"/>
              </a:ext>
            </a:extLst>
          </p:cNvPr>
          <p:cNvSpPr/>
          <p:nvPr/>
        </p:nvSpPr>
        <p:spPr>
          <a:xfrm>
            <a:off x="1337748" y="1870072"/>
            <a:ext cx="2463123" cy="3448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DDEE66-34DC-4553-A393-15F93F5134C6}"/>
              </a:ext>
            </a:extLst>
          </p:cNvPr>
          <p:cNvSpPr/>
          <p:nvPr/>
        </p:nvSpPr>
        <p:spPr>
          <a:xfrm>
            <a:off x="445759" y="3814098"/>
            <a:ext cx="737655" cy="1433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6074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09771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저장소 폴더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 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maven\repository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로컬 저장소 경로 변경에 따른 설정 파일 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E:\nBDF\maven\repository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settings.xml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이클립스 로컬 저장소 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Preferences / Maven / User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 Settings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E:\nBDF\maven\repository\settings.xml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폴더의 파일을 선택 후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Apply and Close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Update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 Project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진행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 및 업데이트 시간이 소요됨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FB37984-11B0-4D64-8397-E10DD89C3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985000" cy="4233545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Maven</a:t>
            </a:r>
            <a:r>
              <a:rPr lang="ko-KR" altLang="en-US" dirty="0"/>
              <a:t> 버전 및 </a:t>
            </a:r>
            <a:r>
              <a:rPr lang="en-US" altLang="ko-KR" dirty="0"/>
              <a:t>Repository </a:t>
            </a:r>
            <a:r>
              <a:rPr lang="ko-KR" altLang="en-US" dirty="0"/>
              <a:t>재설정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z="1200" b="1" dirty="0">
                <a:solidFill>
                  <a:srgbClr val="00FFFF"/>
                </a:solidFill>
              </a:rPr>
              <a:t>Maven </a:t>
            </a:r>
            <a:r>
              <a:rPr lang="ko-KR" altLang="en-US" sz="1200" b="1" dirty="0">
                <a:solidFill>
                  <a:srgbClr val="00FFFF"/>
                </a:solidFill>
              </a:rPr>
              <a:t>디렉터리</a:t>
            </a:r>
            <a:r>
              <a:rPr lang="en-US" altLang="ko-KR" sz="1200" b="1" dirty="0">
                <a:solidFill>
                  <a:srgbClr val="00FFFF"/>
                </a:solidFill>
              </a:rPr>
              <a:t> </a:t>
            </a:r>
            <a:r>
              <a:rPr lang="ko-KR" altLang="en-US" sz="1200" b="1" dirty="0">
                <a:solidFill>
                  <a:srgbClr val="00FFFF"/>
                </a:solidFill>
              </a:rPr>
              <a:t>수정 및 </a:t>
            </a:r>
            <a:r>
              <a:rPr lang="en-US" altLang="ko-KR" sz="1200" b="1" dirty="0">
                <a:solidFill>
                  <a:srgbClr val="00FFFF"/>
                </a:solidFill>
              </a:rPr>
              <a:t>Update</a:t>
            </a:r>
            <a:r>
              <a:rPr lang="ko-KR" altLang="en-US" sz="1200" b="1" dirty="0">
                <a:solidFill>
                  <a:srgbClr val="00FFFF"/>
                </a:solidFill>
              </a:rPr>
              <a:t> 파일 </a:t>
            </a:r>
            <a:r>
              <a:rPr lang="ko-KR" altLang="en-US" sz="1200" dirty="0"/>
              <a:t>아래와 같이 다운로드합니다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E:\nBDF\maven\repository </a:t>
            </a:r>
            <a:r>
              <a:rPr lang="ko-KR" altLang="en-US" sz="1200" dirty="0"/>
              <a:t>폴더 생성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위 폴더 아래 </a:t>
            </a:r>
            <a:r>
              <a:rPr lang="en-US" altLang="ko-KR" sz="1200" dirty="0"/>
              <a:t>settrings.xml </a:t>
            </a:r>
            <a:r>
              <a:rPr lang="ko-KR" altLang="en-US" sz="1200" dirty="0"/>
              <a:t>파일 추가 및 </a:t>
            </a:r>
            <a:r>
              <a:rPr lang="en-US" altLang="ko-KR" sz="1200" dirty="0"/>
              <a:t>maven user settings </a:t>
            </a:r>
            <a:r>
              <a:rPr lang="ko-KR" altLang="en-US" sz="1200" dirty="0"/>
              <a:t>설정 변경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00472" y="216736"/>
            <a:ext cx="360000" cy="434231"/>
          </a:xfrm>
        </p:spPr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C7C922B-29E1-4292-BBAD-B170E86018FF}"/>
              </a:ext>
            </a:extLst>
          </p:cNvPr>
          <p:cNvSpPr/>
          <p:nvPr/>
        </p:nvSpPr>
        <p:spPr>
          <a:xfrm>
            <a:off x="3584848" y="2372713"/>
            <a:ext cx="3737020" cy="2098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DDEE66-34DC-4553-A393-15F93F5134C6}"/>
              </a:ext>
            </a:extLst>
          </p:cNvPr>
          <p:cNvSpPr/>
          <p:nvPr/>
        </p:nvSpPr>
        <p:spPr>
          <a:xfrm>
            <a:off x="542937" y="5013175"/>
            <a:ext cx="881671" cy="4319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02D043-B1A6-4120-87FD-1D749E3B5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128" y="2615297"/>
            <a:ext cx="2901265" cy="290126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913C88-8C81-4186-B38E-B657221CA128}"/>
              </a:ext>
            </a:extLst>
          </p:cNvPr>
          <p:cNvSpPr/>
          <p:nvPr/>
        </p:nvSpPr>
        <p:spPr>
          <a:xfrm>
            <a:off x="2209074" y="3093720"/>
            <a:ext cx="2160465" cy="2355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6B205F-D5C7-48FB-BE35-223A72313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904" y="5459935"/>
            <a:ext cx="4032448" cy="84879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D494F0-CA0D-44B8-8636-4A9667B62664}"/>
              </a:ext>
            </a:extLst>
          </p:cNvPr>
          <p:cNvSpPr/>
          <p:nvPr/>
        </p:nvSpPr>
        <p:spPr>
          <a:xfrm>
            <a:off x="3378480" y="3510275"/>
            <a:ext cx="3960440" cy="27984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&lt;?xml version="1.0" encoding="UTF-8"?&gt;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&lt;settings 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xmlns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="http://maven.apache.org/SETTINGS/1.2.0"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xmlns:xsi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="http://www.w3.org/2001/XMLSchema-instance"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xsi:schemaLocation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="http://maven.apache.org/SETTINGS/1.2.0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https://maven.apache.org/xsd/settings-1.2.0.xsd"&gt;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로컬 저장소 위치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&lt;localRepository&gt;E:\nBDF\maven\repository&lt;/localRepository&gt;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온라인 여부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&lt;offline&gt;false&lt;/offline&gt;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플러그인 그룹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프록시 설정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&lt;proxies&gt;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회사 프록시 사용 시 설정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&lt;/proxies&gt;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서버 인증정보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&lt;servers&gt;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&lt;/servers&gt;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미러 설정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&lt;mirrors&gt;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&lt;!-- Maven Central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&lt;mirror&gt;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&lt;id&gt;central&lt;/id&gt;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mirrorOf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&gt;central&lt;/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mirrorOf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&lt;name&gt;Maven Central&lt;/name&gt;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&gt;https://repo.maven.apache.org/maven2&lt;/url&gt;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&lt;/mirror&gt;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&lt;/mirrors&gt;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프로파일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&lt;profiles&gt;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&lt;profile&gt;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&lt;id&gt;default-profile&lt;/id&gt;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&lt;repositories&gt;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&lt;id&gt;central&lt;/id&gt;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&gt;https://repo.maven.apache.org/maven2&lt;/url&gt;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&lt;/releases&gt;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    &lt;enabled&gt;false&lt;/enabled&gt;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&lt;/snapshots&gt;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&lt;/repository&gt;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&lt;/repositories&gt;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pluginRepositories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pluginRepository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&lt;id&gt;central&lt;/id&gt;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&gt;https://repo.maven.apache.org/maven2&lt;/url&gt;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pluginRepository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pluginRepositories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&lt;/profile&gt;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&lt;/profiles&gt;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&gt;default-profile&lt;/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&lt;/settings&gt;</a:t>
            </a:r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9977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이클립스 환경 설정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30833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단축키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이클립스</a:t>
            </a:r>
            <a:r>
              <a:rPr lang="ko-KR" altLang="en-US" dirty="0"/>
              <a:t>로 프로그램 개발 시 유용하게 사용하는 </a:t>
            </a:r>
            <a:r>
              <a:rPr lang="ko-KR" altLang="en-US" b="1" dirty="0">
                <a:solidFill>
                  <a:srgbClr val="00FFFF"/>
                </a:solidFill>
              </a:rPr>
              <a:t>단축키</a:t>
            </a:r>
            <a:r>
              <a:rPr lang="ko-KR" altLang="en-US" dirty="0"/>
              <a:t>를 아래와 같이 공유합니다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단축키 변경 </a:t>
            </a:r>
            <a:r>
              <a:rPr lang="en-US" altLang="ko-KR" dirty="0"/>
              <a:t>: Window / Preference / General / Keys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747846"/>
              </p:ext>
            </p:extLst>
          </p:nvPr>
        </p:nvGraphicFramePr>
        <p:xfrm>
          <a:off x="273050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529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16594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단축키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Space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코딩 자동완성 강제 호출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+ 0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Import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정리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F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자동 정렬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/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단일라인 주석 처리 및 해제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Ctlr + Shift + /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복수라인 주석 처리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Ctlr + Shift + \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복수라인 주석 해제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Shift + Alt + J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주석 표기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(File, Method, Overriding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Method)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대문자 변환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X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소문자 변환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Y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759829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123215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64485AD-40B1-4738-90D6-B6346FD32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285569"/>
              </p:ext>
            </p:extLst>
          </p:nvPr>
        </p:nvGraphicFramePr>
        <p:xfrm>
          <a:off x="5061049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529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16594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단축키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Ctrl + Alt +↓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라인복사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Ctrl + Alt +↑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라인복사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Alt + ↑ /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↓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 이동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759829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123215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539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기능 설명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이클립스</a:t>
            </a:r>
            <a:r>
              <a:rPr lang="ko-KR" altLang="en-US" dirty="0"/>
              <a:t>로 프로그램 개발 시 유용하게 사용하는 </a:t>
            </a:r>
            <a:r>
              <a:rPr lang="ko-KR" altLang="en-US" b="1" dirty="0">
                <a:solidFill>
                  <a:srgbClr val="00FFFF"/>
                </a:solidFill>
              </a:rPr>
              <a:t>단축키</a:t>
            </a:r>
            <a:r>
              <a:rPr lang="ko-KR" altLang="en-US" dirty="0"/>
              <a:t>를 아래와 같이 공유합니다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단축키 변경 </a:t>
            </a:r>
            <a:r>
              <a:rPr lang="en-US" altLang="ko-KR" dirty="0"/>
              <a:t>: Window / Preference / General / Keys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96324"/>
              </p:ext>
            </p:extLst>
          </p:nvPr>
        </p:nvGraphicFramePr>
        <p:xfrm>
          <a:off x="273050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529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16594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Refresh(F5)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목록 다시 읽기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Maven Update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Maven </a:t>
                      </a:r>
                      <a:r>
                        <a:rPr lang="ko-KR" altLang="en-US" sz="105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라이브러리 다시 동기화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재컴파일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Restart Tomcat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 재시작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Clean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서버에 올라간 배포 파일 정리 및 재배포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Publish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Eclipse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프로젝트의 변경 내용을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서버에 다시 복사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하는 작업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 Tomcat Work Directory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실행 중 생성한 임시 작업 파일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(work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디렉터리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삭제하는 기능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3183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27C7CC2-2455-442C-88AF-17C0711B9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226060"/>
              </p:ext>
            </p:extLst>
          </p:nvPr>
        </p:nvGraphicFramePr>
        <p:xfrm>
          <a:off x="5061048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176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JSP, JS, CSS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Publish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Java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Publish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Spring XML(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설정파일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Tomcat(Clean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Publish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Restart)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Mapper XML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Tomcat(Publish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Restart)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Mapper XML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namespace/id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Restart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829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22469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View Menu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아이콘 클릭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Package Presentation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Hierarchical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94DA2F9-B5C1-4558-B187-1875BD025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0684"/>
            <a:ext cx="6980935" cy="3759532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Package</a:t>
            </a:r>
            <a:r>
              <a:rPr lang="ko-KR" altLang="en-US" dirty="0"/>
              <a:t> </a:t>
            </a:r>
            <a:r>
              <a:rPr lang="en-US" altLang="ko-KR" dirty="0"/>
              <a:t>Explorer</a:t>
            </a:r>
            <a:r>
              <a:rPr lang="ko-KR" altLang="en-US" dirty="0"/>
              <a:t> 표현방식을 계층구조로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Package Explorer</a:t>
            </a:r>
            <a:r>
              <a:rPr lang="ko-KR" altLang="en-US" dirty="0"/>
              <a:t>의 </a:t>
            </a:r>
            <a:r>
              <a:rPr lang="en-US" altLang="ko-KR" dirty="0"/>
              <a:t>scr/main/Java </a:t>
            </a:r>
            <a:r>
              <a:rPr lang="ko-KR" altLang="en-US" dirty="0"/>
              <a:t>폴더 구조를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rgbClr val="00FFFF"/>
                </a:solidFill>
              </a:rPr>
              <a:t>계층적 구조</a:t>
            </a:r>
            <a:r>
              <a:rPr lang="ko-KR" altLang="en-US" dirty="0"/>
              <a:t>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288E74-25F0-4978-B537-D03B3B32A8DB}"/>
              </a:ext>
            </a:extLst>
          </p:cNvPr>
          <p:cNvSpPr/>
          <p:nvPr/>
        </p:nvSpPr>
        <p:spPr>
          <a:xfrm>
            <a:off x="6190388" y="3512144"/>
            <a:ext cx="1008113" cy="26452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DFEDAA-41ED-4AFC-9FAA-3A389889ED31}"/>
              </a:ext>
            </a:extLst>
          </p:cNvPr>
          <p:cNvSpPr/>
          <p:nvPr/>
        </p:nvSpPr>
        <p:spPr>
          <a:xfrm>
            <a:off x="4171943" y="1869316"/>
            <a:ext cx="245814" cy="3200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83422A-2252-4A7A-A1DC-5643E7DB8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3840231"/>
            <a:ext cx="6119540" cy="246849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3D9A23-42D5-4429-8626-73771DCC7A27}"/>
              </a:ext>
            </a:extLst>
          </p:cNvPr>
          <p:cNvSpPr/>
          <p:nvPr/>
        </p:nvSpPr>
        <p:spPr>
          <a:xfrm>
            <a:off x="5463749" y="5517164"/>
            <a:ext cx="1008113" cy="21861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1A666D-4AD5-4F1D-AD34-FFA2017B4853}"/>
              </a:ext>
            </a:extLst>
          </p:cNvPr>
          <p:cNvSpPr/>
          <p:nvPr/>
        </p:nvSpPr>
        <p:spPr>
          <a:xfrm>
            <a:off x="344488" y="2113320"/>
            <a:ext cx="2016224" cy="16538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74342A6-57AC-47D8-8488-0B0C30C4FF6C}"/>
              </a:ext>
            </a:extLst>
          </p:cNvPr>
          <p:cNvSpPr/>
          <p:nvPr/>
        </p:nvSpPr>
        <p:spPr>
          <a:xfrm>
            <a:off x="344488" y="4448283"/>
            <a:ext cx="2016224" cy="15606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9950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0673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테마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General / Appearance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Theme : Classic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Color and Font theme : Classic Theme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- </a:t>
            </a:r>
            <a:r>
              <a:rPr lang="ko-KR" altLang="en-US" dirty="0"/>
              <a:t>테마변경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테마변경</a:t>
            </a:r>
            <a:r>
              <a:rPr lang="ko-KR" altLang="en-US" dirty="0"/>
              <a:t>을 위하여 설정파일에 아래정보를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05ACAB7-C314-4D8F-A886-639B3D76C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0" y="1412875"/>
            <a:ext cx="6351915" cy="489585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710E30-7443-4B14-A050-222DF8DBDD2F}"/>
              </a:ext>
            </a:extLst>
          </p:cNvPr>
          <p:cNvSpPr/>
          <p:nvPr/>
        </p:nvSpPr>
        <p:spPr>
          <a:xfrm>
            <a:off x="2000673" y="1869316"/>
            <a:ext cx="2016224" cy="55157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3564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01332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폰트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General / Appearance / Colors and Fonts / Basic / Text Font / Edit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글꼴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D2Coding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보통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12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자바 폰트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ko-KR" altLang="en-US" b="1" dirty="0">
                <a:solidFill>
                  <a:srgbClr val="00FFFF"/>
                </a:solidFill>
              </a:rPr>
              <a:t>자바</a:t>
            </a:r>
            <a:r>
              <a:rPr lang="ko-KR" altLang="en-US" dirty="0"/>
              <a:t> 코딩에 대한 폰트를 </a:t>
            </a:r>
            <a:r>
              <a:rPr lang="en-US" altLang="ko-KR" dirty="0"/>
              <a:t>‘</a:t>
            </a:r>
            <a:r>
              <a:rPr lang="en-US" altLang="ko-KR" b="1" dirty="0">
                <a:solidFill>
                  <a:srgbClr val="00FFFF"/>
                </a:solidFill>
              </a:rPr>
              <a:t>D2Coding</a:t>
            </a:r>
            <a:r>
              <a:rPr lang="en-US" altLang="ko-KR" dirty="0"/>
              <a:t>’</a:t>
            </a:r>
            <a:r>
              <a:rPr lang="ko-KR" altLang="en-US" dirty="0"/>
              <a:t>으로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C1CB5F7-3F86-4672-BC57-F1B409DD3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1" y="1421493"/>
            <a:ext cx="5129975" cy="488723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B679EE5-4459-4872-95D4-939C03E73DB6}"/>
              </a:ext>
            </a:extLst>
          </p:cNvPr>
          <p:cNvSpPr/>
          <p:nvPr/>
        </p:nvSpPr>
        <p:spPr>
          <a:xfrm>
            <a:off x="1568624" y="3946973"/>
            <a:ext cx="515715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CD10B6-E499-4A5E-8BF6-CC047317E869}"/>
              </a:ext>
            </a:extLst>
          </p:cNvPr>
          <p:cNvSpPr/>
          <p:nvPr/>
        </p:nvSpPr>
        <p:spPr>
          <a:xfrm>
            <a:off x="4899438" y="2036356"/>
            <a:ext cx="547442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B3FA8B-C39D-4661-82D0-B1E929752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960" y="3081685"/>
            <a:ext cx="2483825" cy="27397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4020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13417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콘솔 폰트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General / Appearance / Colors and Fonts / Debug / Console Font / Edit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글꼴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D2Coding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보통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10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C85DA487-2150-490F-8852-CF0A1B7F3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0" y="1421493"/>
            <a:ext cx="5129975" cy="4887232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콘솔 폰트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ko-KR" altLang="en-US" b="1" dirty="0">
                <a:solidFill>
                  <a:srgbClr val="00FFFF"/>
                </a:solidFill>
              </a:rPr>
              <a:t>콘솔</a:t>
            </a:r>
            <a:r>
              <a:rPr lang="ko-KR" altLang="en-US" dirty="0"/>
              <a:t> 코딩에 대한 폰트를 </a:t>
            </a:r>
            <a:r>
              <a:rPr lang="en-US" altLang="ko-KR" dirty="0"/>
              <a:t>‘</a:t>
            </a:r>
            <a:r>
              <a:rPr lang="en-US" altLang="ko-KR" b="1" dirty="0">
                <a:solidFill>
                  <a:srgbClr val="00FFFF"/>
                </a:solidFill>
              </a:rPr>
              <a:t>D2Coding</a:t>
            </a:r>
            <a:r>
              <a:rPr lang="en-US" altLang="ko-KR" dirty="0"/>
              <a:t>’</a:t>
            </a:r>
            <a:r>
              <a:rPr lang="ko-KR" altLang="en-US" dirty="0"/>
              <a:t>으로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679EE5-4459-4872-95D4-939C03E73DB6}"/>
              </a:ext>
            </a:extLst>
          </p:cNvPr>
          <p:cNvSpPr/>
          <p:nvPr/>
        </p:nvSpPr>
        <p:spPr>
          <a:xfrm>
            <a:off x="1568623" y="2210166"/>
            <a:ext cx="1656000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CD10B6-E499-4A5E-8BF6-CC047317E869}"/>
              </a:ext>
            </a:extLst>
          </p:cNvPr>
          <p:cNvSpPr/>
          <p:nvPr/>
        </p:nvSpPr>
        <p:spPr>
          <a:xfrm>
            <a:off x="4899438" y="2036356"/>
            <a:ext cx="547442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61A105D-64D1-41B8-A84D-270B6254A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802" y="2241296"/>
            <a:ext cx="2483824" cy="27397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2627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코딩 자동완성 기능 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 / Preference / JAVA / Editor / Content Assist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Auto Activation delay (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ms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200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Auto Activation triggers for Java : </a:t>
                      </a:r>
                      <a:r>
                        <a:rPr lang="en-US" altLang="ko-KR" sz="105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abcdefghijklmnopqrstuvwxyzABCDEFGHIJKLMNOPQRSTUVWXYZ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코딩 자동완성 기능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코딩 자동 완성 기능을 위하여 이클립스 개발 환경의 </a:t>
            </a:r>
            <a:r>
              <a:rPr lang="ko-KR" altLang="en-US" b="1" dirty="0">
                <a:solidFill>
                  <a:srgbClr val="00FFFF"/>
                </a:solidFill>
              </a:rPr>
              <a:t>자동 완성 기능을 설정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0665523-E5E5-42F3-A5C2-3DA4F5420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1734"/>
            <a:ext cx="6293295" cy="489699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BD10F0-87A5-4C16-B5A6-1D7BD3B80956}"/>
              </a:ext>
            </a:extLst>
          </p:cNvPr>
          <p:cNvSpPr/>
          <p:nvPr/>
        </p:nvSpPr>
        <p:spPr>
          <a:xfrm>
            <a:off x="1784648" y="4706094"/>
            <a:ext cx="3816424" cy="3200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7267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45120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주석 색상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Java / Editor / Syntax Coloring / Javadoc or Comments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HTML markup, links others tags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: Color(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붉은색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Multi-line comment, Single-line comment, Task Tags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Color(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붉은색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italic(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and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Close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XML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주석 색상 변경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XML / XML Files / Editor / Syntax Coloring 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Comment Content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붉은색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or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italic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and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Close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8792B50-CDE5-45DE-A490-5CDF47A9E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1386"/>
            <a:ext cx="4519754" cy="4887340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자바</a:t>
            </a:r>
            <a:r>
              <a:rPr lang="en-US" altLang="ko-KR" dirty="0"/>
              <a:t>/XML</a:t>
            </a:r>
            <a:r>
              <a:rPr lang="ko-KR" altLang="en-US" dirty="0"/>
              <a:t> 주석 폰트 색상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ko-KR" altLang="en-US" b="1" dirty="0">
                <a:solidFill>
                  <a:srgbClr val="00FFFF"/>
                </a:solidFill>
              </a:rPr>
              <a:t>자바 주석</a:t>
            </a:r>
            <a:r>
              <a:rPr lang="ko-KR" altLang="en-US" dirty="0"/>
              <a:t>에 대한 폰트 색상을 </a:t>
            </a:r>
            <a:r>
              <a:rPr lang="en-US" altLang="ko-KR" dirty="0"/>
              <a:t>‘</a:t>
            </a:r>
            <a:r>
              <a:rPr lang="ko-KR" altLang="en-US" dirty="0">
                <a:solidFill>
                  <a:srgbClr val="FF0000"/>
                </a:solidFill>
              </a:rPr>
              <a:t>붉은색</a:t>
            </a:r>
            <a:r>
              <a:rPr lang="en-US" altLang="ko-KR" dirty="0"/>
              <a:t>’</a:t>
            </a:r>
            <a:r>
              <a:rPr lang="ko-KR" altLang="en-US" dirty="0"/>
              <a:t>으로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679EE5-4459-4872-95D4-939C03E73DB6}"/>
              </a:ext>
            </a:extLst>
          </p:cNvPr>
          <p:cNvSpPr/>
          <p:nvPr/>
        </p:nvSpPr>
        <p:spPr>
          <a:xfrm>
            <a:off x="1712640" y="2170069"/>
            <a:ext cx="936104" cy="93727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CD10B6-E499-4A5E-8BF6-CC047317E869}"/>
              </a:ext>
            </a:extLst>
          </p:cNvPr>
          <p:cNvSpPr/>
          <p:nvPr/>
        </p:nvSpPr>
        <p:spPr>
          <a:xfrm>
            <a:off x="568132" y="4516535"/>
            <a:ext cx="575366" cy="1553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6693D8-1AF8-4F06-A7B7-373E06B6E571}"/>
              </a:ext>
            </a:extLst>
          </p:cNvPr>
          <p:cNvSpPr/>
          <p:nvPr/>
        </p:nvSpPr>
        <p:spPr>
          <a:xfrm>
            <a:off x="3007918" y="2167944"/>
            <a:ext cx="648938" cy="6129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717C2A4-DBA4-4E1A-82EA-9D0747070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430" y="2708920"/>
            <a:ext cx="3329058" cy="359980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A1A4257-FF98-4F43-9ACF-4F1F381AD53E}"/>
              </a:ext>
            </a:extLst>
          </p:cNvPr>
          <p:cNvSpPr/>
          <p:nvPr/>
        </p:nvSpPr>
        <p:spPr>
          <a:xfrm>
            <a:off x="5025357" y="3645024"/>
            <a:ext cx="575366" cy="1553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CE33EFB-185F-40C4-A09E-C44AEF5359A6}"/>
              </a:ext>
            </a:extLst>
          </p:cNvPr>
          <p:cNvSpPr/>
          <p:nvPr/>
        </p:nvSpPr>
        <p:spPr>
          <a:xfrm>
            <a:off x="4232920" y="5378898"/>
            <a:ext cx="575366" cy="1553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18D59BB-3D20-48E3-811F-396120FFF875}"/>
              </a:ext>
            </a:extLst>
          </p:cNvPr>
          <p:cNvSpPr/>
          <p:nvPr/>
        </p:nvSpPr>
        <p:spPr>
          <a:xfrm>
            <a:off x="6177088" y="3473723"/>
            <a:ext cx="575366" cy="58906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180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39761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주석 색상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XML (Wild Web Developer)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Download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external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like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referenced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DTD,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XSD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Checked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XML</a:t>
            </a:r>
            <a:r>
              <a:rPr lang="ko-KR" altLang="en-US" dirty="0"/>
              <a:t>의 </a:t>
            </a:r>
            <a:r>
              <a:rPr lang="en-US" altLang="ko-KR" dirty="0"/>
              <a:t>DTD, XSD </a:t>
            </a:r>
            <a:r>
              <a:rPr lang="ko-KR" altLang="en-US" dirty="0"/>
              <a:t>파일 다운로드 설정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XML </a:t>
            </a:r>
            <a:r>
              <a:rPr lang="ko-KR" altLang="en-US" dirty="0"/>
              <a:t>네임스페이스 설정 파일의 </a:t>
            </a:r>
            <a:r>
              <a:rPr lang="en-US" altLang="ko-KR" b="1" dirty="0">
                <a:solidFill>
                  <a:srgbClr val="00FFFF"/>
                </a:solidFill>
              </a:rPr>
              <a:t>DTD, XSD </a:t>
            </a:r>
            <a:r>
              <a:rPr lang="ko-KR" altLang="en-US" b="1" dirty="0">
                <a:solidFill>
                  <a:srgbClr val="00FFFF"/>
                </a:solidFill>
              </a:rPr>
              <a:t>파일 다운로드 설정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E82B3D5-5B25-4E29-8FF8-B34494CC4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47" y="1412874"/>
            <a:ext cx="3661797" cy="489585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010FF1-B7FC-4725-BA90-CAB30196B12B}"/>
              </a:ext>
            </a:extLst>
          </p:cNvPr>
          <p:cNvSpPr/>
          <p:nvPr/>
        </p:nvSpPr>
        <p:spPr>
          <a:xfrm>
            <a:off x="393286" y="5589240"/>
            <a:ext cx="1031321" cy="1679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73C25A-0372-490D-8F58-A363FC0DF493}"/>
              </a:ext>
            </a:extLst>
          </p:cNvPr>
          <p:cNvSpPr/>
          <p:nvPr/>
        </p:nvSpPr>
        <p:spPr>
          <a:xfrm>
            <a:off x="1856656" y="1912882"/>
            <a:ext cx="1872208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953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63077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Tomcat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Tomcat v9.0..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더블클릭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Server Options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Server modules without publishing(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Modules auto reload publishing(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Ctrl + 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Workspace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Refresh using native hooks or polling(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Mapper XML </a:t>
            </a:r>
            <a:r>
              <a:rPr lang="ko-KR" altLang="en-US" dirty="0"/>
              <a:t>자동 반영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쿼리 수정 후 내용 반영을 위하여 아래와 같이 설정을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D5A744-F112-42CA-AB6E-309686DF3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02034"/>
            <a:ext cx="4181475" cy="65722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62A019B-FBE3-4F23-9E34-51AA7CC5C5A3}"/>
              </a:ext>
            </a:extLst>
          </p:cNvPr>
          <p:cNvSpPr/>
          <p:nvPr/>
        </p:nvSpPr>
        <p:spPr>
          <a:xfrm>
            <a:off x="504832" y="1836440"/>
            <a:ext cx="3384000" cy="1987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8264B2B-AFA0-44DE-8A06-C662907EF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2198032"/>
            <a:ext cx="5601072" cy="303116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7110FA3-7D9A-4F29-8139-2F6A3B66B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637" y="2602218"/>
            <a:ext cx="4808851" cy="370650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80E3FD37-4003-4794-92F4-67528D8EC2F9}"/>
              </a:ext>
            </a:extLst>
          </p:cNvPr>
          <p:cNvSpPr/>
          <p:nvPr/>
        </p:nvSpPr>
        <p:spPr>
          <a:xfrm>
            <a:off x="339952" y="4636808"/>
            <a:ext cx="1372688" cy="1679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D225810-68AC-4916-870B-4CA1706D385A}"/>
              </a:ext>
            </a:extLst>
          </p:cNvPr>
          <p:cNvSpPr/>
          <p:nvPr/>
        </p:nvSpPr>
        <p:spPr>
          <a:xfrm>
            <a:off x="3789641" y="3132804"/>
            <a:ext cx="1372688" cy="1679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9175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75405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Tomcat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Java / Code Style / Code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Comments : Types, Methods, Overriding methods, Modules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주석 내용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Edit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Edit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Code Templates </a:t>
            </a:r>
            <a:r>
              <a:rPr lang="ko-KR" altLang="en-US" dirty="0"/>
              <a:t>정의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자바 코딩 시 </a:t>
            </a:r>
            <a:r>
              <a:rPr lang="en-US" altLang="ko-KR" dirty="0"/>
              <a:t>Type, Method, Overriding methods, modules </a:t>
            </a:r>
            <a:r>
              <a:rPr lang="ko-KR" altLang="en-US" dirty="0"/>
              <a:t>관련한 주석을 아래와 같이 설정합니다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F12AD5B-E6D9-4ED2-A63D-1DE9CFA47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397660"/>
            <a:ext cx="4315751" cy="429309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C8EA8CF-550C-4A55-90BC-0C83AAF90709}"/>
              </a:ext>
            </a:extLst>
          </p:cNvPr>
          <p:cNvSpPr/>
          <p:nvPr/>
        </p:nvSpPr>
        <p:spPr>
          <a:xfrm>
            <a:off x="1496616" y="2132856"/>
            <a:ext cx="864096" cy="10081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058E592-B6C2-4A24-898A-753F71AA6ABD}"/>
              </a:ext>
            </a:extLst>
          </p:cNvPr>
          <p:cNvSpPr/>
          <p:nvPr/>
        </p:nvSpPr>
        <p:spPr>
          <a:xfrm>
            <a:off x="4052332" y="1988090"/>
            <a:ext cx="649208" cy="21939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9462B0-0339-4779-8A05-C81FD457F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621" y="2674426"/>
            <a:ext cx="3748643" cy="3140586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2A6E624D-DA15-416E-9A8F-F36342A1AE93}"/>
              </a:ext>
            </a:extLst>
          </p:cNvPr>
          <p:cNvGrpSpPr/>
          <p:nvPr/>
        </p:nvGrpSpPr>
        <p:grpSpPr>
          <a:xfrm>
            <a:off x="2072680" y="4152877"/>
            <a:ext cx="3960440" cy="2147176"/>
            <a:chOff x="2072680" y="4152877"/>
            <a:chExt cx="3960440" cy="2147176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5785DD9-AD61-479B-94E6-2FF3FA6B1989}"/>
                </a:ext>
              </a:extLst>
            </p:cNvPr>
            <p:cNvSpPr/>
            <p:nvPr/>
          </p:nvSpPr>
          <p:spPr>
            <a:xfrm>
              <a:off x="2072680" y="4509120"/>
              <a:ext cx="3960440" cy="179093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package_name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fileName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file_name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파일</a:t>
              </a: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===========================================================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DATE              AUTHOR             NOTE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-----------------------------------------------------------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        Built1            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최초 생성</a:t>
              </a: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2E73404-352A-4672-BCFE-81054219FC69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Type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3076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Tomcat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Java / Code Style / Code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Comments : Types, Methods, Overriding methods, Modules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주석 내용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Edit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Edit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Code Templates </a:t>
            </a:r>
            <a:r>
              <a:rPr lang="ko-KR" altLang="en-US" dirty="0"/>
              <a:t>정의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자바 코딩 시 </a:t>
            </a:r>
            <a:r>
              <a:rPr lang="en-US" altLang="ko-KR" dirty="0"/>
              <a:t>Type, Method, Overriding methods, modules </a:t>
            </a:r>
            <a:r>
              <a:rPr lang="ko-KR" altLang="en-US" dirty="0"/>
              <a:t>관련한 주석을 아래와 같이 설정합니다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A6E624D-DA15-416E-9A8F-F36342A1AE93}"/>
              </a:ext>
            </a:extLst>
          </p:cNvPr>
          <p:cNvGrpSpPr/>
          <p:nvPr/>
        </p:nvGrpSpPr>
        <p:grpSpPr>
          <a:xfrm>
            <a:off x="344488" y="1412875"/>
            <a:ext cx="3456384" cy="1436243"/>
            <a:chOff x="2072680" y="4152877"/>
            <a:chExt cx="3960440" cy="1436243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5785DD9-AD61-479B-94E6-2FF3FA6B1989}"/>
                </a:ext>
              </a:extLst>
            </p:cNvPr>
            <p:cNvSpPr/>
            <p:nvPr/>
          </p:nvSpPr>
          <p:spPr>
            <a:xfrm>
              <a:off x="2072680" y="4509120"/>
              <a:ext cx="3960440" cy="10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methodName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enclosing_method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메소드</a:t>
              </a: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${tags}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*/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2E73404-352A-4672-BCFE-81054219FC69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Methods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E5F709-668E-4CAD-914A-C4AD0940A092}"/>
              </a:ext>
            </a:extLst>
          </p:cNvPr>
          <p:cNvGrpSpPr/>
          <p:nvPr/>
        </p:nvGrpSpPr>
        <p:grpSpPr>
          <a:xfrm>
            <a:off x="344488" y="3000869"/>
            <a:ext cx="3456384" cy="1436243"/>
            <a:chOff x="2072680" y="4152877"/>
            <a:chExt cx="3960440" cy="1436243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CAB45AF-36BE-4364-987B-B789E127E1B1}"/>
                </a:ext>
              </a:extLst>
            </p:cNvPr>
            <p:cNvSpPr/>
            <p:nvPr/>
          </p:nvSpPr>
          <p:spPr>
            <a:xfrm>
              <a:off x="2072680" y="4509120"/>
              <a:ext cx="3960440" cy="10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methodName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enclosing_method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</a:t>
              </a:r>
              <a:r>
                <a:rPr lang="ko-KR" altLang="en-US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상속메소드</a:t>
              </a:r>
              <a:endPara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${tags}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*/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E50D225-1585-4929-8E56-9247DBD991AA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Overriding methods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9A1ECFA-C3E9-486B-9DCC-A3B9D9EBCF34}"/>
              </a:ext>
            </a:extLst>
          </p:cNvPr>
          <p:cNvGrpSpPr/>
          <p:nvPr/>
        </p:nvGrpSpPr>
        <p:grpSpPr>
          <a:xfrm>
            <a:off x="344488" y="4581128"/>
            <a:ext cx="3456384" cy="1436243"/>
            <a:chOff x="2072680" y="4152877"/>
            <a:chExt cx="3960440" cy="1436243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1216E4D-8B6F-4892-8FEB-686766A0C0CF}"/>
                </a:ext>
              </a:extLst>
            </p:cNvPr>
            <p:cNvSpPr/>
            <p:nvPr/>
          </p:nvSpPr>
          <p:spPr>
            <a:xfrm>
              <a:off x="2072680" y="4509120"/>
              <a:ext cx="3960440" cy="10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모듈</a:t>
              </a: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${tags}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*/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3DCD92F-6D5D-4E5E-A1AA-49F711CFAB16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Modules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94C3A5F-8753-4E7A-97F6-40BC96FD2365}"/>
              </a:ext>
            </a:extLst>
          </p:cNvPr>
          <p:cNvGrpSpPr/>
          <p:nvPr/>
        </p:nvGrpSpPr>
        <p:grpSpPr>
          <a:xfrm>
            <a:off x="3872368" y="3000869"/>
            <a:ext cx="3456384" cy="1436243"/>
            <a:chOff x="2072680" y="4152877"/>
            <a:chExt cx="3960440" cy="1436243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9ED9E0B-25C5-4F42-9774-4BB771ABB66D}"/>
                </a:ext>
              </a:extLst>
            </p:cNvPr>
            <p:cNvSpPr/>
            <p:nvPr/>
          </p:nvSpPr>
          <p:spPr>
            <a:xfrm>
              <a:off x="2072680" y="4509120"/>
              <a:ext cx="3960440" cy="10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methodName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enclosing_method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@author         : built1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@date           : ${</a:t>
              </a:r>
              <a:r>
                <a:rPr lang="en-US" altLang="ko-KR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id:date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('YYYY.MM.dd')}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@description    : XXXX 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데이터를 조회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저장하는 </a:t>
              </a:r>
              <a:r>
                <a:rPr lang="ko-KR" altLang="en-US" sz="9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위임메소드</a:t>
              </a:r>
              <a:endPara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ko-KR" altLang="en-US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 </a:t>
              </a:r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${tags}</a:t>
              </a:r>
            </a:p>
            <a:p>
              <a:r>
                <a:rPr lang="en-US" altLang="ko-KR" sz="9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*/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CEEA8C8-6C04-4E64-9812-F3858A0F6DA8}"/>
                </a:ext>
              </a:extLst>
            </p:cNvPr>
            <p:cNvSpPr/>
            <p:nvPr/>
          </p:nvSpPr>
          <p:spPr>
            <a:xfrm>
              <a:off x="2072680" y="4152877"/>
              <a:ext cx="3960440" cy="34624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Comments : Delegate methods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6763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넥사크로 </a:t>
            </a:r>
            <a:r>
              <a:rPr lang="en-US" altLang="ko-KR" dirty="0">
                <a:solidFill>
                  <a:srgbClr val="0000FF"/>
                </a:solidFill>
              </a:rPr>
              <a:t>UI Adapter </a:t>
            </a:r>
            <a:r>
              <a:rPr lang="ko-KR" altLang="en-US" dirty="0">
                <a:solidFill>
                  <a:srgbClr val="0000FF"/>
                </a:solidFill>
              </a:rPr>
              <a:t>설정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21487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16351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X-API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Product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Download /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)Server[API,XENI]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NexacroN_XAPI_JAVA_20250610(2.0.3)_1.zip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 uiadapter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Product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Download /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)Etc.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nexacroN_uiadapter.zip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메이븐에서 설정을 통하여 다운로드 진행 가능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X-API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자바 기반의 원시적인 데이터 조작 라이브러리라면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uiadapter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는 스프링의 기능을 활용해 이를 더 편리하게 사용할 수 있도록 감싼 확장 도구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AC2CB74F-7F44-4723-809D-EE3774DAB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3782636"/>
            <a:ext cx="4952999" cy="2526089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/>
              <a:t>전자정부 프레임워크와 넥사크로 연동을 위한 파일 다운로드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dirty="0"/>
              <a:t>넥사크로 설정을 위하여 </a:t>
            </a:r>
            <a:r>
              <a:rPr lang="en-US" altLang="ko-KR" sz="1200" dirty="0"/>
              <a:t>(</a:t>
            </a:r>
            <a:r>
              <a:rPr lang="en-US" altLang="ko-KR" sz="1200" dirty="0">
                <a:hlinkClick r:id="rId3"/>
              </a:rPr>
              <a:t>https://support.tobesoft.co.kr/Support/?menu=home</a:t>
            </a:r>
            <a:r>
              <a:rPr lang="en-US" altLang="ko-KR" sz="1200" dirty="0"/>
              <a:t>) </a:t>
            </a:r>
            <a:r>
              <a:rPr lang="ko-KR" altLang="en-US" sz="1200" dirty="0"/>
              <a:t>설정 파일을 다운로드합니다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en-US" altLang="ko-KR" sz="1200" b="1" dirty="0">
                <a:solidFill>
                  <a:srgbClr val="00FFFF"/>
                </a:solidFill>
              </a:rPr>
              <a:t>X-API </a:t>
            </a:r>
            <a:r>
              <a:rPr lang="ko-KR" altLang="en-US" sz="1200" b="1" dirty="0">
                <a:solidFill>
                  <a:srgbClr val="00FFFF"/>
                </a:solidFill>
              </a:rPr>
              <a:t>라이브러리</a:t>
            </a:r>
            <a:r>
              <a:rPr lang="en-US" altLang="ko-KR" sz="1200" b="1" dirty="0">
                <a:solidFill>
                  <a:srgbClr val="00FFFF"/>
                </a:solidFill>
              </a:rPr>
              <a:t>: </a:t>
            </a:r>
            <a:r>
              <a:rPr lang="ko-KR" altLang="en-US" sz="1200" b="1" dirty="0">
                <a:solidFill>
                  <a:srgbClr val="00FFFF"/>
                </a:solidFill>
              </a:rPr>
              <a:t>넥사크로 클라이언트와 서버 간의 데이터 통신을 원활하게 도와주는 서버용 자바</a:t>
            </a:r>
            <a:r>
              <a:rPr lang="en-US" altLang="ko-KR" sz="1200" b="1" dirty="0">
                <a:solidFill>
                  <a:srgbClr val="00FFFF"/>
                </a:solidFill>
              </a:rPr>
              <a:t>(Java) </a:t>
            </a:r>
            <a:r>
              <a:rPr lang="ko-KR" altLang="en-US" sz="1200" b="1" dirty="0">
                <a:solidFill>
                  <a:srgbClr val="00FFFF"/>
                </a:solidFill>
              </a:rPr>
              <a:t>라이브러리</a:t>
            </a:r>
            <a:r>
              <a:rPr lang="en-US" altLang="ko-KR" sz="1200" b="1" dirty="0">
                <a:solidFill>
                  <a:srgbClr val="00FFFF"/>
                </a:solidFill>
              </a:rPr>
              <a:t> (</a:t>
            </a:r>
            <a:r>
              <a:rPr lang="ko-KR" altLang="en-US" sz="1200" b="1" dirty="0">
                <a:solidFill>
                  <a:srgbClr val="00FFFF"/>
                </a:solidFill>
              </a:rPr>
              <a:t>단일데이터</a:t>
            </a:r>
            <a:r>
              <a:rPr lang="en-US" altLang="ko-KR" sz="1200" b="1" dirty="0">
                <a:solidFill>
                  <a:srgbClr val="00FFFF"/>
                </a:solidFill>
              </a:rPr>
              <a:t>, 2</a:t>
            </a:r>
            <a:r>
              <a:rPr lang="ko-KR" altLang="en-US" sz="1200" b="1" dirty="0">
                <a:solidFill>
                  <a:srgbClr val="00FFFF"/>
                </a:solidFill>
              </a:rPr>
              <a:t>차원 데이터</a:t>
            </a:r>
            <a:r>
              <a:rPr lang="en-US" altLang="ko-KR" sz="1200" b="1" dirty="0">
                <a:solidFill>
                  <a:srgbClr val="00FFFF"/>
                </a:solidFill>
              </a:rPr>
              <a:t>)</a:t>
            </a:r>
          </a:p>
          <a:p>
            <a:r>
              <a:rPr lang="en-US" altLang="ko-KR" sz="1200" dirty="0"/>
              <a:t> - </a:t>
            </a:r>
            <a:r>
              <a:rPr lang="en-US" altLang="ko-KR" sz="1200" b="1" dirty="0">
                <a:solidFill>
                  <a:srgbClr val="00FFFF"/>
                </a:solidFill>
              </a:rPr>
              <a:t>uiadapter </a:t>
            </a:r>
            <a:r>
              <a:rPr lang="ko-KR" altLang="en-US" sz="1200" b="1" dirty="0">
                <a:solidFill>
                  <a:srgbClr val="00FFFF"/>
                </a:solidFill>
              </a:rPr>
              <a:t>모듈</a:t>
            </a:r>
            <a:r>
              <a:rPr lang="en-US" altLang="ko-KR" sz="1200" b="1" dirty="0">
                <a:solidFill>
                  <a:srgbClr val="00FFFF"/>
                </a:solidFill>
              </a:rPr>
              <a:t>: </a:t>
            </a:r>
            <a:r>
              <a:rPr lang="ko-KR" altLang="en-US" sz="1200" b="1" dirty="0">
                <a:solidFill>
                  <a:srgbClr val="00FFFF"/>
                </a:solidFill>
              </a:rPr>
              <a:t>스프링 프레임워크</a:t>
            </a:r>
            <a:r>
              <a:rPr lang="en-US" altLang="ko-KR" sz="1200" b="1" dirty="0">
                <a:solidFill>
                  <a:srgbClr val="00FFFF"/>
                </a:solidFill>
              </a:rPr>
              <a:t> </a:t>
            </a:r>
            <a:r>
              <a:rPr lang="ko-KR" altLang="en-US" sz="1200" b="1" dirty="0">
                <a:solidFill>
                  <a:srgbClr val="00FFFF"/>
                </a:solidFill>
              </a:rPr>
              <a:t>기반의 서버 환경에서 넥사크로 플랫폼과 서버 간의 데이터 통신 및 변환을 자동화해 주는 연동 모듈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63F714FB-4FB7-41C8-99D8-B076E9B957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58EF5E7-6912-4555-B160-C8EC3FBF6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976" y="3611344"/>
            <a:ext cx="2592512" cy="27148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D4D576-75AB-4B7F-92DB-5E9D407EEA9A}"/>
              </a:ext>
            </a:extLst>
          </p:cNvPr>
          <p:cNvSpPr/>
          <p:nvPr/>
        </p:nvSpPr>
        <p:spPr>
          <a:xfrm>
            <a:off x="848544" y="5134332"/>
            <a:ext cx="2834902" cy="3298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CB685E2-E102-458A-BB68-1690ADF4426D}"/>
              </a:ext>
            </a:extLst>
          </p:cNvPr>
          <p:cNvSpPr/>
          <p:nvPr/>
        </p:nvSpPr>
        <p:spPr>
          <a:xfrm>
            <a:off x="4181894" y="5134332"/>
            <a:ext cx="411066" cy="3298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7FC766B-E357-4C16-BAA5-C7A544F0B01C}"/>
              </a:ext>
            </a:extLst>
          </p:cNvPr>
          <p:cNvSpPr/>
          <p:nvPr/>
        </p:nvSpPr>
        <p:spPr>
          <a:xfrm>
            <a:off x="4831844" y="4608216"/>
            <a:ext cx="1455374" cy="11677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2E7194-6BA9-4745-9654-91147FE69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108" y="1417973"/>
            <a:ext cx="4600891" cy="247297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6F1E782-0B2B-4552-B261-ECFFAC73B0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567" y="2828160"/>
            <a:ext cx="3816425" cy="456824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484D5865-1B90-4007-B3CC-766BEA7707DE}"/>
              </a:ext>
            </a:extLst>
          </p:cNvPr>
          <p:cNvSpPr/>
          <p:nvPr/>
        </p:nvSpPr>
        <p:spPr>
          <a:xfrm>
            <a:off x="992559" y="2735208"/>
            <a:ext cx="3960439" cy="5606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42345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22136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 해제 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lib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복사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압축 파일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NexacroN_XAPI_JAVA_20250610(2.0.3)_1.zip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복사할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. Commons-lang-2.6.jar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. Commons-logging-1.1.1.jar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. Json-simple-1.1.1.jar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. Nexacro-xapi-java-main-2.0.3.jar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lib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폴더에 복사한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jar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붙여넣기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 / src / webapp / WEB-INF / lib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3B505B34-3E0A-4459-B96F-6C4C2D6E6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397660"/>
            <a:ext cx="3912406" cy="246338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E414C28-A449-41D4-B10C-D73C5A09B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273" y="1412876"/>
            <a:ext cx="2990850" cy="48958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X-API </a:t>
            </a:r>
            <a:r>
              <a:rPr lang="ko-KR" altLang="en-US" dirty="0"/>
              <a:t>라이브러리 추가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NexacroN_XAPI_JAVA_20250610(2.0.3)_1.zip </a:t>
            </a:r>
            <a:r>
              <a:rPr lang="ko-KR" altLang="en-US" dirty="0"/>
              <a:t>압축파일을 열어 </a:t>
            </a:r>
            <a:r>
              <a:rPr lang="en-US" altLang="ko-KR" dirty="0"/>
              <a:t>lib </a:t>
            </a:r>
            <a:r>
              <a:rPr lang="ko-KR" altLang="en-US" dirty="0"/>
              <a:t>폴더 아래 </a:t>
            </a:r>
            <a:r>
              <a:rPr lang="en-US" altLang="ko-KR" dirty="0"/>
              <a:t>*.jar </a:t>
            </a:r>
            <a:r>
              <a:rPr lang="ko-KR" altLang="en-US" dirty="0"/>
              <a:t>파일을 </a:t>
            </a:r>
            <a:r>
              <a:rPr lang="en-US" altLang="ko-KR" dirty="0"/>
              <a:t>4</a:t>
            </a:r>
            <a:r>
              <a:rPr lang="ko-KR" altLang="en-US" dirty="0"/>
              <a:t>개를 복사 후 이클립스 </a:t>
            </a:r>
            <a:r>
              <a:rPr lang="en-US" altLang="ko-KR" dirty="0"/>
              <a:t>Package Explorer</a:t>
            </a:r>
            <a:r>
              <a:rPr lang="ko-KR" altLang="en-US" dirty="0"/>
              <a:t>의 </a:t>
            </a:r>
            <a:r>
              <a:rPr lang="en-US" altLang="ko-KR" b="1" dirty="0">
                <a:solidFill>
                  <a:srgbClr val="00FFFF"/>
                </a:solidFill>
              </a:rPr>
              <a:t>lib(nbdf / src / webapp / WEB-INF / lib)</a:t>
            </a:r>
            <a:r>
              <a:rPr lang="ko-KR" altLang="en-US" b="1" dirty="0">
                <a:solidFill>
                  <a:srgbClr val="00FFFF"/>
                </a:solidFill>
              </a:rPr>
              <a:t> 폴더 아래 파일을 붙여넣기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275E75E-C500-4957-BDFA-680C507B8F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BA89FE-4BEB-4BD0-8CB0-D738335F6357}"/>
              </a:ext>
            </a:extLst>
          </p:cNvPr>
          <p:cNvSpPr/>
          <p:nvPr/>
        </p:nvSpPr>
        <p:spPr>
          <a:xfrm>
            <a:off x="1208584" y="2636602"/>
            <a:ext cx="3048310" cy="57637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ED120BA-C458-44D5-B709-06F2BA929208}"/>
              </a:ext>
            </a:extLst>
          </p:cNvPr>
          <p:cNvSpPr/>
          <p:nvPr/>
        </p:nvSpPr>
        <p:spPr>
          <a:xfrm>
            <a:off x="5025008" y="4755302"/>
            <a:ext cx="2252092" cy="79967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66830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68102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Project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Explorer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lib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폴더에서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Configure Build Path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lib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폴더에서 오른쪽 팝업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Build Path / Configure Build Path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Java Build Path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라이브러리 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Libraries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JARs..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버튼을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 Lib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폴더 아래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파일을 선택 후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OK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X-API </a:t>
            </a:r>
            <a:r>
              <a:rPr lang="ko-KR" altLang="en-US" dirty="0"/>
              <a:t>라이브러리 추가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X-API</a:t>
            </a:r>
            <a:r>
              <a:rPr lang="ko-KR" altLang="en-US" dirty="0"/>
              <a:t>의</a:t>
            </a:r>
            <a:r>
              <a:rPr lang="en-US" altLang="ko-KR" dirty="0"/>
              <a:t> 4</a:t>
            </a:r>
            <a:r>
              <a:rPr lang="ko-KR" altLang="en-US" dirty="0"/>
              <a:t>개 </a:t>
            </a:r>
            <a:r>
              <a:rPr lang="en-US" altLang="ko-KR" dirty="0"/>
              <a:t>jar</a:t>
            </a:r>
            <a:r>
              <a:rPr lang="ko-KR" altLang="en-US" dirty="0"/>
              <a:t>파일에 대하여 </a:t>
            </a:r>
            <a:r>
              <a:rPr lang="en-US" altLang="ko-KR" b="1" dirty="0">
                <a:solidFill>
                  <a:srgbClr val="00FFFF"/>
                </a:solidFill>
              </a:rPr>
              <a:t>Java Build Path</a:t>
            </a:r>
            <a:r>
              <a:rPr lang="ko-KR" altLang="en-US" b="1" dirty="0">
                <a:solidFill>
                  <a:srgbClr val="00FFFF"/>
                </a:solidFill>
              </a:rPr>
              <a:t>의</a:t>
            </a:r>
            <a:r>
              <a:rPr lang="en-US" altLang="ko-KR" b="1" dirty="0">
                <a:solidFill>
                  <a:srgbClr val="00FFFF"/>
                </a:solidFill>
              </a:rPr>
              <a:t> </a:t>
            </a:r>
            <a:r>
              <a:rPr lang="ko-KR" altLang="en-US" b="1" dirty="0">
                <a:solidFill>
                  <a:srgbClr val="00FFFF"/>
                </a:solidFill>
              </a:rPr>
              <a:t>라이브러리에 </a:t>
            </a:r>
            <a:r>
              <a:rPr lang="en-US" altLang="ko-KR" b="1" dirty="0">
                <a:solidFill>
                  <a:srgbClr val="00FFFF"/>
                </a:solidFill>
              </a:rPr>
              <a:t>jar</a:t>
            </a:r>
            <a:r>
              <a:rPr lang="ko-KR" altLang="en-US" b="1" dirty="0">
                <a:solidFill>
                  <a:srgbClr val="00FFFF"/>
                </a:solidFill>
              </a:rPr>
              <a:t>파일을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AB0627A9-F729-4E73-AE81-756ADA5ECD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D15F6B-B2C4-45F1-BF00-F348EE303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605" y="1418771"/>
            <a:ext cx="3613883" cy="2586293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FABE0C-DDBC-4331-BF8B-79B17EC4F628}"/>
              </a:ext>
            </a:extLst>
          </p:cNvPr>
          <p:cNvSpPr/>
          <p:nvPr/>
        </p:nvSpPr>
        <p:spPr>
          <a:xfrm>
            <a:off x="4441324" y="1532776"/>
            <a:ext cx="2203316" cy="53569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24FE04-D978-4B4D-A99A-E2F7FFBB0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08" y="1420396"/>
            <a:ext cx="3251408" cy="257207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B59F80-4FCF-48C8-91FB-95F05523DA9E}"/>
              </a:ext>
            </a:extLst>
          </p:cNvPr>
          <p:cNvSpPr/>
          <p:nvPr/>
        </p:nvSpPr>
        <p:spPr>
          <a:xfrm>
            <a:off x="2600186" y="3816047"/>
            <a:ext cx="932928" cy="18901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96C8160-9DC0-4DE7-9535-103E2A579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587" y="2139329"/>
            <a:ext cx="2837646" cy="41693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6F11977-254F-426F-A4E3-75DD04F19092}"/>
              </a:ext>
            </a:extLst>
          </p:cNvPr>
          <p:cNvSpPr/>
          <p:nvPr/>
        </p:nvSpPr>
        <p:spPr>
          <a:xfrm>
            <a:off x="5263356" y="4370394"/>
            <a:ext cx="1579289" cy="5017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7746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Java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Build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Path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라이브러리에 추가된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확인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Package Explorer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Referenced Libraries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 없이 루트에도 생성됨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생성되고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7. X-API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라이브러리 추가에 따라 서버 종료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91BF2998-0D66-4DE1-BFDA-0B2D66B58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28" y="1418769"/>
            <a:ext cx="5425012" cy="3882437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X-API </a:t>
            </a:r>
            <a:r>
              <a:rPr lang="ko-KR" altLang="en-US" dirty="0"/>
              <a:t>라이브러리 추가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/>
              <a:t>추가된 </a:t>
            </a:r>
            <a:r>
              <a:rPr lang="en-US" altLang="ko-KR"/>
              <a:t>4</a:t>
            </a:r>
            <a:r>
              <a:rPr lang="ko-KR" altLang="en-US"/>
              <a:t>개의 </a:t>
            </a:r>
            <a:r>
              <a:rPr lang="en-US" altLang="ko-KR"/>
              <a:t>jar</a:t>
            </a:r>
            <a:r>
              <a:rPr lang="ko-KR" altLang="en-US"/>
              <a:t>파일을 확인 후 적용</a:t>
            </a:r>
            <a:r>
              <a:rPr lang="en-US" altLang="ko-KR"/>
              <a:t>(Apply and Close) </a:t>
            </a:r>
            <a:r>
              <a:rPr lang="ko-KR" altLang="en-US"/>
              <a:t>버튼을 클릭합니다</a:t>
            </a:r>
            <a:r>
              <a:rPr lang="en-US" altLang="ko-KR"/>
              <a:t>.</a:t>
            </a:r>
          </a:p>
          <a:p>
            <a:r>
              <a:rPr lang="ko-KR" altLang="en-US"/>
              <a:t>또한</a:t>
            </a:r>
            <a:r>
              <a:rPr lang="en-US" altLang="ko-KR"/>
              <a:t>, X-API</a:t>
            </a:r>
            <a:r>
              <a:rPr lang="ko-KR" altLang="en-US"/>
              <a:t> 라이브러리 추가에 따라 서버를 종료합니다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BE4FF41-FF6E-43FC-8BD1-5920B045C7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3A2434-909A-4D86-8186-2E1A883DFB78}"/>
              </a:ext>
            </a:extLst>
          </p:cNvPr>
          <p:cNvSpPr/>
          <p:nvPr/>
        </p:nvSpPr>
        <p:spPr>
          <a:xfrm>
            <a:off x="1928664" y="2258303"/>
            <a:ext cx="2376264" cy="5225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6649F1-7690-48B6-B477-74C32B750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712" y="5310686"/>
            <a:ext cx="4191000" cy="89535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E312D6-C012-41AB-9479-027D26917956}"/>
              </a:ext>
            </a:extLst>
          </p:cNvPr>
          <p:cNvSpPr/>
          <p:nvPr/>
        </p:nvSpPr>
        <p:spPr>
          <a:xfrm>
            <a:off x="5362207" y="5341746"/>
            <a:ext cx="271338" cy="29661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38F501-D765-4FF3-B537-552A5B99A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618" y="3222625"/>
            <a:ext cx="2990850" cy="30861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52B9C8-741D-4CDF-A25B-06A2A671F7E8}"/>
              </a:ext>
            </a:extLst>
          </p:cNvPr>
          <p:cNvSpPr/>
          <p:nvPr/>
        </p:nvSpPr>
        <p:spPr>
          <a:xfrm>
            <a:off x="5961112" y="4745834"/>
            <a:ext cx="2736304" cy="8877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992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68075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pom.xml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파일을 오픈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Repository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Dependency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(Ctrl + S)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6D37B868-950D-44B9-AD73-0DE08CC6A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6"/>
            <a:ext cx="5400031" cy="2792288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추가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“Ⅱ. </a:t>
            </a:r>
            <a:r>
              <a:rPr lang="ko-KR" altLang="en-US" b="1" dirty="0">
                <a:solidFill>
                  <a:srgbClr val="00FFFF"/>
                </a:solidFill>
              </a:rPr>
              <a:t>넥사크로 전자정부 연동 </a:t>
            </a:r>
            <a:r>
              <a:rPr lang="en-US" altLang="ko-KR" b="1" dirty="0">
                <a:solidFill>
                  <a:srgbClr val="00FFFF"/>
                </a:solidFill>
              </a:rPr>
              <a:t>– ERP </a:t>
            </a:r>
            <a:r>
              <a:rPr lang="ko-KR" altLang="en-US" b="1" dirty="0">
                <a:solidFill>
                  <a:srgbClr val="00FFFF"/>
                </a:solidFill>
              </a:rPr>
              <a:t>프로젝트 환경 전환</a:t>
            </a:r>
            <a:r>
              <a:rPr lang="en-US" altLang="ko-KR" b="1" dirty="0">
                <a:solidFill>
                  <a:srgbClr val="00FFFF"/>
                </a:solidFill>
              </a:rPr>
              <a:t>”</a:t>
            </a:r>
            <a:r>
              <a:rPr lang="ko-KR" altLang="en-US" b="1" dirty="0">
                <a:solidFill>
                  <a:srgbClr val="00FFFF"/>
                </a:solidFill>
              </a:rPr>
              <a:t> 진행 후 아래 작업을 진행합니다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Uiadapter </a:t>
            </a:r>
            <a:r>
              <a:rPr lang="ko-KR" altLang="en-US" b="1" dirty="0">
                <a:solidFill>
                  <a:srgbClr val="00FFFF"/>
                </a:solidFill>
              </a:rPr>
              <a:t>모듈은 </a:t>
            </a:r>
            <a:r>
              <a:rPr lang="en-US" altLang="ko-KR" b="1" dirty="0">
                <a:solidFill>
                  <a:srgbClr val="00FFFF"/>
                </a:solidFill>
              </a:rPr>
              <a:t>Maven</a:t>
            </a:r>
            <a:r>
              <a:rPr lang="ko-KR" altLang="en-US" dirty="0"/>
              <a:t> 통하여 설정을 추가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668CB188-65A7-42C4-B7D8-616FCB5ACD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3A2434-909A-4D86-8186-2E1A883DFB78}"/>
              </a:ext>
            </a:extLst>
          </p:cNvPr>
          <p:cNvSpPr/>
          <p:nvPr/>
        </p:nvSpPr>
        <p:spPr>
          <a:xfrm>
            <a:off x="440988" y="3897254"/>
            <a:ext cx="559736" cy="2273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2C48E8-9D78-4C54-91D9-196B0E41C5E4}"/>
              </a:ext>
            </a:extLst>
          </p:cNvPr>
          <p:cNvSpPr/>
          <p:nvPr/>
        </p:nvSpPr>
        <p:spPr>
          <a:xfrm>
            <a:off x="2270731" y="3356992"/>
            <a:ext cx="3563769" cy="73390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56FCBB-9AD5-4CE9-91DA-9EE7A4B814FE}"/>
              </a:ext>
            </a:extLst>
          </p:cNvPr>
          <p:cNvSpPr/>
          <p:nvPr/>
        </p:nvSpPr>
        <p:spPr>
          <a:xfrm>
            <a:off x="5889104" y="2435746"/>
            <a:ext cx="3743846" cy="10217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&lt;!-- 2026.05.01 ::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 라이브러리 저장소 추가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tobesoft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&gt;https://mangosteen.tobesoft.co.kr/nexus/repository/maven-public/&lt;/url&gt;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&lt;/repository&gt;</a:t>
            </a:r>
            <a:endParaRPr lang="ko-KR" altLang="en-US" sz="900" spc="-100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44C83EF-F607-4ABE-971D-9A3235DBB4F6}"/>
              </a:ext>
            </a:extLst>
          </p:cNvPr>
          <p:cNvSpPr/>
          <p:nvPr/>
        </p:nvSpPr>
        <p:spPr>
          <a:xfrm>
            <a:off x="5889104" y="3561232"/>
            <a:ext cx="3743846" cy="32967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&lt;!--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2026.05.01 ::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uiadapter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라이브러리 추가</a:t>
            </a:r>
          </a:p>
          <a:p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uiadapter-core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uiadapter-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dataaccess</a:t>
            </a:r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uiadapter-excel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&gt;uiadapter-spring-core&lt;/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&lt;version&gt;1.4.17-SNAPSHOT&lt;/version&gt;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&gt;uiadapter-spring-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dataaccess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&lt;version&gt;1.4.14-SNAPSHOT&lt;/version&gt;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&gt;uiadapter-spring-excel&lt;/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&lt;version&gt;1.5.4-SNAPSHOT&lt;/version&gt;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&lt;/dependency&gt;</a:t>
            </a:r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99A8951-333D-4A37-B3F4-BC6D9647D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258" y="4224508"/>
            <a:ext cx="3743846" cy="208421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F9A45E-BDE5-4FD3-9781-D2C8B943A37F}"/>
              </a:ext>
            </a:extLst>
          </p:cNvPr>
          <p:cNvSpPr/>
          <p:nvPr/>
        </p:nvSpPr>
        <p:spPr>
          <a:xfrm>
            <a:off x="2270730" y="4205161"/>
            <a:ext cx="3563769" cy="212290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7905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추가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pom.xml </a:t>
            </a:r>
            <a:r>
              <a:rPr lang="ko-KR" altLang="en-US" dirty="0"/>
              <a:t>전체 소스는 아래와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668CB188-65A7-42C4-B7D8-616FCB5ACD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44C83EF-F607-4ABE-971D-9A3235DBB4F6}"/>
              </a:ext>
            </a:extLst>
          </p:cNvPr>
          <p:cNvSpPr/>
          <p:nvPr/>
        </p:nvSpPr>
        <p:spPr>
          <a:xfrm>
            <a:off x="344487" y="1412874"/>
            <a:ext cx="9289031" cy="388122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&lt;project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="http://maven.apache.org/POM/4.0.0"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="http://maven.apache.org/POM/4.0.0 http://maven.apache.org/maven-v4_0_0.xsd"&gt;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modelVersion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&gt;4.0.0&lt;/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modelVersion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&gt;com.nbdf&lt;/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&gt;nbdf&lt;/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&lt;packaging&gt;war&lt;/packaging&gt;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&lt;version&gt;1.0.0&lt;/version&gt;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&lt;name&gt;nbdf&lt;/name&gt;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&gt;http://www.egovframe.go.kr&lt;/url&gt;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&lt;licenses&gt;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&lt;license&gt;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&lt;name&gt;The Apache Software License, Version 2.0&lt;/name&gt;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&gt;http://www.apache.org/licenses/LICENSE-2.0.txt&lt;/url&gt;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&lt;/license&gt;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&lt;/licenses&gt;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&lt;properties&gt;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spring.maven.artifact.version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&gt;5.3.37&lt;/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spring.maven.artifact.version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&gt;4.3.0&lt;/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&lt;/properties&gt;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&lt;repositories&gt;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&lt;id&gt;mvn2s&lt;/id&gt;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&gt;https://repo1.maven.org/maven2/&lt;/url&gt;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&gt;https://maven.egovframe.go.kr/maven/&lt;/url&gt;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&lt;enabled&gt;false&lt;/enabled&gt;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projectRepository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&lt;name&gt;Project Repository&lt;/name&gt;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&gt;file://${project.basedir}/src/main/webapp/WEB-INF/lib&lt;/url&gt;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라이브러리 저장소 추가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tobesoft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&gt;https://mangosteen.tobesoft.co.kr/nexus/repository/maven-public/&lt;/url&gt;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&lt;/repositories&gt;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&lt;dependencies&gt;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표준프레임워크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실행환경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org.egovframe.rte.ptl.mvc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&lt;exclusions&gt;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&lt;exclusion&gt;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&gt;commons-logging&lt;/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&gt;commons-logging&lt;/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&lt;/exclusion&gt;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&lt;/exclusions&gt;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org.egovframe.rte.fdl.idgnr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org.egovframe.rte.fdl.property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javax.servlet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javax.servlet-api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&lt;version&gt;4.0.1&lt;/version&gt;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&lt;scope&gt;provided&lt;/scope&gt;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javax.servlet.jsp.jstl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jstl-api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&lt;version&gt;1.2&lt;/version&gt;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org.apache.taglibs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taglibs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-standard-impl&lt;/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&lt;version&gt;1.2.5&lt;/version&gt;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org.antlr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antlr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&lt;version&gt;3.5&lt;/version&gt;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org.hsqldb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hsqldb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&lt;version&gt;2.7.3&lt;/version&gt;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&lt;classifier&gt;jdk8&lt;/classifier&gt;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org.eclipse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yasson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&lt;version&gt;1.0.2&lt;/version&gt;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org.glassfish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javax.json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&lt;version&gt;1.1.4&lt;/version&gt;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https://mvnrepository.com/artifact/org.junit.jupiter/junit-jupiter-api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org.junit.jupiter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junit-jupiter-api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&lt;version&gt;5.11.0&lt;/version&gt;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&lt;scope&gt;test&lt;/scope&gt;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https://mvnrepository.com/artifact/org.projectlombok/lombok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org.projectlombok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lombok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&lt;version&gt;1.18.34&lt;/version&gt;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&lt;scope&gt;provided&lt;/scope&gt;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https://mvnrepository.com/artifact/org.seleniumhq.selenium/selenium-java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org.seleniumhq.selenium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&gt;selenium-java&lt;/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&lt;version&gt;4.13.0&lt;/version&gt;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&lt;scope&gt;test&lt;/scope&gt;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https://mvnrepository.com/artifact/org.springframework/spring-test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&gt;spring-test&lt;/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spring.maven.artifact.version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&lt;scope&gt;test&lt;/scope&gt;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라이브러리 추가</a:t>
            </a:r>
          </a:p>
          <a:p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uiadapter-core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uiadapter-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dataaccess</a:t>
            </a:r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uiadapter-excel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&gt;uiadapter-spring-core&lt;/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&lt;version&gt;1.4.17-SNAPSHOT&lt;/version&gt;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&gt;uiadapter-spring-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dataaccess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&lt;version&gt;1.4.14-SNAPSHOT&lt;/version&gt;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&gt;uiadapter-spring-excel&lt;/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&lt;version&gt;1.5.4-SNAPSHOT&lt;/version&gt;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오라클 접속을 위한 라이브러리 추가</a:t>
            </a:r>
          </a:p>
          <a:p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ojdbc8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commons-dbcp2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mybatis-spring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Oracle JDBC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com.oracle.database.jdbc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&gt;ojdbc8&lt;/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&lt;version&gt;19.18.0.0&lt;/version&gt;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DBCP2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커넥션풀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org.apache.commons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&gt;commons-dbcp2&lt;/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&lt;version&gt;2.9.0&lt;/version&gt;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&lt;version&gt;3.5.13&lt;/version&gt;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Spring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&gt;mybatis-spring&lt;/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&lt;version&gt;2.1.1&lt;/version&gt;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&lt;/dependencies&gt;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&lt;build&gt;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defaultGoal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&gt;install&lt;/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defaultGoal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&lt;directory&gt;${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basedir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}/target&lt;/directory&gt;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finalName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}-${version}&lt;/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finalName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pluginManagement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&gt;maven-compiler-plugin&lt;/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&lt;version&gt;3.13.0&lt;/version&gt;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&lt;source&gt;1.8&lt;/source&gt;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&lt;target&gt;1.8&lt;/target&gt;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&lt;encoding&gt;UTF-8&lt;/encoding&gt;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&lt;/configuration&gt;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&gt;maven-war-plugin&lt;/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&lt;version&gt;3.4.0&lt;/version&gt;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failOnMissingWebXml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&gt;false&lt;/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failOnMissingWebXml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&lt;/configuration&gt;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&lt;!-- PMD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manven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plugin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pmd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&lt;version&gt;3.23.0&lt;/version&gt;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pluginManagement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&lt;!-- maven-surefire-plugin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&gt;maven-surefire-plugin&lt;/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&lt;version&gt;3.3.0&lt;/version&gt;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&lt;includes&gt;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&lt;include&gt;**/*Test.java&lt;/include&gt;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&lt;/includes&gt;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&lt;parallel&gt;methods&lt;/parallel&gt;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threadCount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&gt;2&lt;/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threadCount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systemPropertyVariables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propertyName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propertyValue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propertyName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systemPropertyVariables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&lt;!--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JavaDoc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javadoc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&lt;version&gt;3.7.0&lt;/version&gt;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&lt;/build&gt;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&lt;/project&gt;</a:t>
            </a:r>
          </a:p>
        </p:txBody>
      </p:sp>
    </p:spTree>
    <p:extLst>
      <p:ext uri="{BB962C8B-B14F-4D97-AF65-F5344CB8AC3E}">
        <p14:creationId xmlns:p14="http://schemas.microsoft.com/office/powerpoint/2010/main" val="41213850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57013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Maven update project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Project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Maven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Update Maven Project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버튼을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 모듈은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 / Maven Dependencies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 아래에서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46563BF7-72CC-49BC-912B-612FD8909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61" y="1445270"/>
            <a:ext cx="3736010" cy="3037238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추가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Repository and Dependency</a:t>
            </a:r>
            <a:r>
              <a:rPr lang="ko-KR" altLang="en-US" dirty="0"/>
              <a:t> 모듈 추가에 따른 </a:t>
            </a:r>
            <a:r>
              <a:rPr lang="en-US" altLang="ko-KR" b="1" dirty="0">
                <a:solidFill>
                  <a:srgbClr val="00FFFF"/>
                </a:solidFill>
              </a:rPr>
              <a:t>Maven update project</a:t>
            </a:r>
            <a:r>
              <a:rPr lang="ko-KR" altLang="en-US" dirty="0"/>
              <a:t>를 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6109888-DE6F-484E-A75B-6DF24D9D8D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CBCD7A-F146-4CF9-BD21-0870C3FF0C89}"/>
              </a:ext>
            </a:extLst>
          </p:cNvPr>
          <p:cNvSpPr/>
          <p:nvPr/>
        </p:nvSpPr>
        <p:spPr>
          <a:xfrm>
            <a:off x="2372133" y="3397455"/>
            <a:ext cx="1572755" cy="19188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792CA53-7C30-48C6-8B58-82870615F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888" y="1742269"/>
            <a:ext cx="2655635" cy="343071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DAC197-6B7B-4EAE-8A6D-75639CA62104}"/>
              </a:ext>
            </a:extLst>
          </p:cNvPr>
          <p:cNvSpPr/>
          <p:nvPr/>
        </p:nvSpPr>
        <p:spPr>
          <a:xfrm>
            <a:off x="488504" y="3284984"/>
            <a:ext cx="1572755" cy="19188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4187F3-D1A1-4C06-A468-E01675D00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91" y="5344882"/>
            <a:ext cx="8010525" cy="5334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48DB87-616D-4B89-9FC3-68038FA1ADC2}"/>
              </a:ext>
            </a:extLst>
          </p:cNvPr>
          <p:cNvSpPr/>
          <p:nvPr/>
        </p:nvSpPr>
        <p:spPr>
          <a:xfrm>
            <a:off x="344488" y="5329237"/>
            <a:ext cx="8002428" cy="5480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1948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네임 스페이스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webapp / WEB-INF / config / egovframework / springmvc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dispatcher-servlet.xml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등록된 내용을 복사 후 부분적으로 붙여넣기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642E7293-0A4E-4EFF-9CED-47F08112E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28" y="1416140"/>
            <a:ext cx="6947852" cy="3903736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</a:t>
            </a:r>
            <a:r>
              <a:rPr lang="ko-KR" altLang="en-US" dirty="0"/>
              <a:t>객체 추가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uiadapter </a:t>
            </a:r>
            <a:r>
              <a:rPr lang="ko-KR" altLang="en-US" dirty="0"/>
              <a:t>설정은 </a:t>
            </a:r>
            <a:r>
              <a:rPr lang="en-US" altLang="ko-KR" b="1" dirty="0">
                <a:solidFill>
                  <a:srgbClr val="00FFFF"/>
                </a:solidFill>
              </a:rPr>
              <a:t>dispatcher-servlet.xml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en-US" altLang="ko-KR" dirty="0"/>
              <a:t>(</a:t>
            </a:r>
            <a:r>
              <a:rPr lang="ko-KR" altLang="en-US" dirty="0"/>
              <a:t>단축키</a:t>
            </a:r>
            <a:r>
              <a:rPr lang="en-US" altLang="ko-KR" dirty="0"/>
              <a:t>: Ctlr + Shift + R)</a:t>
            </a:r>
            <a:r>
              <a:rPr lang="ko-KR" altLang="en-US" dirty="0"/>
              <a:t>파일을 조회 후 아래와 </a:t>
            </a:r>
            <a:r>
              <a:rPr lang="ko-KR" altLang="en-US" b="1" dirty="0">
                <a:solidFill>
                  <a:srgbClr val="00FFFF"/>
                </a:solidFill>
              </a:rPr>
              <a:t>네임 스페이스를 수정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참고 </a:t>
            </a:r>
            <a:r>
              <a:rPr lang="en-US" altLang="ko-KR" dirty="0"/>
              <a:t>URL: https://docs.tobesoft.com/edu-nexacro-egov/64758130f0590a7b#017677f6a3f2a602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64963A0-9A34-445D-83D2-C90426040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87C7A1-A9C1-485D-B4DB-FB30CE939CFB}"/>
              </a:ext>
            </a:extLst>
          </p:cNvPr>
          <p:cNvSpPr/>
          <p:nvPr/>
        </p:nvSpPr>
        <p:spPr>
          <a:xfrm>
            <a:off x="953794" y="4638406"/>
            <a:ext cx="815232" cy="15874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713B3F-26F4-415F-88C5-DA270B1C25F3}"/>
              </a:ext>
            </a:extLst>
          </p:cNvPr>
          <p:cNvSpPr/>
          <p:nvPr/>
        </p:nvSpPr>
        <p:spPr>
          <a:xfrm>
            <a:off x="2000672" y="4068783"/>
            <a:ext cx="7632278" cy="22399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xmlns:util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="http://www.springframework.org/schema/util"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xmlns:mvc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="http://www.springframework.org/schema/mvc"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http://www.springframework.org/schema/context http://www.springframework.org/schema/context/spring-context-4.0.xsd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http://www.springframework.org/schema/mvc http://www.springframework.org/schema/mvc/spring-mvc-4.0.xsd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http://www.springframework.org/schema/util http://www.springframework.org/schema/util/spring-util-4.0.xsd"&gt;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설정정보 조회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네임스페이스 수정 및 넥사크로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URL : https://docs.tobesoft.com/edu-nexacro-egov/64758130f0590a7b#94d524a362526e8e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  <a:endParaRPr lang="ko-KR" altLang="en-US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50FEA55-864A-436B-AA1A-59347B68034C}"/>
              </a:ext>
            </a:extLst>
          </p:cNvPr>
          <p:cNvSpPr/>
          <p:nvPr/>
        </p:nvSpPr>
        <p:spPr>
          <a:xfrm>
            <a:off x="2000672" y="2125236"/>
            <a:ext cx="5328816" cy="115974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18558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uiadapter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dispatcher-servlet.xml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	‘&lt;!-- /For Pagination Tag --&gt;’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라인 좌측 스크립트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전자정부와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플랫폼간 데이터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송수신하기 위한 모듈 스크립트를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스크립트 내용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데이터 전달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PlatformXml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nexacroInterceptor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클라이언트로부터 전송된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 데이터를 서버에서 처리하기 쉬운 형태인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PlatformData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객체로 변환하는 역할을 수행하는 객체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요청이 컨트롤러에 도달하기 전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요청 여부를 판단하고 필요한 환경 설정을 수행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nexacroFileView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서버에 저장된 파일을 넥사크로 클라이언트로 전송할 때 사용하는 객체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nexacroView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PlatformData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객체나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NexacroResult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 담긴 데이터를 넥사크로 클라이언트가 이해할 수 있는 프로토콜로 변환하는 객체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</a:t>
            </a:r>
            <a:r>
              <a:rPr lang="ko-KR" altLang="en-US" dirty="0"/>
              <a:t>객체 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dispatcher-servlet.xml</a:t>
            </a:r>
            <a:r>
              <a:rPr lang="ko-KR" altLang="en-US" dirty="0"/>
              <a:t> 파일 내 </a:t>
            </a:r>
            <a:r>
              <a:rPr lang="en-US" altLang="ko-KR" b="1" dirty="0">
                <a:solidFill>
                  <a:srgbClr val="00FFFF"/>
                </a:solidFill>
              </a:rPr>
              <a:t>uiadapter </a:t>
            </a:r>
            <a:r>
              <a:rPr lang="ko-KR" altLang="en-US" b="1" dirty="0">
                <a:solidFill>
                  <a:srgbClr val="00FFFF"/>
                </a:solidFill>
              </a:rPr>
              <a:t>스크립트를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참고 </a:t>
            </a:r>
            <a:r>
              <a:rPr lang="en-US" altLang="ko-KR" dirty="0"/>
              <a:t>URL: https://docs.tobesoft.com/edu-nexacro-egov/64758130f0590a7b#017677f6a3f2a602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8DC1CB3-BADA-4B41-B5FC-7933E4F0CA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713B3F-26F4-415F-88C5-DA270B1C25F3}"/>
              </a:ext>
            </a:extLst>
          </p:cNvPr>
          <p:cNvSpPr/>
          <p:nvPr/>
        </p:nvSpPr>
        <p:spPr>
          <a:xfrm>
            <a:off x="344488" y="1412776"/>
            <a:ext cx="6985000" cy="48959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&lt;!-- ///////////////////////////////////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시작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///////////////////////////////////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com.nexacro.uiadapter.spring.core.servlet.NexacroInterceptor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defaultContentType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PlatformJson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defaultCharset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value="UTF-8"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all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사용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들어오는 값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적용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 \n \t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도 제거됨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EtcProperty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RequestMappingHandlerAdapter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구현체 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class="com.nexacro.uiadapter.spring.core.resolve.NexacroRequestMappingHandlerAdapter" p:order="0"&gt;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customArgumentResolvers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&lt;list&gt;&lt;bean class="com.nexacro.uiadapter.spring.core.resolve.NexacroMethodArgumentResolver" /&gt;&lt;/list&gt;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customReturnValueHandlers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&lt;bean class="com.nexacro.uiadapter.spring.core.resolve.NexacroHandlerMethodReturnValueHandler"&gt;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name="view"    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EXCEPTION-RESOLVER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exceptionResolver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class="com.nexacro.uiadapter.spring.core.resolve.NexacroMappingExceptionResolver" p:order="1"&gt;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name="view"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shouldLogStackTrace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false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경우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nexacroN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전송되는 에러메시지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value="An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Occured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check the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ErrorCode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for detail of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infomation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value="fail.common.msg"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  <a:endParaRPr lang="ko-KR" altLang="en-US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18305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 소스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dispatcher-servlet.xml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소스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dispatcher-servlet.xml</a:t>
            </a:r>
            <a:r>
              <a:rPr lang="ko-KR" altLang="en-US" dirty="0"/>
              <a:t> 전체 소스입니다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b="1" dirty="0">
                <a:solidFill>
                  <a:srgbClr val="00FFFF"/>
                </a:solidFill>
              </a:rPr>
              <a:t>uiadapter </a:t>
            </a:r>
            <a:r>
              <a:rPr lang="ko-KR" altLang="en-US" b="1" dirty="0">
                <a:solidFill>
                  <a:srgbClr val="00FFFF"/>
                </a:solidFill>
              </a:rPr>
              <a:t>스크립트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7C14BEC-4DE2-4C62-9D6B-F46539C717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713B3F-26F4-415F-88C5-DA270B1C25F3}"/>
              </a:ext>
            </a:extLst>
          </p:cNvPr>
          <p:cNvSpPr/>
          <p:nvPr/>
        </p:nvSpPr>
        <p:spPr>
          <a:xfrm>
            <a:off x="344488" y="1412776"/>
            <a:ext cx="6985000" cy="141135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xmlns:util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="http://www.springframework.org/schema/util"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xmlns:mvc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="http://www.springframework.org/schema/mvc"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http://www.springframework.org/schema/context http://www.springframework.org/schema/context/spring-context-4.0.xsd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http://www.springframework.org/schema/mvc http://www.springframework.org/schema/mvc/spring-mvc-4.0.xsd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http://www.springframework.org/schema/util http://www.springframework.org/schema/util/spring-util-4.0.xsd"&gt;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설정정보 조회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네임스페이스 수정 및 넥사크로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URL : https://docs.tobesoft.com/edu-nexacro-egov/64758130f0590a7b#94d524a362526e8e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base-package="egovframework"&gt;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context:include-filter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expression="org.springframework.stereotype.Controller"/&gt;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org.springframework.stereotype.Repository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class="org.springframework.web.servlet.mvc.method.annotation.RequestMappingHandlerAdapter"&gt;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webBindingInitializer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&lt;bean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egovframework.example.cmmn.web.EgovBindingInitializer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class="org.springframework.web.servlet.mvc.method.annotation.RequestMappingHandlerMapping"&gt;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name="interceptors"&gt;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localeChangeInterceptor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localeResolver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class="org.springframework.web.servlet.i18n.SessionLocaleResolver"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쿠키를 이용한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이용시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localeResolver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class="org.springframework.web.servlet.i18n.CookieLocaleResolver"/&gt;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localeChangeInterceptor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class="org.springframework.web.servlet.i18n.LocaleChangeInterceptor"&gt;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value="language"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class="org.springframework.web.servlet.handler.SimpleMappingExceptionResolver"&gt;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defaultErrorView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exceptionMappings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&lt;props&gt;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org.springframework.dao.DataAccessException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dataAccessFailure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org.springframework.transaction.TransactionException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transactionFailure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org.egovframe.rte.fdl.cmmn.exception.EgovBizException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org.springframework.security.AccessDeniedException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&lt;/props&gt;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org.springframework.web.servlet.view.UrlBasedViewResolver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p:order="1"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p:viewClass="org.springframework.web.servlet.view.JstlView"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p:prefix="/WEB-INF/jsp/egovframework/example/" p:suffix=".jsp"/&gt;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For Pagination Tag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imageRenderer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egovframework.example.cmmn.web.EgovImgPaginationRenderer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paginationManager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class="org.egovframe.rte.ptl.mvc.tags.ui.pagination.DefaultPaginationManager"&gt;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rendererType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&lt;map&gt;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&lt;entry key="image" value-ref="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imageRenderer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&lt;/map&gt;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/For Pagination Tag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///////////////////////////////////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시작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///////////////////////////////////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com.nexacro.uiadapter.spring.core.servlet.NexacroInterceptor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defaultContentType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PlatformJson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defaultCharset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value="UTF-8"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all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사용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들어오는 값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적용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 \n \t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도 제거됨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EtcProperty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RequestMappingHandlerAdapter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구현체 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class="com.nexacro.uiadapter.spring.core.resolve.NexacroRequestMappingHandlerAdapter" p:order="0"&gt;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customArgumentResolvers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&lt;list&gt;&lt;bean class="com.nexacro.uiadapter.spring.core.resolve.NexacroMethodArgumentResolver" /&gt;&lt;/list&gt;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customReturnValueHandlers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&lt;bean class="com.nexacro.uiadapter.spring.core.resolve.NexacroHandlerMethodReturnValueHandler"&gt;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name="view"    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EXCEPTION-RESOLVER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exceptionResolver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class="com.nexacro.uiadapter.spring.core.resolve.NexacroMappingExceptionResolver" p:order="1"&gt;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name="view"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shouldLogStackTrace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false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경우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nexacroN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전송되는 에러메시지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value="An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Occured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check the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ErrorCode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for detail of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infomation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value="fail.common.msg"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mvc:view-controller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path="/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/validator.do" view-name="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/validator"/&gt;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16255758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Log4j2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pom.xml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Log4j2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설정을 위하여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Dependency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등록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</a:rPr>
                        <a:t>ojdbc8, commons-dbcp2, 	 mybatis, mybatis-spring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8455A80-D660-47C0-8D9A-ABA3C443F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5989646" cy="489585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Pom.xml </a:t>
            </a:r>
            <a:r>
              <a:rPr lang="ko-KR" altLang="en-US" dirty="0"/>
              <a:t>의존성 등록 </a:t>
            </a:r>
            <a:r>
              <a:rPr lang="en-US" altLang="ko-KR" dirty="0"/>
              <a:t>– Oracle JDBC/MyBatis </a:t>
            </a:r>
            <a:r>
              <a:rPr lang="ko-KR" altLang="en-US" dirty="0"/>
              <a:t>설정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Pom.xml </a:t>
            </a:r>
            <a:r>
              <a:rPr lang="ko-KR" altLang="en-US" b="1" dirty="0">
                <a:solidFill>
                  <a:srgbClr val="00FFFF"/>
                </a:solidFill>
              </a:rPr>
              <a:t>파일에 </a:t>
            </a:r>
            <a:r>
              <a:rPr lang="en-US" altLang="ko-KR" b="1" dirty="0">
                <a:solidFill>
                  <a:srgbClr val="00FFFF"/>
                </a:solidFill>
              </a:rPr>
              <a:t>Oracle JDBC/MyBatis </a:t>
            </a:r>
            <a:r>
              <a:rPr lang="ko-KR" altLang="en-US" b="1" dirty="0">
                <a:solidFill>
                  <a:srgbClr val="00FFFF"/>
                </a:solidFill>
              </a:rPr>
              <a:t>의존성 주입</a:t>
            </a:r>
            <a:r>
              <a:rPr lang="ko-KR" altLang="en-US" dirty="0"/>
              <a:t>을 위하여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  <a:r>
              <a:rPr lang="en-US" altLang="ko-KR" dirty="0"/>
              <a:t>(ojdbc8, commons-dbcp2, mybatis, mybatis-spring)</a:t>
            </a:r>
            <a:r>
              <a:rPr lang="ko-KR" altLang="en-US" dirty="0"/>
              <a:t>의 라이브러리를 아래와 같이 등록 후 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b="1" dirty="0">
                <a:solidFill>
                  <a:srgbClr val="00FFFF"/>
                </a:solidFill>
              </a:rPr>
              <a:t>Maven / Update Project</a:t>
            </a:r>
            <a:r>
              <a:rPr lang="en-US" altLang="ko-KR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09141D7-2479-41F0-8F3F-A719FBC9B5A2}"/>
              </a:ext>
            </a:extLst>
          </p:cNvPr>
          <p:cNvSpPr/>
          <p:nvPr/>
        </p:nvSpPr>
        <p:spPr>
          <a:xfrm>
            <a:off x="6413738" y="2708921"/>
            <a:ext cx="3216354" cy="42478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&lt;!--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오라클 접속을 위한 라이브러리 추가</a:t>
            </a:r>
          </a:p>
          <a:p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ojdbc8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commons-dbcp2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mybatis-spring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Oracle JDBC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com.oracle.database.jdbc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&gt;ojdbc8&lt;/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&lt;version&gt;19.18.0.0&lt;/version&gt;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DBCP2 </a:t>
            </a:r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커넥션풀 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org.apache.commons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&gt;commons-dbcp2&lt;/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&lt;version&gt;2.9.0&lt;/version&gt;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&lt;version&gt;3.5.13&lt;/version&gt;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Spring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&gt;mybatis-spring&lt;/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&lt;version&gt;2.1.1&lt;/version&gt;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  <a:endParaRPr lang="ko-KR" altLang="en-US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6282C37-2582-4005-B0F3-08F96C305469}"/>
              </a:ext>
            </a:extLst>
          </p:cNvPr>
          <p:cNvSpPr/>
          <p:nvPr/>
        </p:nvSpPr>
        <p:spPr>
          <a:xfrm>
            <a:off x="3224809" y="2060849"/>
            <a:ext cx="3109326" cy="424787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98739BF-5DEE-4979-B438-31BADF7EFE92}"/>
              </a:ext>
            </a:extLst>
          </p:cNvPr>
          <p:cNvSpPr/>
          <p:nvPr/>
        </p:nvSpPr>
        <p:spPr>
          <a:xfrm>
            <a:off x="504832" y="3635711"/>
            <a:ext cx="720554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0784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83268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context-nexacro.xml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 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 / main / resource / egovframework / spring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New / File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Create New File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File 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conetxt-nexacro.xml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버튼을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다음페이지 내용을 복사 후 저장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4D0331AB-0F4F-45B7-A336-287C27C3A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8" y="1420396"/>
            <a:ext cx="4642535" cy="4114268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Spring Context-nexacro.xml </a:t>
            </a:r>
            <a:r>
              <a:rPr lang="ko-KR" altLang="en-US" dirty="0"/>
              <a:t>파일 추가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스프링 시작 시 애플리케이션 컨텍스트를 받아 </a:t>
            </a:r>
            <a:r>
              <a:rPr lang="ko-KR" altLang="en-US" b="1" dirty="0">
                <a:solidFill>
                  <a:srgbClr val="00FFFF"/>
                </a:solidFill>
              </a:rPr>
              <a:t>전체 애플리케이션에서 사용 가능한 빈 등록</a:t>
            </a:r>
            <a:r>
              <a:rPr lang="ko-KR" altLang="en-US" dirty="0"/>
              <a:t> 및 </a:t>
            </a:r>
            <a:r>
              <a:rPr lang="ko-KR" altLang="en-US" b="1" dirty="0">
                <a:solidFill>
                  <a:srgbClr val="00FFFF"/>
                </a:solidFill>
              </a:rPr>
              <a:t>데이터베이스 접속을 위한 정보</a:t>
            </a:r>
            <a:r>
              <a:rPr lang="ko-KR" altLang="en-US" dirty="0"/>
              <a:t>를 등록합니다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75F039E6-E66A-47FB-B687-C477CF3CD7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009CBE-D2B4-4CBC-AD63-DD5A1780DC28}"/>
              </a:ext>
            </a:extLst>
          </p:cNvPr>
          <p:cNvSpPr/>
          <p:nvPr/>
        </p:nvSpPr>
        <p:spPr>
          <a:xfrm>
            <a:off x="776536" y="2820830"/>
            <a:ext cx="432000" cy="12106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76A9CD-F3AD-4EF2-B362-B56F382F1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944" y="1420396"/>
            <a:ext cx="2304256" cy="24356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AD84AA-7147-4922-B48F-67B36A8BBF07}"/>
              </a:ext>
            </a:extLst>
          </p:cNvPr>
          <p:cNvSpPr/>
          <p:nvPr/>
        </p:nvSpPr>
        <p:spPr>
          <a:xfrm>
            <a:off x="3319676" y="5364217"/>
            <a:ext cx="1129268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B38718-CE94-42F1-BC12-15D0309A8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288" y="3901073"/>
            <a:ext cx="4953000" cy="24356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87A70E-9482-4228-B696-048B8205C6E5}"/>
              </a:ext>
            </a:extLst>
          </p:cNvPr>
          <p:cNvSpPr/>
          <p:nvPr/>
        </p:nvSpPr>
        <p:spPr>
          <a:xfrm>
            <a:off x="5817096" y="4114800"/>
            <a:ext cx="3802192" cy="217593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91290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58601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 소스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conetxt-nexacro.xml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오라클 접속을 위한 설정으로 변경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URL : https://docs.tobesoft.com/edu-nexacro-egov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Spring Context-nexacro.xml </a:t>
            </a:r>
            <a:r>
              <a:rPr lang="ko-KR" altLang="en-US" dirty="0"/>
              <a:t>파일 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스프링 시작 시 애플리케이션 컨텍스트를 받아 </a:t>
            </a:r>
            <a:r>
              <a:rPr lang="ko-KR" altLang="en-US" b="1" dirty="0">
                <a:solidFill>
                  <a:srgbClr val="00FFFF"/>
                </a:solidFill>
              </a:rPr>
              <a:t>전체 애플리케이션에서 사용 가능한 빈 등록</a:t>
            </a:r>
            <a:r>
              <a:rPr lang="ko-KR" altLang="en-US" dirty="0"/>
              <a:t> 및 </a:t>
            </a:r>
            <a:r>
              <a:rPr lang="ko-KR" altLang="en-US" b="1" dirty="0">
                <a:solidFill>
                  <a:srgbClr val="00FFFF"/>
                </a:solidFill>
              </a:rPr>
              <a:t>데이터베이스 접속을 위한 정보</a:t>
            </a:r>
            <a:r>
              <a:rPr lang="ko-KR" altLang="en-US" dirty="0"/>
              <a:t>를 등록합니다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9A307DA-ABD8-45AA-B12A-043DF0D57A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CBCC34-0AC2-416B-8CD1-F8873121A7E4}"/>
              </a:ext>
            </a:extLst>
          </p:cNvPr>
          <p:cNvSpPr/>
          <p:nvPr/>
        </p:nvSpPr>
        <p:spPr>
          <a:xfrm>
            <a:off x="344488" y="1412776"/>
            <a:ext cx="6985000" cy="48959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xmlns:aop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="http://www.springframework.org/schema/aop"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http://www.springframework.org/schema/aop http://www.springframework.org/schema/aop/spring-aop-4.0.xsd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Nexacro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ApplicationContext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전역적으로 사용하기 위한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applicationContextProvider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class="com.nexacro.uiadapter.spring.core.context.ApplicationContextProvider" lazy-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="false" /&gt;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Nexacro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전용 기능을 사용하기 위한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oracleDbms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com.nexacro.uiadapter.spring.dao.dbms.Oracle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Nexacro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사용할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DBMS(Oracle)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정보를 관리하는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Provider Bean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dbmsProvider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com.nexacro.uiadapter.spring.dao.DbVendorsProvider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dbvendors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&lt;map&gt;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&lt;entry key="Oracle" value-ref="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oracleDbms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&lt;/map&gt;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8693005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 소스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context-datasource.xml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오라클 접속을 위한 설정으로 변경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orcl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username :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xsys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password : manager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오라클 접속 정보 수정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오라클 데이터베이스 접속</a:t>
            </a:r>
            <a:r>
              <a:rPr lang="en-US" altLang="ko-KR" b="1" dirty="0">
                <a:solidFill>
                  <a:srgbClr val="00FFFF"/>
                </a:solidFill>
              </a:rPr>
              <a:t>(context-datasource.xml)</a:t>
            </a:r>
            <a:r>
              <a:rPr lang="ko-KR" altLang="en-US" b="1" dirty="0">
                <a:solidFill>
                  <a:srgbClr val="00FFFF"/>
                </a:solidFill>
              </a:rPr>
              <a:t>을 위한 설정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9A307DA-ABD8-45AA-B12A-043DF0D57A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CBCC34-0AC2-416B-8CD1-F8873121A7E4}"/>
              </a:ext>
            </a:extLst>
          </p:cNvPr>
          <p:cNvSpPr/>
          <p:nvPr/>
        </p:nvSpPr>
        <p:spPr>
          <a:xfrm>
            <a:off x="344488" y="3932386"/>
            <a:ext cx="6985000" cy="23763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xmlns:jdbc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="http://www.springframework.org/schema/jdbc"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http://www.springframework.org/schema/jdbc  http://www.springframework.org/schema/jdbc/spring-jdbc-4.0.xsd"&gt;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Spring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데이터베이스 연결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(Connection)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관리하는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객체를 생성하는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class="org.apache.commons.dbcp2.BasicDataSource" destroy-method="close"&gt;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driverClassName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jdbc:oracle:thin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:@127.0.0.1:1521:orcl"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name="username"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xsys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name="password" value="manager"/&gt;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352249E-9248-4C77-8382-C19EE46FC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7" y="1412776"/>
            <a:ext cx="6985000" cy="244827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D8BAA37-E778-4335-BB6C-E82D2027C98B}"/>
              </a:ext>
            </a:extLst>
          </p:cNvPr>
          <p:cNvSpPr/>
          <p:nvPr/>
        </p:nvSpPr>
        <p:spPr>
          <a:xfrm>
            <a:off x="637635" y="2852936"/>
            <a:ext cx="1129268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846C057-D85C-4A6E-9EAE-A8D6F44836B7}"/>
              </a:ext>
            </a:extLst>
          </p:cNvPr>
          <p:cNvSpPr/>
          <p:nvPr/>
        </p:nvSpPr>
        <p:spPr>
          <a:xfrm>
            <a:off x="2288703" y="2005054"/>
            <a:ext cx="5040783" cy="15213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71961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개발용 라이선스 다운로드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LICENSE / Nexacro N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신청하기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Nexacro N V24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파일타입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개발용 라이선스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Nexacro Studio Tool : F2HMF-7ZSDU-P8KE9-BQKH5-VY7CE-HTRRP-F37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클라이언트 라이선스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NexacroN_client_license.xml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라이선스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NexacroN_server_license.xml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이메일 첨부파일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라이선스 만료는 개발용으로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개월만 유지하며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라이선스 만료 시 다시 신청 후 설정작업 진행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C0F70BC7-F0E3-4AF8-9DA9-6A72BDAC0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0" y="1420495"/>
            <a:ext cx="6760820" cy="4051390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/>
              <a:t>넥사크로 라이선스</a:t>
            </a:r>
            <a:r>
              <a:rPr lang="en-US" altLang="ko-KR"/>
              <a:t> </a:t>
            </a:r>
            <a:r>
              <a:rPr lang="ko-KR" altLang="en-US"/>
              <a:t>추가</a:t>
            </a:r>
            <a:r>
              <a:rPr lang="en-US" altLang="ko-KR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서버</a:t>
            </a:r>
            <a:r>
              <a:rPr lang="en-US" altLang="ko-KR" b="1" dirty="0">
                <a:solidFill>
                  <a:srgbClr val="00FFFF"/>
                </a:solidFill>
              </a:rPr>
              <a:t>/</a:t>
            </a:r>
            <a:r>
              <a:rPr lang="ko-KR" altLang="en-US" b="1" dirty="0">
                <a:solidFill>
                  <a:srgbClr val="00FFFF"/>
                </a:solidFill>
              </a:rPr>
              <a:t>클라이언트 라이선스 파일 다운로드</a:t>
            </a:r>
            <a:r>
              <a:rPr lang="ko-KR" altLang="en-US" dirty="0"/>
              <a:t> 및 개발 </a:t>
            </a:r>
            <a:r>
              <a:rPr lang="en-US" altLang="ko-KR" b="1" dirty="0">
                <a:solidFill>
                  <a:srgbClr val="00FFFF"/>
                </a:solidFill>
              </a:rPr>
              <a:t>Nexacro Studio Tool key</a:t>
            </a:r>
            <a:r>
              <a:rPr lang="ko-KR" altLang="en-US" dirty="0"/>
              <a:t>를 신청합니다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dirty="0">
                <a:hlinkClick r:id="rId3"/>
              </a:rPr>
              <a:t>https://support.tobesoft.co.kr/Support/?menu=home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235C45FF-796D-4959-BFC7-B97F77FB1B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CB127A5-0D42-45A6-AB1A-1426617D0D88}"/>
              </a:ext>
            </a:extLst>
          </p:cNvPr>
          <p:cNvSpPr/>
          <p:nvPr/>
        </p:nvSpPr>
        <p:spPr>
          <a:xfrm>
            <a:off x="3728864" y="1556792"/>
            <a:ext cx="432000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D25DE4-B8C9-4368-A0C9-678BE82A44A5}"/>
              </a:ext>
            </a:extLst>
          </p:cNvPr>
          <p:cNvSpPr/>
          <p:nvPr/>
        </p:nvSpPr>
        <p:spPr>
          <a:xfrm>
            <a:off x="6480408" y="5180052"/>
            <a:ext cx="432000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52A7FA-3775-4DBF-96A6-53A38E6A8E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731" t="16493"/>
          <a:stretch/>
        </p:blipFill>
        <p:spPr>
          <a:xfrm>
            <a:off x="3622948" y="4368578"/>
            <a:ext cx="2482180" cy="196300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0B9310-1CC5-41CB-AA10-555C29DAF57A}"/>
              </a:ext>
            </a:extLst>
          </p:cNvPr>
          <p:cNvSpPr/>
          <p:nvPr/>
        </p:nvSpPr>
        <p:spPr>
          <a:xfrm>
            <a:off x="3757441" y="5301208"/>
            <a:ext cx="1944216" cy="5032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23606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2C63AAF-1ED3-409A-A4EE-9CB38596A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61895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서버 라이센스 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NexacroN_server_license.xml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실행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clean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tomcat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서버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clean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tomcat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EC4C3EA5-7D08-4A63-9696-B3F46CB18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64" y="1421835"/>
            <a:ext cx="3086924" cy="254183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1530525-8906-4F2E-AABC-5FA4CE565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08" y="1426361"/>
            <a:ext cx="2717007" cy="3400096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넥사크로 라이선스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프로젝트에 </a:t>
            </a:r>
            <a:r>
              <a:rPr lang="ko-KR" altLang="en-US" b="1" dirty="0">
                <a:solidFill>
                  <a:srgbClr val="00FFFF"/>
                </a:solidFill>
              </a:rPr>
              <a:t>넥사크로 서버 라이선스를 추가와 프로젝트</a:t>
            </a:r>
            <a:r>
              <a:rPr lang="en-US" altLang="ko-KR" b="1" dirty="0">
                <a:solidFill>
                  <a:srgbClr val="00FFFF"/>
                </a:solidFill>
              </a:rPr>
              <a:t>/Tomcat Clean </a:t>
            </a:r>
            <a:r>
              <a:rPr lang="ko-KR" altLang="en-US" b="1" dirty="0">
                <a:solidFill>
                  <a:srgbClr val="00FFFF"/>
                </a:solidFill>
              </a:rPr>
              <a:t>작업 후 서버 시작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서버 라이선스</a:t>
            </a:r>
            <a:r>
              <a:rPr lang="en-US" altLang="ko-KR" dirty="0"/>
              <a:t>: NexacroN_server_license.xml</a:t>
            </a:r>
          </a:p>
        </p:txBody>
      </p: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4B695C34-D085-45B0-B05B-8F5B7202A7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555594-14C8-401B-9C1E-0CC1DA6ED4A9}"/>
              </a:ext>
            </a:extLst>
          </p:cNvPr>
          <p:cNvSpPr/>
          <p:nvPr/>
        </p:nvSpPr>
        <p:spPr>
          <a:xfrm>
            <a:off x="560512" y="3139930"/>
            <a:ext cx="1606612" cy="1790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7DF37B-9DBF-47D1-B213-E6746E268CE2}"/>
              </a:ext>
            </a:extLst>
          </p:cNvPr>
          <p:cNvSpPr/>
          <p:nvPr/>
        </p:nvSpPr>
        <p:spPr>
          <a:xfrm>
            <a:off x="5388628" y="2341260"/>
            <a:ext cx="1368000" cy="1720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BA0B0B-B7AE-46DD-A8BF-17F1F6C3A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937" y="3284984"/>
            <a:ext cx="2098551" cy="16494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18D1E3B-FEFD-4EA3-BCA2-B5771AA24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388" y="4442793"/>
            <a:ext cx="2354772" cy="18556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8360F3-6B6E-4406-8E30-5A60CB585738}"/>
              </a:ext>
            </a:extLst>
          </p:cNvPr>
          <p:cNvSpPr/>
          <p:nvPr/>
        </p:nvSpPr>
        <p:spPr>
          <a:xfrm>
            <a:off x="4996467" y="5624160"/>
            <a:ext cx="1368000" cy="1421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06B15BD-BF51-47CA-9AF7-04CFAE9F11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576" y="5876779"/>
            <a:ext cx="2652514" cy="43194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521B1EF9-036B-4FA4-ACA6-EE6E85DBF740}"/>
              </a:ext>
            </a:extLst>
          </p:cNvPr>
          <p:cNvSpPr/>
          <p:nvPr/>
        </p:nvSpPr>
        <p:spPr>
          <a:xfrm>
            <a:off x="2756046" y="5941116"/>
            <a:ext cx="202483" cy="17874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7F3CAE1-F551-45FF-8744-6D79A88785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050" y="3534145"/>
            <a:ext cx="3654549" cy="22828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FAB66C70-1053-42ED-91B2-CFD667666E7B}"/>
              </a:ext>
            </a:extLst>
          </p:cNvPr>
          <p:cNvSpPr/>
          <p:nvPr/>
        </p:nvSpPr>
        <p:spPr>
          <a:xfrm>
            <a:off x="232153" y="3717032"/>
            <a:ext cx="3695446" cy="20901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74433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>
                <a:solidFill>
                  <a:srgbClr val="0000FF"/>
                </a:solidFill>
              </a:rPr>
              <a:t>ERP </a:t>
            </a:r>
            <a:r>
              <a:rPr lang="ko-KR" altLang="en-US" dirty="0">
                <a:solidFill>
                  <a:srgbClr val="0000FF"/>
                </a:solidFill>
              </a:rPr>
              <a:t>프로젝트 환경 전환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027938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28356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java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java / egovframework.example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하단의 체크박스 모두 체크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Preview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2A676034-4959-4D52-9AAF-12ADCF7CA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1260"/>
            <a:ext cx="5170521" cy="3192856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(1/8)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egovframework.example </a:t>
            </a:r>
            <a:r>
              <a:rPr lang="ko-KR" altLang="en-US" dirty="0"/>
              <a:t>→ </a:t>
            </a:r>
            <a:r>
              <a:rPr lang="en-US" altLang="ko-KR" dirty="0"/>
              <a:t> erp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98739BF-5DEE-4979-B438-31BADF7EFE92}"/>
              </a:ext>
            </a:extLst>
          </p:cNvPr>
          <p:cNvSpPr/>
          <p:nvPr/>
        </p:nvSpPr>
        <p:spPr>
          <a:xfrm>
            <a:off x="3559882" y="4003915"/>
            <a:ext cx="720554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54E5FDD-56E0-4478-A995-204C62238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93" y="4317588"/>
            <a:ext cx="3015131" cy="19892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AB5AA4CA-60B3-4587-BF23-FD55A933A39C}"/>
              </a:ext>
            </a:extLst>
          </p:cNvPr>
          <p:cNvSpPr/>
          <p:nvPr/>
        </p:nvSpPr>
        <p:spPr>
          <a:xfrm>
            <a:off x="704528" y="4541331"/>
            <a:ext cx="1075005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862D050-E559-4E17-85A3-15B694D70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865" y="2697557"/>
            <a:ext cx="2916206" cy="360713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15458D6F-2BF8-4DE8-8295-C861C35ED09A}"/>
              </a:ext>
            </a:extLst>
          </p:cNvPr>
          <p:cNvSpPr/>
          <p:nvPr/>
        </p:nvSpPr>
        <p:spPr>
          <a:xfrm>
            <a:off x="6288840" y="6068804"/>
            <a:ext cx="56534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D487F2-D6FD-475B-8E33-DB2874F2FC08}"/>
              </a:ext>
            </a:extLst>
          </p:cNvPr>
          <p:cNvSpPr/>
          <p:nvPr/>
        </p:nvSpPr>
        <p:spPr>
          <a:xfrm>
            <a:off x="704528" y="4768578"/>
            <a:ext cx="2952328" cy="5922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82974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30571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java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java / erp / sample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erp.com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하단의 체크박스 모두 체크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Preview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EF98DA9-56EF-4099-90C0-0E0C8137D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41333"/>
            <a:ext cx="3009900" cy="407670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(2/8)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</a:t>
            </a:r>
            <a:r>
              <a:rPr lang="en-US" altLang="ko-KR" dirty="0" err="1"/>
              <a:t>erp.sample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 erp.com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D458BD-3F02-4E3C-86B6-8DC08D7EBB83}"/>
              </a:ext>
            </a:extLst>
          </p:cNvPr>
          <p:cNvSpPr/>
          <p:nvPr/>
        </p:nvSpPr>
        <p:spPr>
          <a:xfrm>
            <a:off x="704528" y="3236319"/>
            <a:ext cx="110169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7FC08AC-2A35-4E2E-9041-BA8B7C62F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896" y="2326978"/>
            <a:ext cx="3312592" cy="380515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856860AD-9A2E-4AE9-8215-EE1349F13156}"/>
              </a:ext>
            </a:extLst>
          </p:cNvPr>
          <p:cNvSpPr/>
          <p:nvPr/>
        </p:nvSpPr>
        <p:spPr>
          <a:xfrm>
            <a:off x="6141143" y="5892451"/>
            <a:ext cx="684065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E53F24-8343-4969-9B34-E1BFDE572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28" y="3951859"/>
            <a:ext cx="3231629" cy="213207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9C644A-A3B5-4DE2-99F6-4E018BEAFF34}"/>
              </a:ext>
            </a:extLst>
          </p:cNvPr>
          <p:cNvSpPr/>
          <p:nvPr/>
        </p:nvSpPr>
        <p:spPr>
          <a:xfrm>
            <a:off x="704528" y="4180587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A26D09-3DC2-4A3A-B787-7E3E9BBC8C97}"/>
              </a:ext>
            </a:extLst>
          </p:cNvPr>
          <p:cNvSpPr/>
          <p:nvPr/>
        </p:nvSpPr>
        <p:spPr>
          <a:xfrm>
            <a:off x="704528" y="4381432"/>
            <a:ext cx="2952328" cy="69047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89294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12385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egovframework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rgbClr val="FF33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BB0965DA-BDCE-4A81-B99D-017B1925A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93" y="1413382"/>
            <a:ext cx="2730599" cy="4895343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(3/8)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egovframework </a:t>
            </a:r>
            <a:r>
              <a:rPr lang="ko-KR" altLang="en-US" dirty="0"/>
              <a:t>→ </a:t>
            </a:r>
            <a:r>
              <a:rPr lang="en-US" altLang="ko-KR" dirty="0"/>
              <a:t> erp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D458BD-3F02-4E3C-86B6-8DC08D7EBB83}"/>
              </a:ext>
            </a:extLst>
          </p:cNvPr>
          <p:cNvSpPr/>
          <p:nvPr/>
        </p:nvSpPr>
        <p:spPr>
          <a:xfrm>
            <a:off x="704528" y="3732211"/>
            <a:ext cx="110169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8AF8BF3-06B5-43C4-A96E-0C7AD104C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221" y="4005000"/>
            <a:ext cx="4591050" cy="16573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4EB436-1A20-4435-A5C1-C19E5EFB14D1}"/>
              </a:ext>
            </a:extLst>
          </p:cNvPr>
          <p:cNvSpPr/>
          <p:nvPr/>
        </p:nvSpPr>
        <p:spPr>
          <a:xfrm>
            <a:off x="1824567" y="4394095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10380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45917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/ example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mappers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A1CF6341-5B77-4A65-809B-FBAC8EB94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88" y="1412876"/>
            <a:ext cx="2721404" cy="48958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1CB144A-A2F8-4EFF-B4A9-84DA30A66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68" y="4303712"/>
            <a:ext cx="4591050" cy="16573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(4/8)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example </a:t>
            </a:r>
            <a:r>
              <a:rPr lang="ko-KR" altLang="en-US" dirty="0"/>
              <a:t>→ </a:t>
            </a:r>
            <a:r>
              <a:rPr lang="en-US" altLang="ko-KR" dirty="0"/>
              <a:t> mappers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D458BD-3F02-4E3C-86B6-8DC08D7EBB83}"/>
              </a:ext>
            </a:extLst>
          </p:cNvPr>
          <p:cNvSpPr/>
          <p:nvPr/>
        </p:nvSpPr>
        <p:spPr>
          <a:xfrm>
            <a:off x="776536" y="3989055"/>
            <a:ext cx="110169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9EE84D-C531-4446-B0C9-182795DDACF5}"/>
              </a:ext>
            </a:extLst>
          </p:cNvPr>
          <p:cNvSpPr/>
          <p:nvPr/>
        </p:nvSpPr>
        <p:spPr>
          <a:xfrm>
            <a:off x="1082914" y="4692807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95734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35570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New / Folder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Folder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config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이동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sql-mapper-config.xml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config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 아래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(5/8)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config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4E73CA4-C337-428C-8C88-021113352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2" y="1430316"/>
            <a:ext cx="4312316" cy="382228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541ABF-2A8F-4F0F-8719-54F505A10E38}"/>
              </a:ext>
            </a:extLst>
          </p:cNvPr>
          <p:cNvSpPr/>
          <p:nvPr/>
        </p:nvSpPr>
        <p:spPr>
          <a:xfrm>
            <a:off x="2997732" y="5077802"/>
            <a:ext cx="910490" cy="1825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9B3BCC-FEF5-4116-A6EB-35AD04BA8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24" y="1412776"/>
            <a:ext cx="2707404" cy="3168352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B04E69-8E5A-4B1E-967A-A494583C6593}"/>
              </a:ext>
            </a:extLst>
          </p:cNvPr>
          <p:cNvSpPr/>
          <p:nvPr/>
        </p:nvSpPr>
        <p:spPr>
          <a:xfrm>
            <a:off x="3461524" y="3644421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BF9EA28-C494-48B3-8D55-ADBF55161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805" y="3682325"/>
            <a:ext cx="2155483" cy="262699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D0D4D3-0DB2-47F1-B35B-386C01F3A91E}"/>
              </a:ext>
            </a:extLst>
          </p:cNvPr>
          <p:cNvSpPr/>
          <p:nvPr/>
        </p:nvSpPr>
        <p:spPr>
          <a:xfrm>
            <a:off x="5787937" y="5448003"/>
            <a:ext cx="1541551" cy="28525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4603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3544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/ mappers / mappers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A069D8B9-9CD2-4EAD-812A-06347D1D8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44" y="1412776"/>
            <a:ext cx="3048000" cy="371475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(6/8)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mappers </a:t>
            </a:r>
            <a:r>
              <a:rPr lang="ko-KR" altLang="en-US" dirty="0"/>
              <a:t>→ </a:t>
            </a:r>
            <a:r>
              <a:rPr lang="en-US" altLang="ko-KR" dirty="0"/>
              <a:t> com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9EE84D-C531-4446-B0C9-182795DDACF5}"/>
              </a:ext>
            </a:extLst>
          </p:cNvPr>
          <p:cNvSpPr/>
          <p:nvPr/>
        </p:nvSpPr>
        <p:spPr>
          <a:xfrm>
            <a:off x="1082914" y="4421103"/>
            <a:ext cx="1332000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0963B3-3B1D-49A8-BF83-5A70C7B70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75" y="2600325"/>
            <a:ext cx="2799581" cy="126072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5FD1F1-E120-4EA4-8E1E-4FC4CC9BE913}"/>
              </a:ext>
            </a:extLst>
          </p:cNvPr>
          <p:cNvSpPr/>
          <p:nvPr/>
        </p:nvSpPr>
        <p:spPr>
          <a:xfrm>
            <a:off x="2657475" y="2849012"/>
            <a:ext cx="1332000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12486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(7/8)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제공하는 기본 </a:t>
            </a:r>
            <a:r>
              <a:rPr lang="en-US" altLang="ko-KR" b="1" dirty="0">
                <a:solidFill>
                  <a:srgbClr val="00FFFF"/>
                </a:solidFill>
              </a:rPr>
              <a:t>sample </a:t>
            </a:r>
            <a:r>
              <a:rPr lang="ko-KR" altLang="en-US" b="1" dirty="0">
                <a:solidFill>
                  <a:srgbClr val="00FFFF"/>
                </a:solidFill>
              </a:rPr>
              <a:t>파일 일괄 삭제합니다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54D898C-CA86-41CA-B316-F346A8F17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879690"/>
              </p:ext>
            </p:extLst>
          </p:nvPr>
        </p:nvGraphicFramePr>
        <p:xfrm>
          <a:off x="273050" y="1341438"/>
          <a:ext cx="5976094" cy="3498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70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EgovSample_Sample_SQL.xml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nbdf/src/main/resources/erp/sqlmap/mappers/com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EgovSampleController.java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nbdf/src/main/java/erp/com/web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SampleVO.java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nbdf/src/main/java/erp/com/service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SampleDefaultVO.java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nbdf/src/main/java/erp/com/service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EgovSampleService.java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nbdf/src/main/java/erp/com/service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SampleMapper.java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nbdf/src/main/java/erp/com/service/impl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EgovSampleServiceImpl.java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nbdf/src/main/java/erp/com/service/impl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44B442A-511E-425A-95D7-1CE6FCECD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626340"/>
              </p:ext>
            </p:extLst>
          </p:nvPr>
        </p:nvGraphicFramePr>
        <p:xfrm>
          <a:off x="273050" y="5123738"/>
          <a:ext cx="5976094" cy="1185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70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db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nbdf/src/main/resources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815E9EA5-6269-4A11-ABCD-F8BFB5D5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719" y="1313038"/>
            <a:ext cx="2971800" cy="44005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69931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(8/8)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설정을 위한 기본 </a:t>
            </a:r>
            <a:r>
              <a:rPr lang="en-US" altLang="ko-KR" b="1" dirty="0">
                <a:solidFill>
                  <a:srgbClr val="00FFFF"/>
                </a:solidFill>
              </a:rPr>
              <a:t>Mybatis XML </a:t>
            </a:r>
            <a:r>
              <a:rPr lang="ko-KR" altLang="en-US" b="1" dirty="0">
                <a:solidFill>
                  <a:srgbClr val="00FFFF"/>
                </a:solidFill>
              </a:rPr>
              <a:t>파일 </a:t>
            </a:r>
            <a:r>
              <a:rPr lang="en-US" altLang="ko-KR" b="1" dirty="0">
                <a:solidFill>
                  <a:srgbClr val="00FFFF"/>
                </a:solidFill>
              </a:rPr>
              <a:t>1</a:t>
            </a:r>
            <a:r>
              <a:rPr lang="ko-KR" altLang="en-US" b="1" dirty="0">
                <a:solidFill>
                  <a:srgbClr val="00FFFF"/>
                </a:solidFill>
              </a:rPr>
              <a:t>개를 생성합니다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COM10000MMapperSQL.xml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DB189FF-F943-4ECF-9824-0DFCB74FD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28874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Mybatis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XML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파일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/ mappers / com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New / Other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Select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wizard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검색조건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my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Mybatis XML Mapper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New MyBatis XML Mapper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File 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COM10000MMapper.xml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1CB91AE1-B170-4CF2-94C0-774EA5222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6467"/>
            <a:ext cx="3816424" cy="489645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3D35313-3BA6-4C3D-9697-84BDC9D0F3DA}"/>
              </a:ext>
            </a:extLst>
          </p:cNvPr>
          <p:cNvSpPr/>
          <p:nvPr/>
        </p:nvSpPr>
        <p:spPr>
          <a:xfrm>
            <a:off x="2648744" y="6151493"/>
            <a:ext cx="1332000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013400-BAE5-4B63-8B24-23ACEDF83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413" y="1412875"/>
            <a:ext cx="2793677" cy="269527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1D2AC7F-D20F-42AD-B046-60BC587A5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968" y="1950961"/>
            <a:ext cx="2556701" cy="29919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9D64E66-DCD4-4D5F-AEFD-6F3BAAA62B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8904" y="4907322"/>
            <a:ext cx="5313040" cy="166406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9A8F64-0F58-4914-80E6-BD8D8DB0C3C7}"/>
              </a:ext>
            </a:extLst>
          </p:cNvPr>
          <p:cNvSpPr/>
          <p:nvPr/>
        </p:nvSpPr>
        <p:spPr>
          <a:xfrm>
            <a:off x="2951412" y="2108227"/>
            <a:ext cx="1137492" cy="38466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C13531-8F03-4C00-BFC9-1768809B6295}"/>
              </a:ext>
            </a:extLst>
          </p:cNvPr>
          <p:cNvSpPr/>
          <p:nvPr/>
        </p:nvSpPr>
        <p:spPr>
          <a:xfrm>
            <a:off x="4664968" y="4040397"/>
            <a:ext cx="1368000" cy="2171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24E824-8F7A-4A11-91E0-FDC824BA98FE}"/>
              </a:ext>
            </a:extLst>
          </p:cNvPr>
          <p:cNvSpPr/>
          <p:nvPr/>
        </p:nvSpPr>
        <p:spPr>
          <a:xfrm>
            <a:off x="4448944" y="6240526"/>
            <a:ext cx="1368000" cy="2171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0CBE0F-A1BC-4247-872C-3C4CFBDA67FF}"/>
              </a:ext>
            </a:extLst>
          </p:cNvPr>
          <p:cNvSpPr/>
          <p:nvPr/>
        </p:nvSpPr>
        <p:spPr>
          <a:xfrm>
            <a:off x="6032924" y="5229200"/>
            <a:ext cx="3369019" cy="5129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94089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62004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context-mapper.xml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erp / spring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context-mapper.xml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C01F5BE3-815E-4D5B-8DAA-9C1644F51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0" y="1429203"/>
            <a:ext cx="6969448" cy="3655981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context-mapper.xml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프로젝트의 </a:t>
            </a:r>
            <a:r>
              <a:rPr lang="en-US" altLang="ko-KR" dirty="0"/>
              <a:t>Mapper XML(</a:t>
            </a:r>
            <a:r>
              <a:rPr lang="en-US" altLang="ko-KR" b="1" dirty="0">
                <a:solidFill>
                  <a:srgbClr val="00FFFF"/>
                </a:solidFill>
              </a:rPr>
              <a:t>SQL) </a:t>
            </a:r>
            <a:r>
              <a:rPr lang="ko-KR" altLang="en-US" b="1" dirty="0">
                <a:solidFill>
                  <a:srgbClr val="00FFFF"/>
                </a:solidFill>
              </a:rPr>
              <a:t>파일 위치</a:t>
            </a:r>
            <a:r>
              <a:rPr lang="en-US" altLang="ko-KR" dirty="0"/>
              <a:t>(mapper Locations)</a:t>
            </a:r>
            <a:r>
              <a:rPr lang="ko-KR" altLang="en-US" dirty="0"/>
              <a:t>와 </a:t>
            </a:r>
            <a:r>
              <a:rPr lang="en-US" altLang="ko-KR" b="1" dirty="0">
                <a:solidFill>
                  <a:srgbClr val="00FFFF"/>
                </a:solidFill>
              </a:rPr>
              <a:t>Mapper </a:t>
            </a:r>
            <a:r>
              <a:rPr lang="ko-KR" altLang="en-US" b="1" dirty="0">
                <a:solidFill>
                  <a:srgbClr val="00FFFF"/>
                </a:solidFill>
              </a:rPr>
              <a:t>스캔을 위한 파일 위치</a:t>
            </a:r>
            <a:r>
              <a:rPr lang="en-US" altLang="ko-KR" dirty="0"/>
              <a:t>(config Location), </a:t>
            </a:r>
            <a:r>
              <a:rPr lang="en-US" altLang="ko-KR" b="1" dirty="0">
                <a:solidFill>
                  <a:srgbClr val="00FFFF"/>
                </a:solidFill>
              </a:rPr>
              <a:t>Mapper </a:t>
            </a:r>
            <a:r>
              <a:rPr lang="ko-KR" altLang="en-US" b="1" dirty="0">
                <a:solidFill>
                  <a:srgbClr val="00FFFF"/>
                </a:solidFill>
              </a:rPr>
              <a:t>인터페이스를 위한 스캔 위치</a:t>
            </a:r>
            <a:r>
              <a:rPr lang="en-US" altLang="ko-KR" dirty="0"/>
              <a:t>(basePackage)</a:t>
            </a:r>
            <a:r>
              <a:rPr lang="ko-KR" altLang="en-US" dirty="0"/>
              <a:t>를 아래와 같이 조정합니다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687381" y="3509172"/>
            <a:ext cx="792609" cy="16598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6" y="2204864"/>
            <a:ext cx="4752752" cy="230425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13040" y="3933057"/>
            <a:ext cx="6408712" cy="23756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setup for MyBatis Database Layer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MyBatis Mapper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스캔 경로 설정 및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Mapper SQL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경로 설정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org.mybatis.spring.SqlSessionFactoryBean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name="configLocation"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:/erp/sqlmap/config/sql-mapper-config.xml"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name="mapperLocations"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:/erp/sqlmap/mappers/**/*.xml"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MapperConfigurer setup for MyBatis Database Layer with @Mapper("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deptMapper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 in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DeptMapper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Interface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Mapper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인터페이스 호출을 위한 경로 설정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org.egovframe.rte.psl.dataaccess.mapper.MapperConfigurer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name="basePackage" value="erp"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19143379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00253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context-common.xml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erp / spring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context-common.xml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C712B150-D048-4D32-AC41-B12C94251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0" y="1429203"/>
            <a:ext cx="6969448" cy="336794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context-common.xml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패키지 경로 변경 및 </a:t>
            </a:r>
            <a:r>
              <a:rPr lang="en-US" altLang="ko-KR" b="1" dirty="0">
                <a:solidFill>
                  <a:srgbClr val="00FFFF"/>
                </a:solidFill>
              </a:rPr>
              <a:t>Resource </a:t>
            </a:r>
            <a:r>
              <a:rPr lang="ko-KR" altLang="en-US" b="1" dirty="0">
                <a:solidFill>
                  <a:srgbClr val="00FFFF"/>
                </a:solidFill>
              </a:rPr>
              <a:t>폴더 경로 변경</a:t>
            </a:r>
            <a:r>
              <a:rPr lang="ko-KR" altLang="en-US" dirty="0"/>
              <a:t>에 따른 설정을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743359" y="3525500"/>
            <a:ext cx="792609" cy="16598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6" y="2564904"/>
            <a:ext cx="4752752" cy="15498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13040" y="3933057"/>
            <a:ext cx="6408712" cy="23756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http://www.springframework.org/schema/context http://www.springframework.org/schema/context/spring-context-4.0.xsd"&gt;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java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루트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base-package="erp"&gt;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expression="org.springframework.stereotype.Controller"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class="org.springframework.context.support.ReloadableResourceBundleMessageSource"&gt;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basenames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&lt;!-- 2026.05.01 :: resource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폴더 명칭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:/erp/message/message-common&lt;/value&gt;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:/org/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rte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fdl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idgnr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/messages/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idgnr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:/org/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rte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fdl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/property/messages/properties&lt;/value&gt;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cacheSeconds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&lt;value&gt;60&lt;/value&gt;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leaveaTrace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org.egovframe.rte.fdl.cmmn.trace.LeaveaTrace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traceHandlerServices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traceHandlerService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traceHandlerService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class="org.egovframe.rte.fdl.cmmn.trace.manager.DefaultTraceHandleManager"&gt;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reqExpMatcher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antPathMater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name="patterns"&gt;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&lt;value&gt;*&lt;/value&gt;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name="handlers"&gt;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defaultTraceHandler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antPathMater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org.springframework.util.AntPathMatcher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defaultTraceHandler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org.egovframe.rte.fdl.cmmn.trace.handler.DefaultTraceHandler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34675058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56983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log4j2.xml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log4j2.xml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4C4CB06D-1C13-4857-B92D-45619C0D1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1" y="1429203"/>
            <a:ext cx="6969447" cy="4476478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log4j2.xml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패키지 경로 변경 및 </a:t>
            </a:r>
            <a:r>
              <a:rPr lang="en-US" altLang="ko-KR" b="1" dirty="0">
                <a:solidFill>
                  <a:srgbClr val="00FFFF"/>
                </a:solidFill>
              </a:rPr>
              <a:t>Resource </a:t>
            </a:r>
            <a:r>
              <a:rPr lang="ko-KR" altLang="en-US" b="1" dirty="0">
                <a:solidFill>
                  <a:srgbClr val="00FFFF"/>
                </a:solidFill>
              </a:rPr>
              <a:t>폴더 경로 변경</a:t>
            </a:r>
            <a:r>
              <a:rPr lang="ko-KR" altLang="en-US" dirty="0"/>
              <a:t>에 따른 설정을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616192" y="3068960"/>
            <a:ext cx="792609" cy="16598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3656856" y="3556688"/>
            <a:ext cx="3672632" cy="50405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13040" y="3933057"/>
            <a:ext cx="6408712" cy="23756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&lt;!DOCTYPE xml&gt;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&lt;Configuration&gt;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&lt;Console name="console" target="SYSTEM_OUT"&gt;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PatternLayout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pattern="%d %5p [%c] %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m%n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&lt;/Console&gt;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&lt;Loggers&gt;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java.sql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&lt;!-- 2025.05.01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디버깅 처리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name=“erp" level="DEBUG"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level="DEBUG"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&lt;!-- log SQL with timing information, post execution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jdbc.sqltiming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&lt;Root level="INFO"&gt;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&lt;/Root&gt;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&lt;/Loggers&gt;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17993860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04143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dispatcher-servlet.xml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WEB-INF / egovframework / springmvc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dispatcher-servlet.xml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69D1CEA7-B218-43A5-A767-A0CCE74EB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1" y="1429203"/>
            <a:ext cx="6969447" cy="2608067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dispatcher-servlet.xml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패키지 경로 변경 및 </a:t>
            </a:r>
            <a:r>
              <a:rPr lang="en-US" altLang="ko-KR" b="1" dirty="0">
                <a:solidFill>
                  <a:srgbClr val="00FFFF"/>
                </a:solidFill>
              </a:rPr>
              <a:t>Resource </a:t>
            </a:r>
            <a:r>
              <a:rPr lang="ko-KR" altLang="en-US" b="1" dirty="0">
                <a:solidFill>
                  <a:srgbClr val="00FFFF"/>
                </a:solidFill>
              </a:rPr>
              <a:t>폴더 경로 변경</a:t>
            </a:r>
            <a:r>
              <a:rPr lang="ko-KR" altLang="en-US" dirty="0"/>
              <a:t>에 따른 설정을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1020425" y="3930687"/>
            <a:ext cx="792609" cy="12470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6" y="3340826"/>
            <a:ext cx="4752752" cy="23219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33443" y="3733347"/>
            <a:ext cx="6408712" cy="2952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xmlns:util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="http://www.springframework.org/schema/util"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xmlns:mvc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="http://www.springframework.org/schema/mvc"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http://www.springframework.org/schema/context http://www.springframework.org/schema/context/spring-context-4.0.xsd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http://www.springframework.org/schema/mvc http://www.springframework.org/schema/mvc/spring-mvc-4.0.xsd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http://www.springframework.org/schema/util http://www.springframework.org/schema/util/spring-util-4.0.xsd"&gt;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설정정보 조회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네임스페이스 수정 및 넥사크로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URL : https://docs.tobesoft.com/edu-nexacro-egov/64758130f0590a7b#94d524a362526e8e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base-package="erp"&gt;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context:include-filter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expression="org.springframework.stereotype.Controller"/&gt;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org.springframework.stereotype.Repository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872720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10800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sql-mapper-config.xml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sqlmap / config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sql-mapper-config.xml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E4EC8041-1056-4D86-8669-64FD19F20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1" y="1429203"/>
            <a:ext cx="6969447" cy="309131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sql-mapper-config.xml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 </a:t>
            </a:r>
            <a:r>
              <a:rPr lang="en-US" altLang="ko-KR" b="1" dirty="0">
                <a:solidFill>
                  <a:srgbClr val="00FFFF"/>
                </a:solidFill>
              </a:rPr>
              <a:t>Sample </a:t>
            </a:r>
            <a:r>
              <a:rPr lang="ko-KR" altLang="en-US" b="1" dirty="0">
                <a:solidFill>
                  <a:srgbClr val="00FFFF"/>
                </a:solidFill>
              </a:rPr>
              <a:t>프로그램 삭제에 따른 설정 정보를</a:t>
            </a:r>
            <a:r>
              <a:rPr lang="ko-KR" altLang="en-US" dirty="0"/>
              <a:t>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848544" y="3007328"/>
            <a:ext cx="936104" cy="11337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957067" y="2765350"/>
            <a:ext cx="3940149" cy="55697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33443" y="3733348"/>
            <a:ext cx="5956261" cy="25753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&lt;!DOCTYPE configuration PUBLIC "-//mybatis.org//DTD Config 3.0//EN" "http://mybatis.org/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dtd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/mybatis-3-config.dtd"&gt;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&lt;configuration&gt;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alias="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egovMap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type="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org.egovframe.rte.psl.dataaccess.util.EgovMap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&lt;!-- 2025.05.01 :: Sample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파일 삭제 후 설정 삭제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alias="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searchVO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type="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erp.com.service.SampleDefaultVO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alias="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sampleVO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type="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erp.com.service.SampleVO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&lt;!-- 2025.05.01 :: Mapper xml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처리결과 데이터 건수가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경우 조회된 쿼리의 컬럼정보 리턴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&lt;plugins&gt;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&lt;plugin interceptor="com.nexacro.uiadapter.spring.dao.mybatis.NexacroMybatisMetaDataProvider"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&lt;plugin interceptor="com.nexacro.uiadapter.spring.dao.mybatis.NexacroMybatisResultSetHandler"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&lt;/plugins&gt;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19096455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68130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web.xml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webapp / WEB-INF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web.xml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20422386-17AD-41C9-B3B4-781CBF4D4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2" y="1429203"/>
            <a:ext cx="6922502" cy="3931317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web.xml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resource</a:t>
            </a:r>
            <a:r>
              <a:rPr lang="ko-KR" altLang="en-US" b="1" dirty="0">
                <a:solidFill>
                  <a:srgbClr val="00FFFF"/>
                </a:solidFill>
              </a:rPr>
              <a:t> 폴더 변경에 따라</a:t>
            </a:r>
            <a:r>
              <a:rPr lang="ko-KR" altLang="en-US" dirty="0"/>
              <a:t> </a:t>
            </a:r>
            <a:r>
              <a:rPr lang="en-US" altLang="ko-KR" dirty="0"/>
              <a:t>context *.xml </a:t>
            </a:r>
            <a:r>
              <a:rPr lang="ko-KR" altLang="en-US" dirty="0"/>
              <a:t>파일 스킨을 위한 경로를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848544" y="4397760"/>
            <a:ext cx="703309" cy="1508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982925" y="3768608"/>
            <a:ext cx="3940149" cy="6291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8B894D-A605-49E1-ABF6-8665935702B5}"/>
              </a:ext>
            </a:extLst>
          </p:cNvPr>
          <p:cNvSpPr/>
          <p:nvPr/>
        </p:nvSpPr>
        <p:spPr>
          <a:xfrm>
            <a:off x="5333443" y="3733348"/>
            <a:ext cx="5956261" cy="63203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&lt;web-app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WebApp_ID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version="3.1"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="http://xmlns.jcp.org/xml/ns/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javaee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="http://xmlns.jcp.org/xml/ns/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javaee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http://xmlns.jcp.org/xml/ns/javaee/web-app_3_1.xsd"&gt;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&lt;display-name&gt;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egov.sample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&lt;/display-name&gt;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encodingFilter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org.springframework.web.filter.CharacterEncodingFilter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&lt;param-name&gt;encoding&lt;/param-name&gt;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&lt;param-value&gt;utf-8&lt;/param-value&gt;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&lt;filter-mapping&gt;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encodingFilter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-pattern&gt;*.do&lt;/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&lt;/filter-mapping&gt;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HTMLTagFilter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org.egovframe.rte.ptl.mvc.filter.HTMLTagFilter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&lt;filter-mapping&gt;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HTMLTagFilter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-pattern&gt;*.do&lt;/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&lt;/filter-mapping&gt;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&lt;context-param&gt;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&lt;param-name&gt;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contextConfigLocation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&lt;/param-name&gt;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resource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폴더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&lt;param-value&gt;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*:erp/spring/context-*.xml&lt;/param-value&gt;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&lt;/context-param&gt;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&lt;listener&gt;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&lt;listener-class&gt;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org.springframework.web.context.ContextLoaderListener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&lt;/listener-class&gt;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&lt;/listener&gt;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&lt;servlet&gt;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&lt;servlet-name&gt;action&lt;/servlet-name&gt;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&lt;servlet-class&gt;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org.springframework.web.servlet.DispatcherServlet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&lt;/servlet-class&gt;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contextConfigLocation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&lt;/param-name&gt;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&lt;param-value&gt;/WEB-INF/config/egovframework/springmvc/dispatcher-servlet.xml&lt;/param-value&gt;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&lt;load-on-startup&gt;1&lt;/load-on-startup&gt;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&lt;/servlet&gt;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&lt;servlet-mapping&gt;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&lt;servlet-name&gt;action&lt;/servlet-name&gt;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-pattern&gt;*.do&lt;/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&lt;/servlet-mapping&gt;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&lt;welcome-file-list&gt;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&lt;welcome-file&gt;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index.jsp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&lt;/welcome-file&gt;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&lt;/welcome-file-list&gt;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&lt;login-config&gt;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&lt;auth-method&gt;BASIC&lt;/auth-method&gt;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&lt;/login-config&gt;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&lt;exception-type&gt;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java.lang.Throwable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&lt;/exception-type&gt;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&lt;location&gt;/common/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&lt;/location&gt;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&lt;error-code&gt;404&lt;/error-code&gt;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&lt;location&gt;/common/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&lt;/location&gt;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&lt;error-code&gt;500&lt;/error-code&gt;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&lt;location&gt;/common/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&lt;/location&gt;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&lt;/error-page&gt;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&lt;/web-app&gt;</a:t>
            </a:r>
          </a:p>
        </p:txBody>
      </p:sp>
    </p:spTree>
    <p:extLst>
      <p:ext uri="{BB962C8B-B14F-4D97-AF65-F5344CB8AC3E}">
        <p14:creationId xmlns:p14="http://schemas.microsoft.com/office/powerpoint/2010/main" val="17094220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MVC2 </a:t>
            </a:r>
            <a:r>
              <a:rPr lang="ko-KR" altLang="en-US" dirty="0"/>
              <a:t>모델</a:t>
            </a:r>
            <a:r>
              <a:rPr lang="en-US" altLang="ko-KR" dirty="0"/>
              <a:t> </a:t>
            </a:r>
            <a:r>
              <a:rPr lang="ko-KR" altLang="en-US" dirty="0"/>
              <a:t>흐름도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Spring MVC2</a:t>
            </a:r>
            <a:r>
              <a:rPr lang="ko-KR" altLang="en-US" dirty="0"/>
              <a:t>는 </a:t>
            </a:r>
            <a:r>
              <a:rPr lang="en-US" altLang="ko-KR" b="1" dirty="0">
                <a:solidFill>
                  <a:srgbClr val="00FFFF"/>
                </a:solidFill>
              </a:rPr>
              <a:t>DispatcherServlet</a:t>
            </a:r>
            <a:r>
              <a:rPr lang="ko-KR" altLang="en-US" b="1" dirty="0">
                <a:solidFill>
                  <a:srgbClr val="00FFFF"/>
                </a:solidFill>
              </a:rPr>
              <a:t>이 모든 요청을 받아 </a:t>
            </a:r>
            <a:r>
              <a:rPr lang="en-US" altLang="ko-KR" b="1" dirty="0">
                <a:solidFill>
                  <a:srgbClr val="00FFFF"/>
                </a:solidFill>
              </a:rPr>
              <a:t>Controller</a:t>
            </a:r>
            <a:r>
              <a:rPr lang="ko-KR" altLang="en-US" dirty="0"/>
              <a:t>에 전달하고</a:t>
            </a:r>
            <a:r>
              <a:rPr lang="en-US" altLang="ko-KR" dirty="0"/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비즈니스 로직 처리 결과를 </a:t>
            </a:r>
            <a:r>
              <a:rPr lang="en-US" altLang="ko-KR" b="1" dirty="0">
                <a:solidFill>
                  <a:srgbClr val="00FFFF"/>
                </a:solidFill>
              </a:rPr>
              <a:t>Model</a:t>
            </a:r>
            <a:r>
              <a:rPr lang="ko-KR" altLang="en-US" dirty="0"/>
              <a:t>에 담아 </a:t>
            </a:r>
            <a:r>
              <a:rPr lang="en-US" altLang="ko-KR" b="1" dirty="0">
                <a:solidFill>
                  <a:srgbClr val="00FFFF"/>
                </a:solidFill>
              </a:rPr>
              <a:t>ViewResolver</a:t>
            </a:r>
            <a:r>
              <a:rPr lang="ko-KR" altLang="en-US" b="1" dirty="0">
                <a:solidFill>
                  <a:srgbClr val="00FFFF"/>
                </a:solidFill>
              </a:rPr>
              <a:t>를 통해 화면</a:t>
            </a:r>
            <a:r>
              <a:rPr lang="en-US" altLang="ko-KR" b="1" dirty="0">
                <a:solidFill>
                  <a:srgbClr val="00FFFF"/>
                </a:solidFill>
              </a:rPr>
              <a:t>(View)</a:t>
            </a:r>
            <a:r>
              <a:rPr lang="ko-KR" altLang="en-US" b="1" dirty="0">
                <a:solidFill>
                  <a:srgbClr val="00FFFF"/>
                </a:solidFill>
              </a:rPr>
              <a:t>으로 반환</a:t>
            </a:r>
            <a:r>
              <a:rPr lang="ko-KR" altLang="en-US" dirty="0"/>
              <a:t>하는 구조로 유지보수성과 확장성이 우수한 웹 아키텍처입니다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49ACEA43-82B4-4CB3-9BD3-84E36DF84C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8" t="2886" r="1514" b="2382"/>
          <a:stretch/>
        </p:blipFill>
        <p:spPr>
          <a:xfrm>
            <a:off x="352651" y="1349602"/>
            <a:ext cx="9271343" cy="503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250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MVC2 </a:t>
            </a:r>
            <a:r>
              <a:rPr lang="ko-KR" altLang="en-US" dirty="0"/>
              <a:t>모델</a:t>
            </a:r>
            <a:r>
              <a:rPr lang="en-US" altLang="ko-KR" dirty="0"/>
              <a:t> </a:t>
            </a:r>
            <a:r>
              <a:rPr lang="ko-KR" altLang="en-US" dirty="0"/>
              <a:t>흐름도 상세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Spring MVC2 </a:t>
            </a:r>
            <a:r>
              <a:rPr lang="ko-KR" altLang="en-US" dirty="0"/>
              <a:t>모델에 대한 구성요소별 역할 및 흐름도는 아래와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12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9F84B8C-9B41-4D0A-8DD6-6B2691B58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62781"/>
              </p:ext>
            </p:extLst>
          </p:nvPr>
        </p:nvGraphicFramePr>
        <p:xfrm>
          <a:off x="273050" y="1341438"/>
          <a:ext cx="9360470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590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54927917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5793854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구성요소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흐름도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DispatcherServlet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모든 요청을 받는 </a:t>
                      </a:r>
                      <a:r>
                        <a:rPr lang="en-US" altLang="ko-KR" sz="1050" dirty="0"/>
                        <a:t>Front Controller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사용자가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DispatcherServlet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 요청 수신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HandlerMapping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Controller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찾음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Controller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Service/DAO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호출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처리 결과를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Model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 저장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Controller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ModelAndView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반환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ViewResolver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JSP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결정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화면 생성 후 응답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indent="0" algn="l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/>
                        <a:t>Client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DispatcherServlet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HandlerMapping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Controller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Service / DAO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Model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ViewResolver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View(JSP)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Response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HandlerMapping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요청 </a:t>
                      </a:r>
                      <a:r>
                        <a:rPr lang="en-US" altLang="ko-KR" sz="1050" dirty="0"/>
                        <a:t>URL</a:t>
                      </a:r>
                      <a:r>
                        <a:rPr lang="ko-KR" altLang="en-US" sz="1050" dirty="0"/>
                        <a:t>에 맞는 </a:t>
                      </a:r>
                      <a:r>
                        <a:rPr lang="en-US" altLang="ko-KR" sz="1050" dirty="0"/>
                        <a:t>Controller </a:t>
                      </a:r>
                      <a:r>
                        <a:rPr lang="ko-KR" altLang="en-US" sz="1050" dirty="0"/>
                        <a:t>검색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Controller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요청 처리 및 비즈니스 로직 호출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Model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데이터 처리 및 결과 저장</a:t>
                      </a:r>
                      <a:endParaRPr lang="en-US" altLang="ko-KR" sz="1050" dirty="0"/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(Service, Service Implement, Mapper, SQL)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ViewResolver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화면</a:t>
                      </a:r>
                      <a:r>
                        <a:rPr lang="en-US" altLang="ko-KR" sz="1050" dirty="0"/>
                        <a:t>(View) </a:t>
                      </a:r>
                      <a:r>
                        <a:rPr lang="ko-KR" altLang="en-US" sz="1050" dirty="0"/>
                        <a:t>경로 결정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759829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View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/>
                        <a:t>JSP </a:t>
                      </a:r>
                      <a:r>
                        <a:rPr lang="ko-KR" altLang="en-US" sz="1050" dirty="0"/>
                        <a:t>등 최종 화면 생성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601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16208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pom.xml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 출력을 위한 라이브러리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pom.xml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Update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 project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진행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 / Update maven project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DF0AD94F-34E8-4DA2-AA28-2F52C68CA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4"/>
            <a:ext cx="4896837" cy="4103687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log4j2 </a:t>
            </a:r>
            <a:r>
              <a:rPr lang="ko-KR" altLang="en-US" dirty="0"/>
              <a:t>설정 </a:t>
            </a:r>
            <a:r>
              <a:rPr lang="en-US" altLang="ko-KR" dirty="0"/>
              <a:t>– pom.xml </a:t>
            </a:r>
            <a:r>
              <a:rPr lang="ko-KR" altLang="en-US" dirty="0"/>
              <a:t>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로그 출력을 위하여 </a:t>
            </a:r>
            <a:r>
              <a:rPr lang="en-US" altLang="ko-KR" b="1" dirty="0">
                <a:solidFill>
                  <a:srgbClr val="00FFFF"/>
                </a:solidFill>
              </a:rPr>
              <a:t>pom.xml or log4j2.xml </a:t>
            </a:r>
            <a:r>
              <a:rPr lang="ko-KR" altLang="en-US" b="1" dirty="0">
                <a:solidFill>
                  <a:srgbClr val="00FFFF"/>
                </a:solidFill>
              </a:rPr>
              <a:t>파일을 수정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pom </a:t>
            </a:r>
            <a:r>
              <a:rPr lang="ko-KR" altLang="en-US" dirty="0"/>
              <a:t>라이브러리 추가 → </a:t>
            </a:r>
            <a:r>
              <a:rPr lang="en-US" altLang="ko-KR" dirty="0"/>
              <a:t>maven update </a:t>
            </a:r>
            <a:r>
              <a:rPr lang="ko-KR" altLang="en-US" dirty="0"/>
              <a:t>→ </a:t>
            </a:r>
            <a:r>
              <a:rPr lang="en-US" altLang="ko-KR" dirty="0"/>
              <a:t>log4j2 </a:t>
            </a:r>
            <a:r>
              <a:rPr lang="ko-KR" altLang="en-US" dirty="0"/>
              <a:t>설정 추가 → </a:t>
            </a:r>
            <a:r>
              <a:rPr lang="en-US" altLang="ko-KR" dirty="0"/>
              <a:t>project or tomcat clean </a:t>
            </a:r>
            <a:r>
              <a:rPr lang="ko-KR" altLang="en-US" dirty="0"/>
              <a:t>→ </a:t>
            </a:r>
            <a:r>
              <a:rPr lang="en-US" altLang="ko-KR" dirty="0"/>
              <a:t>tomcat run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473264" y="5172432"/>
            <a:ext cx="703309" cy="1508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7" y="2708919"/>
            <a:ext cx="2643611" cy="261440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8B894D-A605-49E1-ABF6-8665935702B5}"/>
              </a:ext>
            </a:extLst>
          </p:cNvPr>
          <p:cNvSpPr/>
          <p:nvPr/>
        </p:nvSpPr>
        <p:spPr>
          <a:xfrm>
            <a:off x="5791518" y="3546822"/>
            <a:ext cx="3075940" cy="29785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로그 출력을 위한 라이브러리 추가</a:t>
            </a: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log4j-api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log4j-core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log4j-slf4j2-impl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Log4j2 --&gt;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&gt;org.apache.logging.log4j&lt;/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&gt;log4j-api&lt;/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&lt;version&gt;2.23.1&lt;/version&gt;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&gt;org.apache.logging.log4j&lt;/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&gt;log4j-core&lt;/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&lt;version&gt;2.23.1&lt;/version&gt;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&gt;org.apache.logging.log4j&lt;/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&gt;log4j-slf4j2-impl&lt;/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&lt;version&gt;2.23.1&lt;/version&gt;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</p:txBody>
      </p:sp>
    </p:spTree>
    <p:extLst>
      <p:ext uri="{BB962C8B-B14F-4D97-AF65-F5344CB8AC3E}">
        <p14:creationId xmlns:p14="http://schemas.microsoft.com/office/powerpoint/2010/main" val="28545669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23039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pom.xml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 출력을 위한 라이브러리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log4j2.xml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81BCBEA8-A478-4A3E-87F4-D59CE1E8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4"/>
            <a:ext cx="6954904" cy="4828894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log4j2 </a:t>
            </a:r>
            <a:r>
              <a:rPr lang="ko-KR" altLang="en-US" dirty="0"/>
              <a:t>설정 </a:t>
            </a:r>
            <a:r>
              <a:rPr lang="en-US" altLang="ko-KR" dirty="0"/>
              <a:t>– log4j2.xml </a:t>
            </a:r>
            <a:r>
              <a:rPr lang="ko-KR" altLang="en-US" dirty="0"/>
              <a:t>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로그 출력을 위하여 </a:t>
            </a:r>
            <a:r>
              <a:rPr lang="en-US" altLang="ko-KR" b="1" dirty="0">
                <a:solidFill>
                  <a:srgbClr val="00FFFF"/>
                </a:solidFill>
              </a:rPr>
              <a:t>pom.xml or log4j2.xml </a:t>
            </a:r>
            <a:r>
              <a:rPr lang="ko-KR" altLang="en-US" b="1" dirty="0">
                <a:solidFill>
                  <a:srgbClr val="00FFFF"/>
                </a:solidFill>
              </a:rPr>
              <a:t>파일을 수정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pom </a:t>
            </a:r>
            <a:r>
              <a:rPr lang="ko-KR" altLang="en-US" dirty="0"/>
              <a:t>라이브러리 추가 → </a:t>
            </a:r>
            <a:r>
              <a:rPr lang="en-US" altLang="ko-KR" dirty="0"/>
              <a:t>maven update </a:t>
            </a:r>
            <a:r>
              <a:rPr lang="ko-KR" altLang="en-US" dirty="0"/>
              <a:t>→ </a:t>
            </a:r>
            <a:r>
              <a:rPr lang="en-US" altLang="ko-KR" dirty="0"/>
              <a:t>log4j2 </a:t>
            </a:r>
            <a:r>
              <a:rPr lang="ko-KR" altLang="en-US" dirty="0"/>
              <a:t>설정 추가 → </a:t>
            </a:r>
            <a:r>
              <a:rPr lang="en-US" altLang="ko-KR" dirty="0"/>
              <a:t>project or tomcat clean </a:t>
            </a:r>
            <a:r>
              <a:rPr lang="ko-KR" altLang="en-US" dirty="0"/>
              <a:t>→ </a:t>
            </a:r>
            <a:r>
              <a:rPr lang="en-US" altLang="ko-KR" dirty="0"/>
              <a:t>tomcat run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617150" y="2741280"/>
            <a:ext cx="703309" cy="1508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3282069" y="3438729"/>
            <a:ext cx="3147667" cy="4702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8B894D-A605-49E1-ABF6-8665935702B5}"/>
              </a:ext>
            </a:extLst>
          </p:cNvPr>
          <p:cNvSpPr/>
          <p:nvPr/>
        </p:nvSpPr>
        <p:spPr>
          <a:xfrm>
            <a:off x="6557580" y="2780928"/>
            <a:ext cx="4732124" cy="43475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&lt;!DOCTYPE xml&gt;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&lt;Configuration&gt;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&lt;Console name="console" target="SYSTEM_OUT"&gt;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PatternLayout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pattern="%d %5p [%c] %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m%n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&lt;/Console&gt;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&lt;Loggers&gt;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java.sql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&lt;!-- 2025.05.01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디버깅 처리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name="erp" level="DEBUG" additivity="false"&gt;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level="DEBUG"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&lt;!-- 2025.05.01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콘솔에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파싱된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쿼리 문장 들여쓰기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줄간격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매개변수 병합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name="p6spy"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log SQL with timing information, post execution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jdbc.sqltiming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&lt;Root level="INFO"&gt;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&lt;/Root&gt;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&lt;/Loggers&gt;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9428135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99601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database.properties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config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database.properties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86B2DAAD-3948-465A-B43E-8303E02BB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3"/>
            <a:ext cx="6936027" cy="299560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db</a:t>
            </a:r>
            <a:r>
              <a:rPr lang="ko-KR" altLang="en-US" dirty="0"/>
              <a:t>접속 </a:t>
            </a:r>
            <a:r>
              <a:rPr lang="en-US" altLang="ko-KR" dirty="0"/>
              <a:t>properties</a:t>
            </a:r>
            <a:r>
              <a:rPr lang="ko-KR" altLang="en-US" dirty="0"/>
              <a:t>로 설정 변경 </a:t>
            </a:r>
            <a:r>
              <a:rPr lang="en-US" altLang="ko-KR" dirty="0"/>
              <a:t>- </a:t>
            </a:r>
            <a:r>
              <a:rPr lang="en-US" altLang="ko-KR" dirty="0" err="1"/>
              <a:t>database.properties</a:t>
            </a:r>
            <a:r>
              <a:rPr lang="en-US" altLang="ko-KR" dirty="0"/>
              <a:t> </a:t>
            </a:r>
            <a:r>
              <a:rPr lang="ko-KR" altLang="en-US" dirty="0"/>
              <a:t>파일 추가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데이터베이스 접속정보를 별도 프로퍼티로 방식으로 변경</a:t>
            </a:r>
            <a:r>
              <a:rPr lang="ko-KR" altLang="en-US" dirty="0"/>
              <a:t>하여 </a:t>
            </a:r>
            <a:r>
              <a:rPr lang="en-US" altLang="ko-KR" dirty="0"/>
              <a:t>context </a:t>
            </a:r>
            <a:r>
              <a:rPr lang="ko-KR" altLang="en-US" dirty="0"/>
              <a:t>정보를 수정하지 않도록 아래와 같이 수정합니다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dirty="0" err="1"/>
              <a:t>database.properties</a:t>
            </a:r>
            <a:r>
              <a:rPr lang="en-US" altLang="ko-KR" dirty="0"/>
              <a:t> </a:t>
            </a:r>
            <a:r>
              <a:rPr lang="ko-KR" altLang="en-US" dirty="0"/>
              <a:t>파일 추가 → </a:t>
            </a:r>
            <a:r>
              <a:rPr lang="en-US" altLang="ko-KR" dirty="0"/>
              <a:t>context-database.xml </a:t>
            </a:r>
            <a:r>
              <a:rPr lang="ko-KR" altLang="en-US" dirty="0"/>
              <a:t>수정 →  </a:t>
            </a:r>
            <a:r>
              <a:rPr lang="en-US" altLang="ko-KR" dirty="0"/>
              <a:t>project or tomcat clean </a:t>
            </a:r>
            <a:r>
              <a:rPr lang="ko-KR" altLang="en-US" dirty="0"/>
              <a:t>→ </a:t>
            </a:r>
            <a:r>
              <a:rPr lang="en-US" altLang="ko-KR" dirty="0"/>
              <a:t>tomcat run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593232" y="4142831"/>
            <a:ext cx="1342207" cy="28513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C7C5D4-CCC4-4821-9632-7BE6A77CA8AD}"/>
              </a:ext>
            </a:extLst>
          </p:cNvPr>
          <p:cNvSpPr/>
          <p:nvPr/>
        </p:nvSpPr>
        <p:spPr>
          <a:xfrm>
            <a:off x="3181118" y="2066762"/>
            <a:ext cx="2924009" cy="4702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3181118" y="3047437"/>
            <a:ext cx="2924009" cy="3175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8405BE-2B2C-415C-A14F-9996042F544A}"/>
              </a:ext>
            </a:extLst>
          </p:cNvPr>
          <p:cNvSpPr/>
          <p:nvPr/>
        </p:nvSpPr>
        <p:spPr>
          <a:xfrm>
            <a:off x="4901395" y="3412582"/>
            <a:ext cx="2924009" cy="10081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프로퍼티 방식으로 변경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db.driver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db.url=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jdbc:oracle:thin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:@127.0.0.1:1521:orcl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db.url=jdbc:p6spy:oracle:thin:@127.0.0.1:1521:orcl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db.username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nsys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db.password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=manager!</a:t>
            </a:r>
          </a:p>
        </p:txBody>
      </p:sp>
    </p:spTree>
    <p:extLst>
      <p:ext uri="{BB962C8B-B14F-4D97-AF65-F5344CB8AC3E}">
        <p14:creationId xmlns:p14="http://schemas.microsoft.com/office/powerpoint/2010/main" val="13112218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89893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context-datasource.xml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erp / spring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context-datasource.xml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A3DB82A9-5442-4E88-B6BA-D62980B62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2"/>
            <a:ext cx="6968624" cy="445217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db</a:t>
            </a:r>
            <a:r>
              <a:rPr lang="ko-KR" altLang="en-US" dirty="0"/>
              <a:t>접속 </a:t>
            </a:r>
            <a:r>
              <a:rPr lang="en-US" altLang="ko-KR" dirty="0"/>
              <a:t>properties</a:t>
            </a:r>
            <a:r>
              <a:rPr lang="ko-KR" altLang="en-US" dirty="0"/>
              <a:t>로 설정 변경 </a:t>
            </a:r>
            <a:r>
              <a:rPr lang="en-US" altLang="ko-KR" dirty="0"/>
              <a:t>- context-datasource.xml </a:t>
            </a:r>
            <a:r>
              <a:rPr lang="ko-KR" altLang="en-US" dirty="0"/>
              <a:t>파일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데이터베이스 접속정보를 별도 프로퍼티로 방식으로 변경</a:t>
            </a:r>
            <a:r>
              <a:rPr lang="ko-KR" altLang="en-US" dirty="0"/>
              <a:t>하여 </a:t>
            </a:r>
            <a:r>
              <a:rPr lang="en-US" altLang="ko-KR" dirty="0"/>
              <a:t>context </a:t>
            </a:r>
            <a:r>
              <a:rPr lang="ko-KR" altLang="en-US" dirty="0"/>
              <a:t>정보를 수정하지 않도록 아래와 같이 수정합니다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dirty="0" err="1"/>
              <a:t>database.properties</a:t>
            </a:r>
            <a:r>
              <a:rPr lang="en-US" altLang="ko-KR" dirty="0"/>
              <a:t> </a:t>
            </a:r>
            <a:r>
              <a:rPr lang="ko-KR" altLang="en-US" dirty="0"/>
              <a:t>파일 추가 → </a:t>
            </a:r>
            <a:r>
              <a:rPr lang="en-US" altLang="ko-KR" dirty="0"/>
              <a:t>context-database.xml </a:t>
            </a:r>
            <a:r>
              <a:rPr lang="ko-KR" altLang="en-US" dirty="0"/>
              <a:t>수정 →  </a:t>
            </a:r>
            <a:r>
              <a:rPr lang="en-US" altLang="ko-KR" dirty="0"/>
              <a:t>project or tomcat clean </a:t>
            </a:r>
            <a:r>
              <a:rPr lang="ko-KR" altLang="en-US" dirty="0"/>
              <a:t>→ </a:t>
            </a:r>
            <a:r>
              <a:rPr lang="en-US" altLang="ko-KR" dirty="0"/>
              <a:t>tomcat run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593232" y="4943535"/>
            <a:ext cx="1342207" cy="1947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2360712" y="3140968"/>
            <a:ext cx="3802344" cy="82752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8405BE-2B2C-415C-A14F-9996042F544A}"/>
              </a:ext>
            </a:extLst>
          </p:cNvPr>
          <p:cNvSpPr/>
          <p:nvPr/>
        </p:nvSpPr>
        <p:spPr>
          <a:xfrm>
            <a:off x="3296816" y="4677026"/>
            <a:ext cx="7128792" cy="28534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xmlns:jdbc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="http://www.springframework.org/schema/jdbc"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http://www.springframework.org/schema/jdbc  http://www.springframework.org/schema/jdbc/spring-jdbc-4.0.xsd"&gt;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Spring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데이터베이스 연결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(Connection)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관리하는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객체를 생성하는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프로퍼티로 설정 방식으로 변경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class="org.apache.commons.dbcp2.BasicDataSource" destroy-method="close"&gt;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driverClassName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value="${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db.driver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value="${db.url}"/&gt;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&lt;property name="username" value="${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db.username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&lt;property name="password" value="${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db.password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}"/&gt;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driverClassName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jdbc:oracle:thin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:@127.0.0.1:1521:orcl"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name="username"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nsys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name="password" value="manager!"/&gt;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4825589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14027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PrettySqlFormat.java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java /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cmmm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log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PrettySqlFormat.java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808574EC-78A5-4601-9D73-04ACF1A36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2"/>
            <a:ext cx="6968624" cy="4883633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콘솔 쿼리정보 </a:t>
            </a:r>
            <a:r>
              <a:rPr lang="en-US" altLang="ko-KR" dirty="0"/>
              <a:t>Pretty sql format </a:t>
            </a:r>
            <a:r>
              <a:rPr lang="ko-KR" altLang="en-US" dirty="0"/>
              <a:t>적용 </a:t>
            </a:r>
            <a:r>
              <a:rPr lang="en-US" altLang="ko-KR" dirty="0"/>
              <a:t>- PrettySqlFormat.java</a:t>
            </a:r>
            <a:r>
              <a:rPr lang="ko-KR" altLang="en-US" dirty="0"/>
              <a:t>  추가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PrettySqlFormat.java</a:t>
            </a:r>
            <a:r>
              <a:rPr lang="ko-KR" altLang="en-US" sz="1200" dirty="0"/>
              <a:t> 출력 포맷 </a:t>
            </a:r>
            <a:r>
              <a:rPr lang="en-US" altLang="ko-KR" sz="1200" dirty="0"/>
              <a:t>Class </a:t>
            </a:r>
            <a:r>
              <a:rPr lang="ko-KR" altLang="en-US" sz="1200" dirty="0"/>
              <a:t>추가 → </a:t>
            </a:r>
            <a:r>
              <a:rPr lang="en-US" altLang="ko-KR" sz="1200" dirty="0" err="1"/>
              <a:t>spy.properties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802481" y="2991029"/>
            <a:ext cx="1342207" cy="31816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3152800" y="2209114"/>
            <a:ext cx="3802344" cy="41726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78BD6A-C738-4CDA-A6D3-0E9462A8D42B}"/>
              </a:ext>
            </a:extLst>
          </p:cNvPr>
          <p:cNvSpPr/>
          <p:nvPr/>
        </p:nvSpPr>
        <p:spPr>
          <a:xfrm>
            <a:off x="6680634" y="2996952"/>
            <a:ext cx="4321038" cy="53767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 erp.cmmn.log;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com.p6spy.engine.spy.appender.MessageFormattingStrategy;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PrettySqlFormat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implements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MessageFormattingStrategy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String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formatMessage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(int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connectionId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String now, long elapsed,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String category, String prepared, String sql, String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if (sql == null ||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sql.trim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isEmpty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return "";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return "\n\n/* SQL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실행시간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" + elapsed + 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*/\n"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+ pretty(sql)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+ "\n";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String pretty(String sql)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String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("\\s+", " ").trim();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s+from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 FROM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s+left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s+join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LEFT JOIN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s+right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s+join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RIGHT JOIN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s+inner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s+join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INNER JOIN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s+join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JOIN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  ON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s+where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WHERE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s+and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  AND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   OR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s+order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s+by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ORDER BY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s+group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s+by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GROUP BY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)\\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s+having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\\s+", "\n HAVING ");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if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text.toLowerCase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startsWith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("select "))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text.replaceFirst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("(?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)^select\\s+", "SELECT\n      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text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text.replaceAll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(",\\s*", "\n     , 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return text;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130957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71855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spy.properties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</a:t>
                      </a:r>
                      <a:r>
                        <a:rPr lang="en-US" altLang="ko-KR" sz="1050" b="1" dirty="0">
                          <a:solidFill>
                            <a:schemeClr val="accent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accent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반드시 해당 폴더 아래 파일 생성 필요</a:t>
                      </a:r>
                      <a:r>
                        <a:rPr lang="en-US" altLang="ko-KR" sz="1050" b="1" dirty="0">
                          <a:solidFill>
                            <a:schemeClr val="accent6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PrettySqlFormat.java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A18BCC03-7F0B-4A7E-98C4-CAF442FD0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2"/>
            <a:ext cx="6968624" cy="346689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콘솔 쿼리정보 </a:t>
            </a:r>
            <a:r>
              <a:rPr lang="en-US" altLang="ko-KR" dirty="0"/>
              <a:t>Pretty sql format </a:t>
            </a:r>
            <a:r>
              <a:rPr lang="ko-KR" altLang="en-US" dirty="0"/>
              <a:t>적용 </a:t>
            </a:r>
            <a:r>
              <a:rPr lang="en-US" altLang="ko-KR" dirty="0"/>
              <a:t>- </a:t>
            </a:r>
            <a:r>
              <a:rPr lang="en-US" altLang="ko-KR" dirty="0" err="1"/>
              <a:t>spy.properties</a:t>
            </a:r>
            <a:r>
              <a:rPr lang="ko-KR" altLang="en-US" dirty="0"/>
              <a:t>  추가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PrettySqlFormat.java</a:t>
            </a:r>
            <a:r>
              <a:rPr lang="ko-KR" altLang="en-US" sz="1200" dirty="0"/>
              <a:t> 출력 포맷 </a:t>
            </a:r>
            <a:r>
              <a:rPr lang="en-US" altLang="ko-KR" sz="1200" dirty="0"/>
              <a:t>Class </a:t>
            </a:r>
            <a:r>
              <a:rPr lang="ko-KR" altLang="en-US" sz="1200" dirty="0"/>
              <a:t>추가 → </a:t>
            </a:r>
            <a:r>
              <a:rPr lang="en-US" altLang="ko-KR" sz="1200" dirty="0" err="1"/>
              <a:t>spy.properties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1C0B0-EFF3-4C84-A3FD-B95A363D23C3}"/>
              </a:ext>
            </a:extLst>
          </p:cNvPr>
          <p:cNvSpPr/>
          <p:nvPr/>
        </p:nvSpPr>
        <p:spPr>
          <a:xfrm>
            <a:off x="640520" y="3155168"/>
            <a:ext cx="916745" cy="1947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BFBF7-E995-4A3C-8C3E-6831725EA47D}"/>
              </a:ext>
            </a:extLst>
          </p:cNvPr>
          <p:cNvSpPr/>
          <p:nvPr/>
        </p:nvSpPr>
        <p:spPr>
          <a:xfrm>
            <a:off x="3087310" y="2104472"/>
            <a:ext cx="4025929" cy="108278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8405BE-2B2C-415C-A14F-9996042F544A}"/>
              </a:ext>
            </a:extLst>
          </p:cNvPr>
          <p:cNvSpPr/>
          <p:nvPr/>
        </p:nvSpPr>
        <p:spPr>
          <a:xfrm>
            <a:off x="3296816" y="3465239"/>
            <a:ext cx="4680520" cy="15103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콘솔에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파싱된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쿼리 문장 들여쓰기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줄간격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매개변수 병합 처리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=com.p6spy.engine.spy.appender.Slf4JLogger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logMessageFormat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erp.cmmn.log.PrettySqlFormat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driverlist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excludecategories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info,debug,result,batch,resultset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dateformat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yyyy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-MM-dd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HH:mm:ss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561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29406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database.properties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config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database.properties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콘솔 쿼리정보 </a:t>
            </a:r>
            <a:r>
              <a:rPr lang="en-US" altLang="ko-KR" dirty="0"/>
              <a:t>Pretty sql format </a:t>
            </a:r>
            <a:r>
              <a:rPr lang="ko-KR" altLang="en-US" dirty="0"/>
              <a:t>적용 </a:t>
            </a:r>
            <a:r>
              <a:rPr lang="en-US" altLang="ko-KR" dirty="0"/>
              <a:t>- </a:t>
            </a:r>
            <a:r>
              <a:rPr lang="en-US" altLang="ko-KR" dirty="0" err="1"/>
              <a:t>database.properties</a:t>
            </a:r>
            <a:r>
              <a:rPr lang="ko-KR" altLang="en-US" dirty="0"/>
              <a:t> 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PrettySqlFormat.java</a:t>
            </a:r>
            <a:r>
              <a:rPr lang="ko-KR" altLang="en-US" sz="1200" dirty="0"/>
              <a:t> 출력 포맷 </a:t>
            </a:r>
            <a:r>
              <a:rPr lang="en-US" altLang="ko-KR" sz="1200" dirty="0"/>
              <a:t>Class </a:t>
            </a:r>
            <a:r>
              <a:rPr lang="ko-KR" altLang="en-US" sz="1200" dirty="0"/>
              <a:t>추가 → </a:t>
            </a:r>
            <a:r>
              <a:rPr lang="en-US" altLang="ko-KR" sz="1200" dirty="0" err="1"/>
              <a:t>spy.properties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파일 추가 →  </a:t>
            </a:r>
            <a:r>
              <a:rPr lang="en-US" altLang="ko-KR" sz="1200" dirty="0" err="1"/>
              <a:t>database.properties</a:t>
            </a:r>
            <a:r>
              <a:rPr lang="en-US" altLang="ko-KR" sz="1200" dirty="0"/>
              <a:t>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154DFD-2186-4038-B8D4-B8D4ACEF4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3"/>
            <a:ext cx="6936027" cy="299560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426FA7-4D22-4D84-9396-753465D6D6F1}"/>
              </a:ext>
            </a:extLst>
          </p:cNvPr>
          <p:cNvSpPr/>
          <p:nvPr/>
        </p:nvSpPr>
        <p:spPr>
          <a:xfrm>
            <a:off x="593232" y="4142831"/>
            <a:ext cx="1342207" cy="28513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638C07-93AF-4791-A907-1C55C9A194F3}"/>
              </a:ext>
            </a:extLst>
          </p:cNvPr>
          <p:cNvSpPr/>
          <p:nvPr/>
        </p:nvSpPr>
        <p:spPr>
          <a:xfrm>
            <a:off x="3181118" y="2132857"/>
            <a:ext cx="4115773" cy="123213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D61914-1D72-4755-85E2-32D65712650E}"/>
              </a:ext>
            </a:extLst>
          </p:cNvPr>
          <p:cNvSpPr/>
          <p:nvPr/>
        </p:nvSpPr>
        <p:spPr>
          <a:xfrm>
            <a:off x="6897216" y="3381604"/>
            <a:ext cx="4300077" cy="15554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프로퍼티 방식으로 변경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db.driver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#db.url=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jdbc:oracle:thin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:@127.0.0.1:1521:orcl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콘솔에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파싱된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쿼리 문장 들여쓰기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줄간격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매개변수 병합 처리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db.driver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=com.p6spy.engine.spy.P6SpyDriver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db.url=jdbc:p6spy:oracle:thin:@127.0.0.1:1521:orcl</a:t>
            </a: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db.username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nsys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db.password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=manager!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7551CE1-D26F-42EA-9B08-4DBC39E58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163" y="3938887"/>
            <a:ext cx="4671045" cy="287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291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4772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RefreshableSqlSessionFactoryBean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java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cmmn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web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RefreshableSqlSessionFactoryBean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6A82814-92E1-48EC-BCE5-A78814C3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3"/>
            <a:ext cx="6936028" cy="488363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Mapper sql.xml </a:t>
            </a:r>
            <a:r>
              <a:rPr lang="ko-KR" altLang="en-US" dirty="0" err="1"/>
              <a:t>수정시</a:t>
            </a:r>
            <a:r>
              <a:rPr lang="ko-KR" altLang="en-US" dirty="0"/>
              <a:t> 메모리 자동 반영 </a:t>
            </a:r>
            <a:r>
              <a:rPr lang="en-US" altLang="ko-KR" dirty="0"/>
              <a:t>– </a:t>
            </a:r>
            <a:r>
              <a:rPr lang="en-US" altLang="ko-KR" dirty="0" err="1"/>
              <a:t>RefreshableSqlSessionFactoryBean</a:t>
            </a:r>
            <a:r>
              <a:rPr lang="en-US" altLang="ko-KR" dirty="0"/>
              <a:t> </a:t>
            </a:r>
            <a:r>
              <a:rPr lang="ko-KR" altLang="en-US" dirty="0"/>
              <a:t>파일 추가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488" y="646976"/>
            <a:ext cx="9287991" cy="540000"/>
          </a:xfrm>
        </p:spPr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en-US" altLang="ko-KR" sz="1200" dirty="0" err="1"/>
              <a:t>RefreshableSqlSessionFactoryBean</a:t>
            </a:r>
            <a:r>
              <a:rPr lang="ko-KR" altLang="en-US" sz="1200" dirty="0"/>
              <a:t> </a:t>
            </a:r>
            <a:r>
              <a:rPr lang="en-US" altLang="ko-KR" sz="1200" dirty="0"/>
              <a:t>Class </a:t>
            </a:r>
            <a:r>
              <a:rPr lang="ko-KR" altLang="en-US" sz="1200" dirty="0"/>
              <a:t>추가 →</a:t>
            </a:r>
            <a:r>
              <a:rPr lang="en-US" altLang="ko-KR" sz="1200" dirty="0"/>
              <a:t> context-mapper.xml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426FA7-4D22-4D84-9396-753465D6D6F1}"/>
              </a:ext>
            </a:extLst>
          </p:cNvPr>
          <p:cNvSpPr/>
          <p:nvPr/>
        </p:nvSpPr>
        <p:spPr>
          <a:xfrm>
            <a:off x="856915" y="3222120"/>
            <a:ext cx="1548000" cy="2142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638C07-93AF-4791-A907-1C55C9A194F3}"/>
              </a:ext>
            </a:extLst>
          </p:cNvPr>
          <p:cNvSpPr/>
          <p:nvPr/>
        </p:nvSpPr>
        <p:spPr>
          <a:xfrm>
            <a:off x="2648744" y="2093976"/>
            <a:ext cx="4648147" cy="42147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D61914-1D72-4755-85E2-32D65712650E}"/>
              </a:ext>
            </a:extLst>
          </p:cNvPr>
          <p:cNvSpPr/>
          <p:nvPr/>
        </p:nvSpPr>
        <p:spPr>
          <a:xfrm>
            <a:off x="6393160" y="2996952"/>
            <a:ext cx="4804133" cy="35638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erp.cmmn.web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java.io.IOException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java.lang.reflect.InvocationHandler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java.lang.reflect.Method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java.lang.reflect.Proxy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java.util.HashMap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java.util.Map;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java.util.Timer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java.util.TimerTask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org.apache.ibatis.session.SqlSessionFactory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org.mybatis.spring.SqlSessionFactoryBean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org.slf4j.Logger;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org.slf4j.LoggerFactory;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org.springframework.core.io.Resource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/**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: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erp.cmmn.web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fileName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: RefreshableSqlSessionFactoryBean.java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@author         : Built1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@date           : 2026.06.18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@description    : XML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서버 재시작 없이 실시간으로 반영 파일</a:t>
            </a: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===========================================================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DATE              AUTHOR             NOTE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-----------------------------------------------------------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 2026.06.18        Built1       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최초 생성</a:t>
            </a: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RefreshableSqlSessionFactoryBean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extends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SqlSessionFactoryBean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static final Logger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logger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LoggerFactory.getLogger(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RefreshableSqlSessionFactoryBean.class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proxy;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int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5000; //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감시 주기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초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Timer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Resource[] mapperLocations;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void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setMapperLocations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(Resource... mapperLocations)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super.setMapperLocations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(mapperLocations);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this.mapperLocations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mapperLocations;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void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(int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void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afterPropertiesSet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throws Exception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super.afterPropertiesSet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setRefreshable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void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setRefreshable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proxy =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Proxy.newProxyInstance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SqlSessionFactory.class.getClassLoader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new Class[]{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SqlSessionFactory.class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},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new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InvocationHandler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private final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target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getTarget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public Object invoke(Object proxy, Method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method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Object[]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args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throws Throwable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return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method.invoke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getTarget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args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task();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private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getTarget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try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return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super.getObject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 catch (Exception e)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throw new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RuntimeException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SqlSessionFactory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getObject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return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this.proxy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public void task()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this.timer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new Timer(true);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this.timer.schedule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(new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TimerTask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private final Map&lt;Resource, Long&gt; map = new HashMap&lt;&gt;();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@Override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public void run()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if (mapperLocations == null) return;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for (Resource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: mapperLocations)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try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long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lastModified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resource.lastModified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if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map.containsKey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(resource))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if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lastModified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!=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map.get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(resource))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map.put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(resource,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lastModified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 catch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IOException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e)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logger.error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("XML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파일 수정 시간 확인 실패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e);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}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if 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isModified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try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logger.info("(*) SQL Mapper XML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변경 감지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 MyBatis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재빌드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시작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...");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afterPropertiesSet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logger.info("(*) MyBatis XML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리로딩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.");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 catch (Exception e) {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logger.error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("MyBatis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리로딩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실패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e);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}, 0,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013383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73427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context-mapper.xml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 / spring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context-mapper.xml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AB822871-D23B-4949-84E6-8B57002FF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5" y="1425093"/>
            <a:ext cx="6968624" cy="488363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Mapper sql.xml </a:t>
            </a:r>
            <a:r>
              <a:rPr lang="ko-KR" altLang="en-US" dirty="0" err="1"/>
              <a:t>수정시</a:t>
            </a:r>
            <a:r>
              <a:rPr lang="ko-KR" altLang="en-US" dirty="0"/>
              <a:t> 메모리 자동 반영 </a:t>
            </a:r>
            <a:r>
              <a:rPr lang="en-US" altLang="ko-KR" dirty="0"/>
              <a:t>– context-mapper.xml </a:t>
            </a:r>
            <a:r>
              <a:rPr lang="ko-KR" altLang="en-US" dirty="0"/>
              <a:t>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488" y="646976"/>
            <a:ext cx="9287991" cy="540000"/>
          </a:xfrm>
        </p:spPr>
        <p:txBody>
          <a:bodyPr/>
          <a:lstStyle/>
          <a:p>
            <a:r>
              <a:rPr lang="ko-KR" altLang="en-US" sz="1200" b="1" dirty="0">
                <a:solidFill>
                  <a:srgbClr val="00FFFF"/>
                </a:solidFill>
              </a:rPr>
              <a:t>콘솔에 쿼리정보</a:t>
            </a:r>
            <a:r>
              <a:rPr lang="ko-KR" altLang="en-US" sz="1200" dirty="0"/>
              <a:t>가 출력되는데 </a:t>
            </a:r>
            <a:r>
              <a:rPr lang="ko-KR" altLang="en-US" sz="1200" dirty="0" err="1"/>
              <a:t>줄간격</a:t>
            </a:r>
            <a:r>
              <a:rPr lang="en-US" altLang="ko-KR" sz="1200" dirty="0"/>
              <a:t>,</a:t>
            </a:r>
            <a:r>
              <a:rPr lang="ko-KR" altLang="en-US" sz="1200" dirty="0"/>
              <a:t>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매개변수 병합 등 </a:t>
            </a:r>
            <a:r>
              <a:rPr lang="ko-KR" altLang="en-US" sz="1200" b="1" dirty="0">
                <a:solidFill>
                  <a:srgbClr val="00FFFF"/>
                </a:solidFill>
              </a:rPr>
              <a:t>출력 포맷을 설정위한 작업</a:t>
            </a:r>
            <a:r>
              <a:rPr lang="ko-KR" altLang="en-US" sz="1200" dirty="0"/>
              <a:t>을 아래와 같이 진행합니다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en-US" altLang="ko-KR" sz="1200" dirty="0" err="1"/>
              <a:t>RefreshableSqlSessionFactoryBean</a:t>
            </a:r>
            <a:r>
              <a:rPr lang="ko-KR" altLang="en-US" sz="1200" dirty="0"/>
              <a:t> </a:t>
            </a:r>
            <a:r>
              <a:rPr lang="en-US" altLang="ko-KR" sz="1200" dirty="0"/>
              <a:t>Class </a:t>
            </a:r>
            <a:r>
              <a:rPr lang="ko-KR" altLang="en-US" sz="1200" dirty="0"/>
              <a:t>추가 →</a:t>
            </a:r>
            <a:r>
              <a:rPr lang="en-US" altLang="ko-KR" sz="1200" dirty="0"/>
              <a:t> context-mapper.xml </a:t>
            </a:r>
            <a:r>
              <a:rPr lang="ko-KR" altLang="en-US" sz="1200" dirty="0"/>
              <a:t>수정 → </a:t>
            </a:r>
            <a:r>
              <a:rPr lang="en-US" altLang="ko-KR" sz="1200" dirty="0"/>
              <a:t>project or tomcat clean </a:t>
            </a:r>
            <a:r>
              <a:rPr lang="ko-KR" altLang="en-US" sz="1200" dirty="0"/>
              <a:t>→ </a:t>
            </a:r>
            <a:r>
              <a:rPr lang="en-US" altLang="ko-KR" sz="1200" dirty="0"/>
              <a:t>tomcat run</a:t>
            </a:r>
            <a:r>
              <a:rPr lang="ko-KR" altLang="en-US" sz="1200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139989-A0DF-4F38-AA0C-5B9125BB9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426FA7-4D22-4D84-9396-753465D6D6F1}"/>
              </a:ext>
            </a:extLst>
          </p:cNvPr>
          <p:cNvSpPr/>
          <p:nvPr/>
        </p:nvSpPr>
        <p:spPr>
          <a:xfrm>
            <a:off x="621613" y="3654168"/>
            <a:ext cx="1163035" cy="2142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638C07-93AF-4791-A907-1C55C9A194F3}"/>
              </a:ext>
            </a:extLst>
          </p:cNvPr>
          <p:cNvSpPr/>
          <p:nvPr/>
        </p:nvSpPr>
        <p:spPr>
          <a:xfrm>
            <a:off x="2648745" y="2758835"/>
            <a:ext cx="3744416" cy="4541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D61914-1D72-4755-85E2-32D65712650E}"/>
              </a:ext>
            </a:extLst>
          </p:cNvPr>
          <p:cNvSpPr/>
          <p:nvPr/>
        </p:nvSpPr>
        <p:spPr>
          <a:xfrm>
            <a:off x="6393160" y="2996952"/>
            <a:ext cx="6912768" cy="4075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setup for MyBatis Database Layer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전자정부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4.3.1 - XML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변경 자동 반영을 위한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RefreshableSqlSessionFactoryBean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적용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erp.cmmn.web.RefreshableSqlSessionFactoryBean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name="configLocation"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:/erp/sqlmap/config/sql-mapper-config.xml"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name="mapperLocations"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:/erp/sqlmap/mappers/**/*.xml"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실시간 감지 주기 설정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밀리초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단위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1000 = 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초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checkInterval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value="1000"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setup for MyBatis Database Layer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MyBatis Mapper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스캔 경로 설정 및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Mapper SQL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경로 설정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SQL Mapper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자동 변경설정으로 주석 처리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org.mybatis.spring.SqlSessionFactoryBean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name="configLocation"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:/erp/sqlmap/config/sql-mapper-config.xml"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name="mapperLocations"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:/erp/sqlmap/mappers/**/*.xml"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MapperConfigurer setup for MyBatis Database Layer with @Mapper("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deptMapper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 in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DeptMapper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Interface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Mapper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인터페이스 호출을 위한 경로 설정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org.egovframe.rte.psl.dataaccess.mapper.MapperConfigurer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name="basePackage" value="erp"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16150352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313735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EC138BE-3693-45CA-9D7A-7CB021930F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웹 개발 명명규칙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EB494466-AF01-413D-B1C3-F1F77D743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웹 개발에 대한 명명규칙을 아래와 같이 정의합니다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10F1FDB-B616-4A9E-9C0B-F78DACF5EB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5E7192F-16F5-47BE-B0BD-AA5B39CD3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025646"/>
              </p:ext>
            </p:extLst>
          </p:nvPr>
        </p:nvGraphicFramePr>
        <p:xfrm>
          <a:off x="273050" y="1341438"/>
          <a:ext cx="9360470" cy="2727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53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79874752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814371988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647028362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업무구분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개발항목번호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개발구분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개발파일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시스템관리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초기값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10000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증가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10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서브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보고서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COM10000M.xfdl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자바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COM10000MController.java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COM10000MService.java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COM10000MServiceImpl.java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COM10000MMapper.java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COM10000MMapperSQL.XML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공통코드관리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HCM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인사관리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69E07E7-CE87-4DFA-B028-82C4AF7FD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874490"/>
              </p:ext>
            </p:extLst>
          </p:nvPr>
        </p:nvGraphicFramePr>
        <p:xfrm>
          <a:off x="273050" y="4225701"/>
          <a:ext cx="9360470" cy="2083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621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234294211"/>
                    </a:ext>
                  </a:extLst>
                </a:gridCol>
              </a:tblGrid>
              <a:tr h="414720"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minify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될 경우 가독성을 위하여 소스 복원 사이트</a:t>
                      </a:r>
                      <a:endParaRPr lang="en-US" altLang="ko-KR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https://beautifier.io/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1581479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js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소스를 복사 후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Beautify Code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버튼을 클릭</a:t>
                      </a: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498C4B5-E8C5-4B62-BACF-0069C471E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35" y="4750224"/>
            <a:ext cx="6979621" cy="14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7193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31399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81047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작업 폴더 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Tools / Options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Environment / General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Working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Folder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N24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버전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Product Version : 21.0.0.2100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File Version : 2026.5.22.1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</a:t>
            </a:r>
            <a:r>
              <a:rPr lang="en-US" altLang="ko-KR" dirty="0"/>
              <a:t>– </a:t>
            </a:r>
            <a:r>
              <a:rPr lang="ko-KR" altLang="en-US" dirty="0"/>
              <a:t>작업 경로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</a:t>
            </a:r>
            <a:r>
              <a:rPr lang="en-US" altLang="ko-KR" dirty="0"/>
              <a:t>(</a:t>
            </a:r>
            <a:r>
              <a:rPr lang="en-US" altLang="ko-KR" b="1" dirty="0" err="1">
                <a:solidFill>
                  <a:srgbClr val="00FFFF"/>
                </a:solidFill>
              </a:rPr>
              <a:t>nbdf-ui</a:t>
            </a:r>
            <a:r>
              <a:rPr lang="en-US" altLang="ko-KR" dirty="0"/>
              <a:t>)</a:t>
            </a:r>
            <a:r>
              <a:rPr lang="ko-KR" altLang="en-US" dirty="0"/>
              <a:t> 화면 구성을 위한 </a:t>
            </a:r>
            <a:r>
              <a:rPr lang="ko-KR" altLang="en-US" b="1" dirty="0">
                <a:solidFill>
                  <a:srgbClr val="00FFFF"/>
                </a:solidFill>
              </a:rPr>
              <a:t>작업 폴더 경로</a:t>
            </a:r>
            <a:r>
              <a:rPr lang="ko-KR" altLang="en-US" dirty="0"/>
              <a:t>를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프로젝트 경로 </a:t>
            </a:r>
            <a:r>
              <a:rPr lang="en-US" altLang="ko-KR" dirty="0"/>
              <a:t>: E:\yBDF\workspace\nbdf\src\main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CB5B4C-7781-4656-89CC-5E4B57F1F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19" y="1424850"/>
            <a:ext cx="3895725" cy="21812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36E530A-33BB-47EE-9EF5-825F895A0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530" y="2418731"/>
            <a:ext cx="5089958" cy="388999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20C16EC-24AF-403A-8D9D-0C52373B77AA}"/>
              </a:ext>
            </a:extLst>
          </p:cNvPr>
          <p:cNvSpPr/>
          <p:nvPr/>
        </p:nvSpPr>
        <p:spPr>
          <a:xfrm>
            <a:off x="3681348" y="2725248"/>
            <a:ext cx="3456384" cy="3421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AA5A2C-6236-4965-8B87-060064891193}"/>
              </a:ext>
            </a:extLst>
          </p:cNvPr>
          <p:cNvSpPr/>
          <p:nvPr/>
        </p:nvSpPr>
        <p:spPr>
          <a:xfrm>
            <a:off x="1768320" y="1912822"/>
            <a:ext cx="1211441" cy="2570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291EA20-1EDE-40D2-B0D2-745BEB67C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19" y="3694691"/>
            <a:ext cx="3734912" cy="26431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B9FE51-55F5-41E8-BAC5-94DA12133AFC}"/>
              </a:ext>
            </a:extLst>
          </p:cNvPr>
          <p:cNvSpPr/>
          <p:nvPr/>
        </p:nvSpPr>
        <p:spPr>
          <a:xfrm>
            <a:off x="2384249" y="4263890"/>
            <a:ext cx="1211441" cy="2570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05544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40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프로젝트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Project Wizard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Project name : </a:t>
                      </a:r>
                      <a:r>
                        <a:rPr lang="en-US" altLang="ko-KR" sz="105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nbdf-ui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Location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E:\nBDF\workspace\nbdf\src\main\nbdf-ui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신규 프로젝트 생성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</a:t>
            </a:r>
            <a:r>
              <a:rPr lang="en-US" altLang="ko-KR" dirty="0"/>
              <a:t>(</a:t>
            </a:r>
            <a:r>
              <a:rPr lang="en-US" altLang="ko-KR" dirty="0" err="1"/>
              <a:t>nbdf-ui</a:t>
            </a:r>
            <a:r>
              <a:rPr lang="en-US" altLang="ko-KR" dirty="0"/>
              <a:t>)</a:t>
            </a:r>
            <a:r>
              <a:rPr lang="ko-KR" altLang="en-US" dirty="0"/>
              <a:t> 화면 구성을 위하여 넥사크로에서 </a:t>
            </a:r>
            <a:r>
              <a:rPr lang="en-US" altLang="ko-KR" dirty="0"/>
              <a:t>UI </a:t>
            </a:r>
            <a:r>
              <a:rPr lang="ko-KR" altLang="en-US" dirty="0"/>
              <a:t>폴더를 아래와 같이 지정 후 </a:t>
            </a:r>
            <a:r>
              <a:rPr lang="ko-KR" altLang="en-US" b="1" dirty="0">
                <a:solidFill>
                  <a:srgbClr val="00FFFF"/>
                </a:solidFill>
              </a:rPr>
              <a:t>넥사크로 프로젝트를 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프로젝트 경로 </a:t>
            </a:r>
            <a:r>
              <a:rPr lang="en-US" altLang="ko-KR" dirty="0"/>
              <a:t>: E:\yBDF\workspace\nbdf\src\main\</a:t>
            </a:r>
            <a:r>
              <a:rPr lang="en-US" altLang="ko-KR" b="1" dirty="0">
                <a:solidFill>
                  <a:srgbClr val="00FFFF"/>
                </a:solidFill>
              </a:rPr>
              <a:t>nbdf-ui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BD7495-2372-436F-A4DF-19E0A0032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32451"/>
            <a:ext cx="6985000" cy="487627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83EBE36-CF1A-4721-AA36-74AE7A9F5135}"/>
              </a:ext>
            </a:extLst>
          </p:cNvPr>
          <p:cNvSpPr/>
          <p:nvPr/>
        </p:nvSpPr>
        <p:spPr>
          <a:xfrm>
            <a:off x="1298121" y="2828467"/>
            <a:ext cx="541006" cy="28280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0EB33E-2F97-4662-9975-2AA477082DCD}"/>
              </a:ext>
            </a:extLst>
          </p:cNvPr>
          <p:cNvSpPr/>
          <p:nvPr/>
        </p:nvSpPr>
        <p:spPr>
          <a:xfrm>
            <a:off x="2576736" y="5085184"/>
            <a:ext cx="1224136" cy="28280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41446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86384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New Project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Desktop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Favorite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Full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신규 프로젝트 생성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구성을 위한 형식을 </a:t>
            </a:r>
            <a:r>
              <a:rPr lang="en-US" altLang="ko-KR" dirty="0"/>
              <a:t>Desktop </a:t>
            </a:r>
            <a:r>
              <a:rPr lang="ko-KR" altLang="en-US" dirty="0"/>
              <a:t>형식을 선택합니다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B909C34-2531-4F5C-9A69-455456A18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447210" cy="48958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49F2B17-1026-4DDC-9AB7-571AE0E8A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061" y="3754623"/>
            <a:ext cx="3363427" cy="25541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1F9FC07-D9A5-4222-8A93-7CD66EF99A16}"/>
              </a:ext>
            </a:extLst>
          </p:cNvPr>
          <p:cNvSpPr/>
          <p:nvPr/>
        </p:nvSpPr>
        <p:spPr>
          <a:xfrm>
            <a:off x="436898" y="2341735"/>
            <a:ext cx="2034840" cy="36447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4DF3E7-73B0-4819-8401-1A141DEB7C08}"/>
              </a:ext>
            </a:extLst>
          </p:cNvPr>
          <p:cNvSpPr/>
          <p:nvPr/>
        </p:nvSpPr>
        <p:spPr>
          <a:xfrm>
            <a:off x="5255320" y="4480544"/>
            <a:ext cx="423961" cy="38861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496077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03901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nbdf-ui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생성 완료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007C2873-84AD-4D80-B969-8DCC33996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985000" cy="4895850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신규 프로젝트 생성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nbdf-</a:t>
            </a:r>
            <a:r>
              <a:rPr lang="en-US" altLang="ko-KR" b="1" dirty="0" err="1">
                <a:solidFill>
                  <a:srgbClr val="00FFFF"/>
                </a:solidFill>
              </a:rPr>
              <a:t>ui</a:t>
            </a:r>
            <a:r>
              <a:rPr lang="en-US" altLang="ko-KR" b="1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프로젝트 구성이 완료된 내용입니다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3DB7150-CF74-44B0-82B0-9945D208A299}"/>
              </a:ext>
            </a:extLst>
          </p:cNvPr>
          <p:cNvSpPr/>
          <p:nvPr/>
        </p:nvSpPr>
        <p:spPr>
          <a:xfrm>
            <a:off x="337344" y="2276872"/>
            <a:ext cx="936104" cy="14978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37028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25465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UI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컴파일 경로 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Options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아이콘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Options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Options / Generate / General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Generate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Path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E:\nBDF\workspace\nbdf\src\main\nbdf-ui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재검파일 확인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Yes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컴파일된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프로젝트 이클립스에서 확인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소스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scr / main / nbdf-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ui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컴파일된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소스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scr / main / webapp / nbdf-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ui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 err="1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넥사크로버전과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전자정부 버전 풀일치시 넥사크로 </a:t>
                      </a:r>
                      <a:r>
                        <a:rPr lang="ko-KR" altLang="en-US" sz="1050" b="0" dirty="0" err="1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컴파일된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파일에 오류가 발생</a:t>
                      </a:r>
                      <a:endParaRPr lang="en-US" altLang="ko-KR" sz="1050" b="0" dirty="0">
                        <a:solidFill>
                          <a:srgbClr val="FF33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C35F9CC0-D342-48D7-B733-EC7EE8E3A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45" y="1432804"/>
            <a:ext cx="5178119" cy="3575368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</a:t>
            </a:r>
            <a:r>
              <a:rPr lang="en-US" altLang="ko-KR" dirty="0"/>
              <a:t>– </a:t>
            </a:r>
            <a:r>
              <a:rPr lang="ko-KR" altLang="en-US" dirty="0"/>
              <a:t>컴파일 폴더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 프레임워크가 구동하기 위한 표준 라이브러리 파일을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넥사크로 설치된 디렉터리 아래 </a:t>
            </a:r>
            <a:r>
              <a:rPr lang="en-US" altLang="ko-KR" dirty="0"/>
              <a:t>nexacrolib </a:t>
            </a:r>
            <a:r>
              <a:rPr lang="ko-KR" altLang="en-US" dirty="0"/>
              <a:t>폴더를 </a:t>
            </a:r>
            <a:r>
              <a:rPr lang="en-US" altLang="ko-KR" dirty="0" err="1"/>
              <a:t>nbdf-ui</a:t>
            </a:r>
            <a:r>
              <a:rPr lang="en-US" altLang="ko-KR" dirty="0"/>
              <a:t> </a:t>
            </a:r>
            <a:r>
              <a:rPr lang="ko-KR" altLang="en-US" dirty="0"/>
              <a:t>폴더로 복사 후 옵션을 수정합니다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151625-3F21-46BE-B70B-C43D39FA1758}"/>
              </a:ext>
            </a:extLst>
          </p:cNvPr>
          <p:cNvSpPr/>
          <p:nvPr/>
        </p:nvSpPr>
        <p:spPr>
          <a:xfrm>
            <a:off x="2200368" y="1809180"/>
            <a:ext cx="271799" cy="2438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9F5E184-0BE3-40CC-8215-AD14B47C9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678" y="2110773"/>
            <a:ext cx="5116810" cy="391051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672135-B184-4ED0-A25A-1668BC8A6A6A}"/>
              </a:ext>
            </a:extLst>
          </p:cNvPr>
          <p:cNvSpPr/>
          <p:nvPr/>
        </p:nvSpPr>
        <p:spPr>
          <a:xfrm>
            <a:off x="3697676" y="2422913"/>
            <a:ext cx="3456384" cy="3600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E005114-7A41-4C07-9F7E-87EC777E5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983" y="3701806"/>
            <a:ext cx="3467100" cy="1600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2BAFC80-3F40-401F-A24C-C5524C9260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260" y="2879368"/>
            <a:ext cx="1697004" cy="3494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113BE4-A244-4523-A2E0-00ACBFAC99B3}"/>
              </a:ext>
            </a:extLst>
          </p:cNvPr>
          <p:cNvSpPr/>
          <p:nvPr/>
        </p:nvSpPr>
        <p:spPr>
          <a:xfrm>
            <a:off x="5802016" y="3645024"/>
            <a:ext cx="1527248" cy="10081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8700D7-9178-4B66-80AB-C14FBD31C44F}"/>
              </a:ext>
            </a:extLst>
          </p:cNvPr>
          <p:cNvSpPr/>
          <p:nvPr/>
        </p:nvSpPr>
        <p:spPr>
          <a:xfrm>
            <a:off x="5802016" y="5090970"/>
            <a:ext cx="1527248" cy="11200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4778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85140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폰트 변경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Tool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Options / Environment / Font and Color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General,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Message, Script, Source, CSS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각각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Font : D2Coding / Regular / 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폰트 변경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프로그램 환경의 </a:t>
            </a:r>
            <a:r>
              <a:rPr lang="ko-KR" altLang="en-US" b="1" dirty="0">
                <a:solidFill>
                  <a:srgbClr val="00FFFF"/>
                </a:solidFill>
              </a:rPr>
              <a:t>폰트 크기</a:t>
            </a:r>
            <a:r>
              <a:rPr lang="ko-KR" altLang="en-US" dirty="0"/>
              <a:t>를 아래와 같이 변경합니다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폰트 </a:t>
            </a:r>
            <a:r>
              <a:rPr lang="en-US" altLang="ko-KR" dirty="0"/>
              <a:t>: General, Message, Script, Source, CSS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F8B4723-CC41-433E-9F10-30E9B05CB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1239"/>
            <a:ext cx="6124922" cy="4680964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41753C-F406-41F7-8D0D-A112EE80D4FF}"/>
              </a:ext>
            </a:extLst>
          </p:cNvPr>
          <p:cNvSpPr/>
          <p:nvPr/>
        </p:nvSpPr>
        <p:spPr>
          <a:xfrm>
            <a:off x="3406949" y="1753648"/>
            <a:ext cx="1402035" cy="4512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2E41A6-C1C0-4DFC-B283-55563F56D2D2}"/>
              </a:ext>
            </a:extLst>
          </p:cNvPr>
          <p:cNvSpPr/>
          <p:nvPr/>
        </p:nvSpPr>
        <p:spPr>
          <a:xfrm>
            <a:off x="4808984" y="1753648"/>
            <a:ext cx="1402035" cy="5952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58E279-080F-40B4-AB89-3A89EA0A25F9}"/>
              </a:ext>
            </a:extLst>
          </p:cNvPr>
          <p:cNvSpPr/>
          <p:nvPr/>
        </p:nvSpPr>
        <p:spPr>
          <a:xfrm>
            <a:off x="2144688" y="1997004"/>
            <a:ext cx="792087" cy="15760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20871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git </a:t>
            </a:r>
            <a:r>
              <a:rPr lang="ko-KR" altLang="en-US" dirty="0">
                <a:solidFill>
                  <a:srgbClr val="0000FF"/>
                </a:solidFill>
              </a:rPr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878807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56425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다운로드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다운로드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Git for Windows/x64 Setup.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링크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Git-2.54.0-64-bit.exe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/>
              <a:t>소프트웨어 다운로드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형상관리를 위한  </a:t>
            </a:r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소프트웨어를 </a:t>
            </a:r>
            <a:r>
              <a:rPr lang="ko-KR" altLang="en-US" dirty="0"/>
              <a:t>설치합니다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URL : https://git-scm.com/install/windows?utm_source=chatgpt.com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619A67-0569-4E70-84A5-9C5C776FF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12" y="1422003"/>
            <a:ext cx="6978876" cy="48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4618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/>
              <a:t>소프트웨어 설치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소프트웨어를 하기 기준으로 설치합니다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454A9FF-2AAE-4DA6-BA5E-CE0728D11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987603"/>
            <a:ext cx="2300741" cy="178519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54B7B4-59DA-4279-BD88-E6BB3D470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113" y="987603"/>
            <a:ext cx="2300742" cy="17851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6A5ECCC-251C-419F-A169-3A39F8175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739" y="987603"/>
            <a:ext cx="2300741" cy="178519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038BE51-2C35-417E-AA11-8283399A1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364" y="987603"/>
            <a:ext cx="2287993" cy="177529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5A10D64-9845-454D-8A8E-AE05523103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489" y="2832821"/>
            <a:ext cx="2300742" cy="178519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D7B53C8-E1DA-4753-B48A-38F0147FDB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7113" y="2832821"/>
            <a:ext cx="2287993" cy="177529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AB03FB4-4B62-464D-A44C-0608F5CD45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1734" y="2832821"/>
            <a:ext cx="2287993" cy="177529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B0DDACA-8842-4F41-B704-04A2358692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2363" y="2832820"/>
            <a:ext cx="2287993" cy="177529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2485B78-F1E1-4A3E-9604-4DC9D8BD04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490" y="4678037"/>
            <a:ext cx="2285996" cy="1773749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9158A7E1-D079-4F70-960F-A63373ACBA6F}"/>
              </a:ext>
            </a:extLst>
          </p:cNvPr>
          <p:cNvSpPr/>
          <p:nvPr/>
        </p:nvSpPr>
        <p:spPr>
          <a:xfrm>
            <a:off x="5164115" y="2057036"/>
            <a:ext cx="1988450" cy="15816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E08E108-5205-469E-A8FF-AA3D681E0047}"/>
              </a:ext>
            </a:extLst>
          </p:cNvPr>
          <p:cNvSpPr/>
          <p:nvPr/>
        </p:nvSpPr>
        <p:spPr>
          <a:xfrm>
            <a:off x="2668254" y="3488174"/>
            <a:ext cx="1988450" cy="59703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9360EC4-D881-4E5B-9D93-03CB619C0171}"/>
              </a:ext>
            </a:extLst>
          </p:cNvPr>
          <p:cNvSpPr/>
          <p:nvPr/>
        </p:nvSpPr>
        <p:spPr>
          <a:xfrm>
            <a:off x="7372325" y="3212938"/>
            <a:ext cx="1988450" cy="15816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CF9D5E1-48C3-4E08-B657-40CFD49955AC}"/>
              </a:ext>
            </a:extLst>
          </p:cNvPr>
          <p:cNvSpPr/>
          <p:nvPr/>
        </p:nvSpPr>
        <p:spPr>
          <a:xfrm>
            <a:off x="352108" y="5043656"/>
            <a:ext cx="1988450" cy="15816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ED6FE94-3097-4C77-885C-524ECAF04A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7113" y="4678036"/>
            <a:ext cx="2285996" cy="1773749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2987693B-B35E-4442-A256-FB42F4C69E4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11734" y="4678037"/>
            <a:ext cx="2285996" cy="1773749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9C3760F-219A-4701-BE1C-5A682EF85B1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6561" y="4678037"/>
            <a:ext cx="2285994" cy="177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52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/>
              <a:t>소프트웨어 설치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488" y="646976"/>
            <a:ext cx="9287991" cy="540000"/>
          </a:xfrm>
        </p:spPr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소프트웨어를 </a:t>
            </a:r>
            <a:r>
              <a:rPr lang="ko-KR" altLang="en-US" dirty="0"/>
              <a:t>설치 후 이클립스에 </a:t>
            </a:r>
            <a:r>
              <a:rPr lang="ko-KR" altLang="en-US" b="1" dirty="0">
                <a:solidFill>
                  <a:srgbClr val="00FFFF"/>
                </a:solidFill>
              </a:rPr>
              <a:t>터미널 창</a:t>
            </a:r>
            <a:r>
              <a:rPr lang="ko-KR" altLang="en-US" dirty="0"/>
              <a:t>을 아래와 같이 추가합니다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깃 버전 </a:t>
            </a:r>
            <a:r>
              <a:rPr lang="en-US" altLang="ko-KR" dirty="0"/>
              <a:t>: git --version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E764A5-BFC2-43DB-B87A-956681ED9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7" y="1415570"/>
            <a:ext cx="2287023" cy="177454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ACAF8A9-489F-4292-8FA3-AE3F1BEDF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113" y="1414817"/>
            <a:ext cx="2287993" cy="1775299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FD57190-F2CE-4377-8494-B9842FC71ADB}"/>
              </a:ext>
            </a:extLst>
          </p:cNvPr>
          <p:cNvSpPr/>
          <p:nvPr/>
        </p:nvSpPr>
        <p:spPr>
          <a:xfrm>
            <a:off x="2792760" y="1747232"/>
            <a:ext cx="1728192" cy="7408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3F5F046-DADA-40C4-BE3E-634FB3859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840" y="1414817"/>
            <a:ext cx="2281890" cy="1770564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F9D8B4E1-5454-4F9C-B646-187D0339C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364" y="1414816"/>
            <a:ext cx="2281890" cy="177056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300CC4-F4A8-43BE-AAA5-BDF650DE4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7320" y="3429000"/>
            <a:ext cx="3886200" cy="202882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91A6BAF-447E-424F-A79C-E56471D7AD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855" y="3730653"/>
            <a:ext cx="1689609" cy="211201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5D4A1E-AAAC-457F-8BFD-3A7B92124D60}"/>
              </a:ext>
            </a:extLst>
          </p:cNvPr>
          <p:cNvSpPr/>
          <p:nvPr/>
        </p:nvSpPr>
        <p:spPr>
          <a:xfrm>
            <a:off x="7962096" y="3718228"/>
            <a:ext cx="256885" cy="2360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1B63F75-350B-43CA-A4F3-B32009393B32}"/>
              </a:ext>
            </a:extLst>
          </p:cNvPr>
          <p:cNvSpPr/>
          <p:nvPr/>
        </p:nvSpPr>
        <p:spPr>
          <a:xfrm>
            <a:off x="5776235" y="4603226"/>
            <a:ext cx="2057085" cy="4599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D9430BE-76EC-469D-B399-A02577D9C0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931" y="3486703"/>
            <a:ext cx="3776662" cy="2224087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35DE943A-8AD6-487B-A695-909B1CF5A47F}"/>
              </a:ext>
            </a:extLst>
          </p:cNvPr>
          <p:cNvSpPr/>
          <p:nvPr/>
        </p:nvSpPr>
        <p:spPr>
          <a:xfrm>
            <a:off x="2687402" y="5524852"/>
            <a:ext cx="1545518" cy="195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37D6563-3EEB-4D0F-B04F-D50FCAF323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7104" y="2887111"/>
            <a:ext cx="1769122" cy="2489448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6283C7EA-B868-4237-B00A-8726629A91AB}"/>
              </a:ext>
            </a:extLst>
          </p:cNvPr>
          <p:cNvSpPr/>
          <p:nvPr/>
        </p:nvSpPr>
        <p:spPr>
          <a:xfrm>
            <a:off x="3987738" y="4300716"/>
            <a:ext cx="1545518" cy="28562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03569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>
                <a:solidFill>
                  <a:srgbClr val="0000FF"/>
                </a:solidFill>
              </a:rPr>
              <a:t>GitHub Repository</a:t>
            </a:r>
            <a:r>
              <a:rPr lang="ko-KR" altLang="en-US" dirty="0">
                <a:solidFill>
                  <a:srgbClr val="0000FF"/>
                </a:solidFill>
              </a:rPr>
              <a:t> 생성 및 </a:t>
            </a:r>
            <a:r>
              <a:rPr lang="en-US" altLang="ko-KR" dirty="0">
                <a:solidFill>
                  <a:srgbClr val="0000FF"/>
                </a:solidFill>
              </a:rPr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4039461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Eclipse EGit + GitHub </a:t>
            </a:r>
            <a:r>
              <a:rPr lang="ko-KR" altLang="en-US" dirty="0"/>
              <a:t>연결 방법 </a:t>
            </a:r>
            <a:r>
              <a:rPr lang="en-US" altLang="ko-KR" dirty="0"/>
              <a:t>(</a:t>
            </a:r>
            <a:r>
              <a:rPr lang="ko-KR" altLang="en-US" dirty="0"/>
              <a:t>전자정부프레임워크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전자정부프레임워크 </a:t>
            </a:r>
            <a:r>
              <a:rPr lang="en-US" altLang="ko-KR" dirty="0"/>
              <a:t>4.3 + Eclipse + </a:t>
            </a:r>
            <a:r>
              <a:rPr lang="en-US" altLang="ko-KR" b="1" dirty="0">
                <a:solidFill>
                  <a:srgbClr val="00FFFF"/>
                </a:solidFill>
              </a:rPr>
              <a:t>eGit </a:t>
            </a:r>
            <a:r>
              <a:rPr lang="ko-KR" altLang="en-US" b="1" dirty="0">
                <a:solidFill>
                  <a:srgbClr val="00FFFF"/>
                </a:solidFill>
              </a:rPr>
              <a:t>환경에서 </a:t>
            </a:r>
            <a:r>
              <a:rPr lang="en-US" altLang="ko-KR" b="1" dirty="0">
                <a:solidFill>
                  <a:srgbClr val="00FFFF"/>
                </a:solidFill>
              </a:rPr>
              <a:t>GitHub </a:t>
            </a:r>
            <a:r>
              <a:rPr lang="ko-KR" altLang="en-US" b="1" dirty="0">
                <a:solidFill>
                  <a:srgbClr val="00FFFF"/>
                </a:solidFill>
              </a:rPr>
              <a:t>저장소</a:t>
            </a:r>
            <a:r>
              <a:rPr lang="en-US" altLang="ko-KR" b="1" dirty="0">
                <a:solidFill>
                  <a:srgbClr val="00FFFF"/>
                </a:solidFill>
              </a:rPr>
              <a:t>(Remote Repository)</a:t>
            </a:r>
            <a:r>
              <a:rPr lang="ko-KR" altLang="en-US" b="1" dirty="0">
                <a:solidFill>
                  <a:srgbClr val="00FFFF"/>
                </a:solidFill>
              </a:rPr>
              <a:t>와 연결하는 전체 흐름</a:t>
            </a:r>
            <a:r>
              <a:rPr lang="ko-KR" altLang="en-US" dirty="0"/>
              <a:t>은 아래와 같습니다</a:t>
            </a:r>
            <a:r>
              <a:rPr lang="en-US" altLang="ko-KR" dirty="0"/>
              <a:t>.  </a:t>
            </a:r>
            <a:r>
              <a:rPr lang="en-US" altLang="ko-KR" b="1" dirty="0">
                <a:solidFill>
                  <a:srgbClr val="00FF00"/>
                </a:solidFill>
              </a:rPr>
              <a:t>(</a:t>
            </a:r>
            <a:r>
              <a:rPr lang="ko-KR" altLang="en-US" b="1" dirty="0">
                <a:solidFill>
                  <a:srgbClr val="00FF00"/>
                </a:solidFill>
              </a:rPr>
              <a:t>참고 </a:t>
            </a:r>
            <a:r>
              <a:rPr lang="en-US" altLang="ko-KR" b="1" dirty="0">
                <a:solidFill>
                  <a:srgbClr val="00FF00"/>
                </a:solidFill>
              </a:rPr>
              <a:t>– </a:t>
            </a:r>
            <a:r>
              <a:rPr lang="ko-KR" altLang="en-US" b="1" dirty="0">
                <a:solidFill>
                  <a:srgbClr val="00FF00"/>
                </a:solidFill>
              </a:rPr>
              <a:t>지금까지 작업한 프로젝트를 반디집으로 압축하여 백업합니다</a:t>
            </a:r>
            <a:r>
              <a:rPr lang="en-US" altLang="ko-KR" b="1" dirty="0">
                <a:solidFill>
                  <a:srgbClr val="00FF00"/>
                </a:solidFill>
              </a:rPr>
              <a:t>.)</a:t>
            </a:r>
            <a:endParaRPr lang="ko-KR" altLang="en-US" b="1" dirty="0">
              <a:solidFill>
                <a:srgbClr val="00FF00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87A3231-F0EF-461D-BADC-20EBCEF376CA}"/>
              </a:ext>
            </a:extLst>
          </p:cNvPr>
          <p:cNvGrpSpPr/>
          <p:nvPr/>
        </p:nvGrpSpPr>
        <p:grpSpPr>
          <a:xfrm>
            <a:off x="5135436" y="1696063"/>
            <a:ext cx="2880000" cy="720000"/>
            <a:chOff x="6313589" y="2207054"/>
            <a:chExt cx="1620000" cy="748599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93CABA1-3F55-46F2-9797-3882194A8E75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Create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project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78F6360-291C-4181-B864-F45DE09D088B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</a:t>
              </a:r>
              <a:endParaRPr lang="ko-KR" altLang="en-US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5" name="연결선: 꺾임 64">
            <a:extLst>
              <a:ext uri="{FF2B5EF4-FFF2-40B4-BE49-F238E27FC236}">
                <a16:creationId xmlns:a16="http://schemas.microsoft.com/office/drawing/2014/main" id="{6DF10E8D-A6DD-49F5-BEB6-4B4EFF841CBD}"/>
              </a:ext>
            </a:extLst>
          </p:cNvPr>
          <p:cNvCxnSpPr>
            <a:cxnSpLocks/>
            <a:stCxn id="13" idx="2"/>
            <a:endCxn id="65" idx="0"/>
          </p:cNvCxnSpPr>
          <p:nvPr/>
        </p:nvCxnSpPr>
        <p:spPr>
          <a:xfrm>
            <a:off x="6575436" y="2416063"/>
            <a:ext cx="0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BEBAAC6-A2AA-483B-86BA-916D7F4DCD02}"/>
              </a:ext>
            </a:extLst>
          </p:cNvPr>
          <p:cNvGrpSpPr/>
          <p:nvPr/>
        </p:nvGrpSpPr>
        <p:grpSpPr>
          <a:xfrm>
            <a:off x="5135436" y="3426667"/>
            <a:ext cx="2880000" cy="720000"/>
            <a:chOff x="6313589" y="2207054"/>
            <a:chExt cx="1620000" cy="74859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E433F83-E0F5-41FA-AC74-49942B9E9FB9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Clone new repository - main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5D688F7-675C-4FC6-B431-E2B242D323D7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E:\nBDF\git</a:t>
              </a:r>
              <a:endParaRPr lang="ko-KR" altLang="en-US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9D22109-3B2D-4C0B-BBFF-61F50FE9CEB0}"/>
              </a:ext>
            </a:extLst>
          </p:cNvPr>
          <p:cNvGrpSpPr/>
          <p:nvPr/>
        </p:nvGrpSpPr>
        <p:grpSpPr>
          <a:xfrm>
            <a:off x="5135436" y="4291969"/>
            <a:ext cx="2880000" cy="720000"/>
            <a:chOff x="6313589" y="2207054"/>
            <a:chExt cx="1620000" cy="748599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62E239F-A218-4F8E-952D-A7259D3BA30D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Client git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 </a:t>
              </a:r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Remote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GitHub repository 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연동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248FAD3-4E11-446D-BAC1-F873FF8CDFF4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Local git repository / Share Project</a:t>
              </a:r>
              <a:endParaRPr lang="ko-KR" altLang="en-US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0F58ED4-269F-45A3-85AC-8549FE1DD818}"/>
              </a:ext>
            </a:extLst>
          </p:cNvPr>
          <p:cNvGrpSpPr/>
          <p:nvPr/>
        </p:nvGrpSpPr>
        <p:grpSpPr>
          <a:xfrm>
            <a:off x="5135436" y="5157271"/>
            <a:ext cx="2880000" cy="720000"/>
            <a:chOff x="6313589" y="2207054"/>
            <a:chExt cx="1620000" cy="748599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F2F3699-B50F-4CDE-AF8A-4B871249743B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Commit / Push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5010B4E-8E77-4A6D-BC56-BA69CEA2D2AA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 Remote Repository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 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모든 파일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Push</a:t>
              </a:r>
              <a:endParaRPr lang="ko-KR" altLang="en-US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2" name="연결선: 꺾임 64">
            <a:extLst>
              <a:ext uri="{FF2B5EF4-FFF2-40B4-BE49-F238E27FC236}">
                <a16:creationId xmlns:a16="http://schemas.microsoft.com/office/drawing/2014/main" id="{510FAE8E-469A-47EC-B68D-98479888CE95}"/>
              </a:ext>
            </a:extLst>
          </p:cNvPr>
          <p:cNvCxnSpPr>
            <a:cxnSpLocks/>
            <a:stCxn id="65" idx="1"/>
            <a:endCxn id="48" idx="0"/>
          </p:cNvCxnSpPr>
          <p:nvPr/>
        </p:nvCxnSpPr>
        <p:spPr>
          <a:xfrm rot="10800000" flipV="1">
            <a:off x="3327162" y="2734489"/>
            <a:ext cx="1808274" cy="692178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64">
            <a:extLst>
              <a:ext uri="{FF2B5EF4-FFF2-40B4-BE49-F238E27FC236}">
                <a16:creationId xmlns:a16="http://schemas.microsoft.com/office/drawing/2014/main" id="{101E2818-0934-438D-9455-A2686C5F994B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6575436" y="4146667"/>
            <a:ext cx="0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64">
            <a:extLst>
              <a:ext uri="{FF2B5EF4-FFF2-40B4-BE49-F238E27FC236}">
                <a16:creationId xmlns:a16="http://schemas.microsoft.com/office/drawing/2014/main" id="{AE53C63D-F087-4893-AE22-736222BB9532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6575436" y="5011969"/>
            <a:ext cx="0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99A362F8-CC16-4E3D-B4FA-1A43BA9835BF}"/>
              </a:ext>
            </a:extLst>
          </p:cNvPr>
          <p:cNvGrpSpPr/>
          <p:nvPr/>
        </p:nvGrpSpPr>
        <p:grpSpPr>
          <a:xfrm>
            <a:off x="1887162" y="3426667"/>
            <a:ext cx="2880000" cy="720000"/>
            <a:chOff x="6313589" y="2207054"/>
            <a:chExt cx="1620000" cy="748599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1B799EA-5579-401D-977D-75F4F7D6273E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GitHub ] Create user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CCD4AAB-4EA9-4722-97C1-3E5495E9A59E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https://github.com</a:t>
              </a:r>
              <a:endParaRPr lang="ko-KR" altLang="en-US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53" name="연결선: 꺾임 64">
            <a:extLst>
              <a:ext uri="{FF2B5EF4-FFF2-40B4-BE49-F238E27FC236}">
                <a16:creationId xmlns:a16="http://schemas.microsoft.com/office/drawing/2014/main" id="{0637B9BF-27EA-4278-BD3E-0F3A47BED7C1}"/>
              </a:ext>
            </a:extLst>
          </p:cNvPr>
          <p:cNvCxnSpPr>
            <a:cxnSpLocks/>
            <a:stCxn id="72" idx="3"/>
            <a:endCxn id="20" idx="1"/>
          </p:cNvCxnSpPr>
          <p:nvPr/>
        </p:nvCxnSpPr>
        <p:spPr>
          <a:xfrm flipV="1">
            <a:off x="4767163" y="3599791"/>
            <a:ext cx="368273" cy="1730604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93D3671-F58F-4CD0-A73F-5E0B225ECDBB}"/>
              </a:ext>
            </a:extLst>
          </p:cNvPr>
          <p:cNvGrpSpPr/>
          <p:nvPr/>
        </p:nvGrpSpPr>
        <p:grpSpPr>
          <a:xfrm>
            <a:off x="1887163" y="4291969"/>
            <a:ext cx="2880002" cy="720001"/>
            <a:chOff x="6313589" y="2207054"/>
            <a:chExt cx="1620001" cy="748600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5678979C-9909-4F27-9540-1CED7A8BA8C9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GitHub ]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Create remote repository - main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335878FC-99C9-4C41-A823-FE436ACA18EB}"/>
                </a:ext>
              </a:extLst>
            </p:cNvPr>
            <p:cNvSpPr/>
            <p:nvPr/>
          </p:nvSpPr>
          <p:spPr>
            <a:xfrm>
              <a:off x="6313590" y="2559653"/>
              <a:ext cx="1620000" cy="39600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</a:rPr>
                <a:t>https://github.com/nbdf2026/nbdf.git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773860E6-4A7E-4BF5-8F3B-B9FC5FA7A6A1}"/>
              </a:ext>
            </a:extLst>
          </p:cNvPr>
          <p:cNvGrpSpPr/>
          <p:nvPr/>
        </p:nvGrpSpPr>
        <p:grpSpPr>
          <a:xfrm>
            <a:off x="5135436" y="2561365"/>
            <a:ext cx="2880000" cy="720000"/>
            <a:chOff x="6313589" y="2207054"/>
            <a:chExt cx="1620000" cy="748599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BF528577-1486-4899-AE0A-1939181DBB28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eGit Install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2128F32A-EDD1-40CC-936D-7560E07C309E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hlinkClick r:id="rId2"/>
                </a:rPr>
                <a:t>https://download.eclipse.org/egit/updates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전자정부에 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eGit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설치됨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-skip)</a:t>
              </a:r>
              <a:endParaRPr lang="ko-KR" altLang="en-US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E3617E62-7507-4E42-B7D6-1E4FBA6129A9}"/>
              </a:ext>
            </a:extLst>
          </p:cNvPr>
          <p:cNvGrpSpPr/>
          <p:nvPr/>
        </p:nvGrpSpPr>
        <p:grpSpPr>
          <a:xfrm>
            <a:off x="1887163" y="5157271"/>
            <a:ext cx="2880002" cy="720001"/>
            <a:chOff x="6313589" y="2207054"/>
            <a:chExt cx="1620001" cy="748600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3CE4D3C-7904-44F8-BDBF-4E82C5029442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GitHub ] Generate token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9C6FB29C-C487-46C9-9693-BBC8A8240484}"/>
                </a:ext>
              </a:extLst>
            </p:cNvPr>
            <p:cNvSpPr/>
            <p:nvPr/>
          </p:nvSpPr>
          <p:spPr>
            <a:xfrm>
              <a:off x="6313590" y="2559653"/>
              <a:ext cx="1620000" cy="39600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</a:rPr>
                <a:t>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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74" name="연결선: 꺾임 64">
            <a:extLst>
              <a:ext uri="{FF2B5EF4-FFF2-40B4-BE49-F238E27FC236}">
                <a16:creationId xmlns:a16="http://schemas.microsoft.com/office/drawing/2014/main" id="{E7910CA1-5D45-4A55-9872-97A4199FFC3B}"/>
              </a:ext>
            </a:extLst>
          </p:cNvPr>
          <p:cNvCxnSpPr>
            <a:cxnSpLocks/>
            <a:stCxn id="49" idx="2"/>
            <a:endCxn id="60" idx="0"/>
          </p:cNvCxnSpPr>
          <p:nvPr/>
        </p:nvCxnSpPr>
        <p:spPr>
          <a:xfrm>
            <a:off x="3327162" y="4146667"/>
            <a:ext cx="1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64">
            <a:extLst>
              <a:ext uri="{FF2B5EF4-FFF2-40B4-BE49-F238E27FC236}">
                <a16:creationId xmlns:a16="http://schemas.microsoft.com/office/drawing/2014/main" id="{958A4349-B018-4D83-BB70-A8D7C1F8B1E8}"/>
              </a:ext>
            </a:extLst>
          </p:cNvPr>
          <p:cNvCxnSpPr>
            <a:cxnSpLocks/>
            <a:stCxn id="61" idx="2"/>
            <a:endCxn id="72" idx="0"/>
          </p:cNvCxnSpPr>
          <p:nvPr/>
        </p:nvCxnSpPr>
        <p:spPr>
          <a:xfrm flipH="1">
            <a:off x="3327163" y="5011970"/>
            <a:ext cx="2" cy="145301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9693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308216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eGit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설치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Work with :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hlinkClick r:id="rId2"/>
                        </a:rPr>
                        <a:t>https://download.eclipse.org/egit/updates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입력 후 엔터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목록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integration for Eclipse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다운로드 및 설치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시간이 다소 소요됨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Install Remediation Page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Finish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설치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Restart Now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4331DF8F-8AF1-4196-A9FA-1AF993029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12875"/>
            <a:ext cx="3573336" cy="2963254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전자정부 </a:t>
            </a:r>
            <a:r>
              <a:rPr lang="en-US" altLang="ko-KR" dirty="0"/>
              <a:t>eGit </a:t>
            </a:r>
            <a:r>
              <a:rPr lang="ko-KR" altLang="en-US" dirty="0"/>
              <a:t>설치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rgbClr val="FF0000"/>
                </a:solidFill>
              </a:rPr>
              <a:t>Skip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이클립스에서 </a:t>
            </a:r>
            <a:r>
              <a:rPr lang="en-US" altLang="ko-KR" b="1" dirty="0">
                <a:solidFill>
                  <a:srgbClr val="00FFFF"/>
                </a:solidFill>
              </a:rPr>
              <a:t>eGit </a:t>
            </a:r>
            <a:r>
              <a:rPr lang="ko-KR" altLang="en-US" b="1" dirty="0">
                <a:solidFill>
                  <a:srgbClr val="00FFFF"/>
                </a:solidFill>
              </a:rPr>
              <a:t>업그레이드</a:t>
            </a:r>
            <a:r>
              <a:rPr lang="ko-KR" altLang="en-US" dirty="0"/>
              <a:t>를 위하여  메뉴 </a:t>
            </a:r>
            <a:r>
              <a:rPr lang="en-US" altLang="ko-KR" dirty="0"/>
              <a:t>/ Help / Install new software </a:t>
            </a:r>
            <a:r>
              <a:rPr lang="ko-KR" altLang="en-US" dirty="0"/>
              <a:t>클릭 후 </a:t>
            </a:r>
            <a:r>
              <a:rPr lang="en-US" altLang="ko-KR" dirty="0"/>
              <a:t>eGit </a:t>
            </a:r>
            <a:r>
              <a:rPr lang="ko-KR" altLang="en-US" dirty="0"/>
              <a:t>소프트웨어를 설치합니다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Work with : </a:t>
            </a:r>
            <a:r>
              <a:rPr lang="en-US" altLang="ko-KR" dirty="0">
                <a:hlinkClick r:id="rId2"/>
              </a:rPr>
              <a:t>https://download.eclipse.org/egit/updates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E96329-D5C3-4C98-AAD6-9E8A835EFA00}"/>
              </a:ext>
            </a:extLst>
          </p:cNvPr>
          <p:cNvSpPr/>
          <p:nvPr/>
        </p:nvSpPr>
        <p:spPr>
          <a:xfrm>
            <a:off x="344488" y="2178613"/>
            <a:ext cx="3168352" cy="2521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05E57E-D0EF-4CF9-9988-4692A866275F}"/>
              </a:ext>
            </a:extLst>
          </p:cNvPr>
          <p:cNvSpPr/>
          <p:nvPr/>
        </p:nvSpPr>
        <p:spPr>
          <a:xfrm>
            <a:off x="344488" y="1844824"/>
            <a:ext cx="3168352" cy="2521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03C46C5-FEE4-4BBA-84FF-EC13B6EB26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0790"/>
          <a:stretch/>
        </p:blipFill>
        <p:spPr>
          <a:xfrm>
            <a:off x="5988177" y="4293096"/>
            <a:ext cx="3526864" cy="982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5687A6A-9C3A-4A10-8B85-FE597D0A25D8}"/>
              </a:ext>
            </a:extLst>
          </p:cNvPr>
          <p:cNvSpPr/>
          <p:nvPr/>
        </p:nvSpPr>
        <p:spPr>
          <a:xfrm>
            <a:off x="5988177" y="4298628"/>
            <a:ext cx="3526864" cy="9771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DDC6889-A2BF-4BAE-A3A9-F4E08A84A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848" y="5461234"/>
            <a:ext cx="2648193" cy="664772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CC67F3-3BCE-4144-9DB2-5143ECB0A7C8}"/>
              </a:ext>
            </a:extLst>
          </p:cNvPr>
          <p:cNvSpPr/>
          <p:nvPr/>
        </p:nvSpPr>
        <p:spPr>
          <a:xfrm>
            <a:off x="5637299" y="6141490"/>
            <a:ext cx="470955" cy="15659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FEC61A-AA90-46E8-992F-0E9A6305C749}"/>
              </a:ext>
            </a:extLst>
          </p:cNvPr>
          <p:cNvSpPr/>
          <p:nvPr/>
        </p:nvSpPr>
        <p:spPr>
          <a:xfrm>
            <a:off x="8376261" y="5882969"/>
            <a:ext cx="569856" cy="21051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2B44DF-0B58-416D-B845-691D7C98AB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062" y="1772938"/>
            <a:ext cx="3853210" cy="22327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B6A9E4F-5A34-446D-8385-2EFBD3268DDE}"/>
              </a:ext>
            </a:extLst>
          </p:cNvPr>
          <p:cNvSpPr/>
          <p:nvPr/>
        </p:nvSpPr>
        <p:spPr>
          <a:xfrm>
            <a:off x="3548062" y="3578507"/>
            <a:ext cx="3853210" cy="2521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6066EF-C12F-44AB-9CD6-7E7AB8DF04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601" y="4376129"/>
            <a:ext cx="3912774" cy="216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1012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05649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Sign up (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사용자 생성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홈페이지 우측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 up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사용자 등록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Email :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nbdf2026@gmail.com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Password : </a:t>
                      </a:r>
                      <a:r>
                        <a:rPr lang="en-US" altLang="ko-KR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nbdf2026NBDF!@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Username : nbdf2026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Your Country/Region : Korea, South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Create account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그림인증 확인 후 최종 계정생성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재 로그인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Username or email address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hlinkClick r:id="rId2"/>
                        </a:rPr>
                        <a:t>nbdf2026@gmail.com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Password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소숫대특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(nbd2026NBDF!@)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28A8AC4B-82E3-4308-861E-5D0CAFC96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12874"/>
            <a:ext cx="6985000" cy="4191000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사용자 생성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형성관리를 위하여 깃허브 </a:t>
            </a:r>
            <a:r>
              <a:rPr lang="en-US" altLang="ko-KR" b="1" dirty="0">
                <a:solidFill>
                  <a:srgbClr val="00FFFF"/>
                </a:solidFill>
              </a:rPr>
              <a:t>URL</a:t>
            </a:r>
            <a:r>
              <a:rPr lang="ko-KR" altLang="en-US" b="1" dirty="0">
                <a:solidFill>
                  <a:srgbClr val="00FFFF"/>
                </a:solidFill>
              </a:rPr>
              <a:t>을 접속 후 사용자를 </a:t>
            </a:r>
            <a:r>
              <a:rPr lang="ko-KR" altLang="en-US" dirty="0"/>
              <a:t>아래와 같이 </a:t>
            </a:r>
            <a:r>
              <a:rPr lang="ko-KR" altLang="en-US" b="1" dirty="0">
                <a:solidFill>
                  <a:srgbClr val="00FFFF"/>
                </a:solidFill>
              </a:rPr>
              <a:t>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dirty="0">
                <a:hlinkClick r:id="rId4"/>
              </a:rPr>
              <a:t>https://github.com/?utm_source=chatgpt.com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E6B8CC-BC80-4875-9BE7-6C591E9E4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3052" y="2112683"/>
            <a:ext cx="2376264" cy="36710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E4568F-EA98-4B1D-8AB1-ED4058435051}"/>
              </a:ext>
            </a:extLst>
          </p:cNvPr>
          <p:cNvSpPr/>
          <p:nvPr/>
        </p:nvSpPr>
        <p:spPr>
          <a:xfrm>
            <a:off x="4813052" y="2894061"/>
            <a:ext cx="2376264" cy="20161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3F810D-D1F3-4C5B-85FC-7AE54BB544B6}"/>
              </a:ext>
            </a:extLst>
          </p:cNvPr>
          <p:cNvSpPr/>
          <p:nvPr/>
        </p:nvSpPr>
        <p:spPr>
          <a:xfrm>
            <a:off x="6864560" y="1749792"/>
            <a:ext cx="336605" cy="2084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253EFB-1BDA-48BB-B86B-887FEE4D459A}"/>
              </a:ext>
            </a:extLst>
          </p:cNvPr>
          <p:cNvSpPr/>
          <p:nvPr/>
        </p:nvSpPr>
        <p:spPr>
          <a:xfrm>
            <a:off x="6527955" y="1749792"/>
            <a:ext cx="336605" cy="2084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4607B96-4F3B-452B-B1B6-483565FF6D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84" y="2351005"/>
            <a:ext cx="1709167" cy="2559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67740F-27B9-4AE5-A167-10F3B590CF08}"/>
              </a:ext>
            </a:extLst>
          </p:cNvPr>
          <p:cNvSpPr/>
          <p:nvPr/>
        </p:nvSpPr>
        <p:spPr>
          <a:xfrm>
            <a:off x="853571" y="2898873"/>
            <a:ext cx="1671259" cy="7461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78333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5415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저장소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New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명칭 및 옵션 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Repository name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Choose visibility : Publish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README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.gitignore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Java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Create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Private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를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Public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을 </a:t>
                      </a:r>
                      <a:r>
                        <a:rPr lang="ko-KR" altLang="en-US" sz="105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Private</a:t>
                      </a:r>
                      <a:r>
                        <a:rPr lang="ko-KR" altLang="en-US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는 클라이언트에서 </a:t>
                      </a:r>
                      <a:r>
                        <a:rPr lang="en-US" altLang="ko-KR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Push</a:t>
                      </a:r>
                      <a:r>
                        <a:rPr lang="ko-KR" altLang="en-US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되지 않음</a:t>
                      </a:r>
                      <a:endParaRPr lang="en-US" altLang="ko-KR" sz="105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GitHub / nbdf2026 / nbdf / settings / Collaborators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Manage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visibility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Danger Zone / Change repository visibility : Change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visibility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 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Public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 변경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FEF1E84-D8B8-4AF6-B8E7-BB45CD459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85" y="1416230"/>
            <a:ext cx="6977803" cy="489249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7D8EFAE-574F-4226-9203-B892EFA2E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960" y="3121055"/>
            <a:ext cx="2666260" cy="2659215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New repository </a:t>
            </a:r>
            <a:r>
              <a:rPr lang="ko-KR" altLang="en-US" dirty="0"/>
              <a:t>생성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깃허브 사용자 생성 후 </a:t>
            </a:r>
            <a:r>
              <a:rPr lang="ko-KR" altLang="en-US" b="1" dirty="0">
                <a:solidFill>
                  <a:srgbClr val="00FFFF"/>
                </a:solidFill>
              </a:rPr>
              <a:t>신규 저장소</a:t>
            </a:r>
            <a:r>
              <a:rPr lang="en-US" altLang="ko-KR" b="1" dirty="0">
                <a:solidFill>
                  <a:srgbClr val="00FFFF"/>
                </a:solidFill>
              </a:rPr>
              <a:t>(nbdf)</a:t>
            </a:r>
            <a:r>
              <a:rPr lang="ko-KR" altLang="en-US" b="1" dirty="0">
                <a:solidFill>
                  <a:srgbClr val="00FFFF"/>
                </a:solidFill>
              </a:rPr>
              <a:t>를 생성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New repository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026ECBA-D38E-41CA-A5F8-DAD4912AC47B}"/>
              </a:ext>
            </a:extLst>
          </p:cNvPr>
          <p:cNvSpPr/>
          <p:nvPr/>
        </p:nvSpPr>
        <p:spPr>
          <a:xfrm>
            <a:off x="6321152" y="2244836"/>
            <a:ext cx="684000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A023E6-EDBA-4C58-9B15-7A3127105683}"/>
              </a:ext>
            </a:extLst>
          </p:cNvPr>
          <p:cNvSpPr/>
          <p:nvPr/>
        </p:nvSpPr>
        <p:spPr>
          <a:xfrm>
            <a:off x="3747960" y="3429000"/>
            <a:ext cx="2666259" cy="5040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2490F11-EAAD-423D-91F9-5E79501A3733}"/>
              </a:ext>
            </a:extLst>
          </p:cNvPr>
          <p:cNvSpPr/>
          <p:nvPr/>
        </p:nvSpPr>
        <p:spPr>
          <a:xfrm>
            <a:off x="5817096" y="4509120"/>
            <a:ext cx="597123" cy="108012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324753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00098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nBDF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조회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Readme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저장소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URI :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hlinkClick r:id="rId2"/>
                        </a:rPr>
                        <a:t>https://github.com/nbdf2026/nbdf.git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Readme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# 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구축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(2026.06.01 ~ )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응용프로그램 설치 정보  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(4.3.1)+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이클립스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(4.31.0) + eGit(6.7) + GitHub + Oracle(19c)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219858B7-31A5-4DA1-84B7-9A7B7E3AB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83" y="1416227"/>
            <a:ext cx="6977805" cy="4892498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nbdf repository </a:t>
            </a:r>
            <a:r>
              <a:rPr lang="ko-KR" altLang="en-US" dirty="0"/>
              <a:t>조회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신규로 생성된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저장소의 </a:t>
            </a:r>
            <a:r>
              <a:rPr lang="en-US" altLang="ko-KR" b="1" dirty="0">
                <a:solidFill>
                  <a:srgbClr val="00FFFF"/>
                </a:solidFill>
              </a:rPr>
              <a:t>URI(</a:t>
            </a:r>
            <a:r>
              <a:rPr lang="ko-KR" altLang="en-US" b="1" dirty="0">
                <a:solidFill>
                  <a:srgbClr val="00FFFF"/>
                </a:solidFill>
              </a:rPr>
              <a:t>클라이언트 </a:t>
            </a:r>
            <a:r>
              <a:rPr lang="en-US" altLang="ko-KR" b="1" dirty="0">
                <a:solidFill>
                  <a:srgbClr val="00FFFF"/>
                </a:solidFill>
              </a:rPr>
              <a:t>git</a:t>
            </a:r>
            <a:r>
              <a:rPr lang="ko-KR" altLang="en-US" b="1" dirty="0">
                <a:solidFill>
                  <a:srgbClr val="00FFFF"/>
                </a:solidFill>
              </a:rPr>
              <a:t>에서 연동할 </a:t>
            </a:r>
            <a:r>
              <a:rPr lang="en-US" altLang="ko-KR" b="1" dirty="0">
                <a:solidFill>
                  <a:srgbClr val="00FFFF"/>
                </a:solidFill>
              </a:rPr>
              <a:t>URI)</a:t>
            </a:r>
            <a:r>
              <a:rPr lang="ko-KR" altLang="en-US" b="1" dirty="0">
                <a:solidFill>
                  <a:srgbClr val="00FFFF"/>
                </a:solidFill>
              </a:rPr>
              <a:t>를 확인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b="1" dirty="0">
                <a:solidFill>
                  <a:srgbClr val="00FFFF"/>
                </a:solidFill>
              </a:rPr>
              <a:t>https://github.com/nbdf2026/nbdf.git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3FDD00-5E70-46C5-AA1F-A40B8AD9C816}"/>
              </a:ext>
            </a:extLst>
          </p:cNvPr>
          <p:cNvSpPr/>
          <p:nvPr/>
        </p:nvSpPr>
        <p:spPr>
          <a:xfrm>
            <a:off x="945920" y="1818051"/>
            <a:ext cx="351000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20D2E4-D42E-4B24-B6DE-1C3193E6BEF7}"/>
              </a:ext>
            </a:extLst>
          </p:cNvPr>
          <p:cNvSpPr/>
          <p:nvPr/>
        </p:nvSpPr>
        <p:spPr>
          <a:xfrm>
            <a:off x="3469408" y="3307844"/>
            <a:ext cx="1261088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837880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28227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 user navigation menu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아이콘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Settings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Developer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좌측하단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토큰 생성 옵션 선택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Tokens (classic)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Generate new token / Generate new token (classic)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E93FAD1D-E287-4FED-B2CF-6A7327F4D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2394"/>
            <a:ext cx="6985000" cy="4902166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토큰 생성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클라이언트 </a:t>
            </a:r>
            <a:r>
              <a:rPr lang="en-US" altLang="ko-KR" b="1" dirty="0">
                <a:solidFill>
                  <a:srgbClr val="00FFFF"/>
                </a:solidFill>
              </a:rPr>
              <a:t>git</a:t>
            </a:r>
            <a:r>
              <a:rPr lang="ko-KR" altLang="en-US" b="1" dirty="0">
                <a:solidFill>
                  <a:srgbClr val="00FFFF"/>
                </a:solidFill>
              </a:rPr>
              <a:t>에서 형상관리를 위한 </a:t>
            </a:r>
            <a:r>
              <a:rPr lang="en-US" altLang="ko-KR" b="1" dirty="0">
                <a:solidFill>
                  <a:srgbClr val="00FFFF"/>
                </a:solidFill>
              </a:rPr>
              <a:t>push, pull</a:t>
            </a:r>
            <a:r>
              <a:rPr lang="ko-KR" altLang="en-US" b="1" dirty="0">
                <a:solidFill>
                  <a:srgbClr val="00FFFF"/>
                </a:solidFill>
              </a:rPr>
              <a:t> 권한 제공을 위한 토큰</a:t>
            </a:r>
            <a:r>
              <a:rPr lang="ko-KR" altLang="en-US" dirty="0"/>
              <a:t>을 아래와 같이 생성합니다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토큰은 </a:t>
            </a:r>
            <a:r>
              <a:rPr lang="en-US" altLang="ko-KR" dirty="0"/>
              <a:t>1</a:t>
            </a:r>
            <a:r>
              <a:rPr lang="ko-KR" altLang="en-US" dirty="0"/>
              <a:t>회 생성되며</a:t>
            </a:r>
            <a:r>
              <a:rPr lang="en-US" altLang="ko-KR" dirty="0"/>
              <a:t>, </a:t>
            </a:r>
            <a:r>
              <a:rPr lang="ko-KR" altLang="en-US" dirty="0"/>
              <a:t>변경할 경우 삭제 후 재 생성합니다</a:t>
            </a:r>
            <a:r>
              <a:rPr lang="en-US" altLang="ko-KR" dirty="0"/>
              <a:t>. </a:t>
            </a:r>
            <a:r>
              <a:rPr lang="ko-KR" altLang="en-US" dirty="0"/>
              <a:t>이에 토큰 키를 복사 후 유관 개발자에게 공유합니다</a:t>
            </a:r>
            <a:r>
              <a:rPr lang="en-US" altLang="ko-KR" dirty="0"/>
              <a:t>.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3FDD00-5E70-46C5-AA1F-A40B8AD9C816}"/>
              </a:ext>
            </a:extLst>
          </p:cNvPr>
          <p:cNvSpPr/>
          <p:nvPr/>
        </p:nvSpPr>
        <p:spPr>
          <a:xfrm>
            <a:off x="6313532" y="3461656"/>
            <a:ext cx="871716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20D2E4-D42E-4B24-B6DE-1C3193E6BEF7}"/>
              </a:ext>
            </a:extLst>
          </p:cNvPr>
          <p:cNvSpPr/>
          <p:nvPr/>
        </p:nvSpPr>
        <p:spPr>
          <a:xfrm>
            <a:off x="7069803" y="1836660"/>
            <a:ext cx="187453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3D2BB1-EE20-45C3-BA38-F08802816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08" y="3284984"/>
            <a:ext cx="5673080" cy="30492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3A0073-E6B0-4A15-8579-A35E0E0454E6}"/>
              </a:ext>
            </a:extLst>
          </p:cNvPr>
          <p:cNvSpPr/>
          <p:nvPr/>
        </p:nvSpPr>
        <p:spPr>
          <a:xfrm>
            <a:off x="1712640" y="5962334"/>
            <a:ext cx="871716" cy="1176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08B333-6FC2-4170-8DEC-7E74962A2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636" y="4477828"/>
            <a:ext cx="4664968" cy="1846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F65266-2B65-499C-A273-FB6FA23719B0}"/>
              </a:ext>
            </a:extLst>
          </p:cNvPr>
          <p:cNvSpPr/>
          <p:nvPr/>
        </p:nvSpPr>
        <p:spPr>
          <a:xfrm>
            <a:off x="3094740" y="5095611"/>
            <a:ext cx="871716" cy="1176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7BB3E0-98B8-4ED1-82FF-5E1819118BF3}"/>
              </a:ext>
            </a:extLst>
          </p:cNvPr>
          <p:cNvSpPr/>
          <p:nvPr/>
        </p:nvSpPr>
        <p:spPr>
          <a:xfrm>
            <a:off x="5846911" y="5642546"/>
            <a:ext cx="743418" cy="1717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488BC7-D67C-4F67-95B8-4F63A5B81BFF}"/>
              </a:ext>
            </a:extLst>
          </p:cNvPr>
          <p:cNvSpPr/>
          <p:nvPr/>
        </p:nvSpPr>
        <p:spPr>
          <a:xfrm>
            <a:off x="5241032" y="6074693"/>
            <a:ext cx="1349297" cy="2340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213159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83599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Note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Expiration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 expiration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Select scopes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하단의 모든 체크 박스 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repo, workflow ...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admin:ssh_signing_key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 하단에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Generate token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토큰 키 생성 및 복사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확정된 토큰 키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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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D60E48F6-1050-4894-BEDE-7B3ADC823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8" y="1416283"/>
            <a:ext cx="6977380" cy="489244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EDB55E6-74FB-4244-A3E3-A4A49909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83" y="4270961"/>
            <a:ext cx="5527190" cy="20377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토큰 생성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클라이언트 </a:t>
            </a:r>
            <a:r>
              <a:rPr lang="en-US" altLang="ko-KR" dirty="0"/>
              <a:t>git</a:t>
            </a:r>
            <a:r>
              <a:rPr lang="ko-KR" altLang="en-US" dirty="0"/>
              <a:t>에서 형상관리를 위한 </a:t>
            </a:r>
            <a:r>
              <a:rPr lang="en-US" altLang="ko-KR" dirty="0"/>
              <a:t>push, pull</a:t>
            </a:r>
            <a:r>
              <a:rPr lang="ko-KR" altLang="en-US" dirty="0"/>
              <a:t> 권한 제공을 위한 토큰을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최종 확정된 토큰 키 </a:t>
            </a:r>
            <a:r>
              <a:rPr lang="en-US" altLang="ko-KR" dirty="0"/>
              <a:t>: </a:t>
            </a:r>
            <a:r>
              <a:rPr lang="en-US" altLang="ko-KR" b="1" dirty="0">
                <a:solidFill>
                  <a:srgbClr val="00FFFF"/>
                </a:solidFill>
              </a:rPr>
              <a:t>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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3A0073-E6B0-4A15-8579-A35E0E0454E6}"/>
              </a:ext>
            </a:extLst>
          </p:cNvPr>
          <p:cNvSpPr/>
          <p:nvPr/>
        </p:nvSpPr>
        <p:spPr>
          <a:xfrm>
            <a:off x="2648744" y="2939434"/>
            <a:ext cx="871716" cy="14235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F65266-2B65-499C-A273-FB6FA23719B0}"/>
              </a:ext>
            </a:extLst>
          </p:cNvPr>
          <p:cNvSpPr/>
          <p:nvPr/>
        </p:nvSpPr>
        <p:spPr>
          <a:xfrm>
            <a:off x="1522904" y="2858040"/>
            <a:ext cx="871716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39767B3-C92E-48B2-98EF-159DF8100890}"/>
              </a:ext>
            </a:extLst>
          </p:cNvPr>
          <p:cNvSpPr/>
          <p:nvPr/>
        </p:nvSpPr>
        <p:spPr>
          <a:xfrm>
            <a:off x="2648744" y="3414329"/>
            <a:ext cx="871716" cy="14235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27C5DE1-E0EF-407C-9F1A-D9F668A21909}"/>
              </a:ext>
            </a:extLst>
          </p:cNvPr>
          <p:cNvSpPr/>
          <p:nvPr/>
        </p:nvSpPr>
        <p:spPr>
          <a:xfrm>
            <a:off x="2648744" y="3969320"/>
            <a:ext cx="216024" cy="234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7558944-7DDA-4E63-96A6-C2D0BAD04C38}"/>
              </a:ext>
            </a:extLst>
          </p:cNvPr>
          <p:cNvSpPr/>
          <p:nvPr/>
        </p:nvSpPr>
        <p:spPr>
          <a:xfrm>
            <a:off x="5304937" y="5371113"/>
            <a:ext cx="3869104" cy="33743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785082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94114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 / nbdf / settings / Danger Zone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Delete this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 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9388" indent="-179388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1) I want to delete this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2) I have read and understand these effects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3)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nbdf2026/nbdf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Delete this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7B942C68-8AC1-4340-8D71-66B308ACB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52" y="2744772"/>
            <a:ext cx="4483025" cy="2498925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기존 </a:t>
            </a:r>
            <a:r>
              <a:rPr lang="en-US" altLang="ko-KR" dirty="0"/>
              <a:t>Remote Repository </a:t>
            </a:r>
            <a:r>
              <a:rPr lang="ko-KR" altLang="en-US" dirty="0"/>
              <a:t>삭제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FF0000"/>
                </a:solidFill>
              </a:rPr>
              <a:t>사유가 발생할 경우 기존 </a:t>
            </a:r>
            <a:r>
              <a:rPr lang="en-US" altLang="ko-KR" b="1" dirty="0">
                <a:solidFill>
                  <a:srgbClr val="FF0000"/>
                </a:solidFill>
              </a:rPr>
              <a:t>Remote Repository</a:t>
            </a:r>
            <a:r>
              <a:rPr lang="ko-KR" altLang="en-US" b="1" dirty="0">
                <a:solidFill>
                  <a:srgbClr val="FF0000"/>
                </a:solidFill>
              </a:rPr>
              <a:t>를 아래와 같이 삭제합니다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9CC52D5-B512-487A-AF32-E5AAF1D12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28835"/>
            <a:ext cx="5685458" cy="110534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956C48-39BE-4475-9717-63034D43D644}"/>
              </a:ext>
            </a:extLst>
          </p:cNvPr>
          <p:cNvSpPr/>
          <p:nvPr/>
        </p:nvSpPr>
        <p:spPr>
          <a:xfrm>
            <a:off x="5175645" y="2306303"/>
            <a:ext cx="871716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1994A7A-4577-4091-8508-C90F31FB53B4}"/>
              </a:ext>
            </a:extLst>
          </p:cNvPr>
          <p:cNvSpPr/>
          <p:nvPr/>
        </p:nvSpPr>
        <p:spPr>
          <a:xfrm>
            <a:off x="340774" y="4822382"/>
            <a:ext cx="4396202" cy="33743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85507F-A5E0-4EFA-974C-69B6D1629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952" y="2733233"/>
            <a:ext cx="1872208" cy="9639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A81C3E1-83B8-43C2-845E-838BDF552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065" y="3788182"/>
            <a:ext cx="2026183" cy="17520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B0B2D6-9235-4BFE-82C3-58AD94F81F79}"/>
              </a:ext>
            </a:extLst>
          </p:cNvPr>
          <p:cNvSpPr/>
          <p:nvPr/>
        </p:nvSpPr>
        <p:spPr>
          <a:xfrm>
            <a:off x="4750718" y="3512121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96A6E70-D85A-453E-82CA-4538D6BA5515}"/>
              </a:ext>
            </a:extLst>
          </p:cNvPr>
          <p:cNvSpPr/>
          <p:nvPr/>
        </p:nvSpPr>
        <p:spPr>
          <a:xfrm>
            <a:off x="5576580" y="5344977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1C1BCF-B09E-4325-99E9-B39A1E05D3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657" y="4797152"/>
            <a:ext cx="2381863" cy="15106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A20182-4EF6-47B2-98F6-1C50EC1C4C07}"/>
              </a:ext>
            </a:extLst>
          </p:cNvPr>
          <p:cNvSpPr/>
          <p:nvPr/>
        </p:nvSpPr>
        <p:spPr>
          <a:xfrm>
            <a:off x="7316028" y="5893615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3C66B8-6BD2-4585-B39E-A0AA2503CBBC}"/>
              </a:ext>
            </a:extLst>
          </p:cNvPr>
          <p:cNvSpPr/>
          <p:nvPr/>
        </p:nvSpPr>
        <p:spPr>
          <a:xfrm>
            <a:off x="7784267" y="6068819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047724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0532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 / nbdf / settings / Collaborators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Manager access / Add people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찾기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GitHub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등록된 사용자로 조회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dims1111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사용자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add dims1111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찾은 사용자에 따라 문구가 상이함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BBDC44D8-E16C-481D-A83C-79F6D5B92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8835"/>
            <a:ext cx="6985000" cy="4879890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구성원 추가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dirty="0"/>
              <a:t>프로젝트를 구성원에 대한 </a:t>
            </a:r>
            <a:r>
              <a:rPr lang="en-US" altLang="ko-KR" sz="1200" dirty="0"/>
              <a:t>Collaborations</a:t>
            </a:r>
            <a:r>
              <a:rPr lang="ko-KR" altLang="en-US" sz="1200" dirty="0"/>
              <a:t>에 </a:t>
            </a:r>
            <a:r>
              <a:rPr lang="en-US" altLang="ko-KR" sz="1200" b="1" dirty="0">
                <a:solidFill>
                  <a:srgbClr val="00FFFF"/>
                </a:solidFill>
              </a:rPr>
              <a:t>Add People </a:t>
            </a:r>
            <a:r>
              <a:rPr lang="ko-KR" altLang="en-US" sz="1200" b="1" dirty="0">
                <a:solidFill>
                  <a:srgbClr val="00FFFF"/>
                </a:solidFill>
              </a:rPr>
              <a:t>후 구성원 메일로 방문 및 승인 요청</a:t>
            </a:r>
            <a:r>
              <a:rPr lang="ko-KR" altLang="en-US" sz="1200" dirty="0"/>
              <a:t>을 처리합니다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현재 </a:t>
            </a:r>
            <a:r>
              <a:rPr lang="en-US" altLang="ko-KR" sz="1200" dirty="0"/>
              <a:t>nbdf </a:t>
            </a:r>
            <a:r>
              <a:rPr lang="ko-KR" altLang="en-US" sz="1200" dirty="0"/>
              <a:t>프로젝트는 </a:t>
            </a:r>
            <a:r>
              <a:rPr lang="en-US" altLang="ko-KR" sz="1200" dirty="0"/>
              <a:t>public</a:t>
            </a:r>
            <a:r>
              <a:rPr lang="ko-KR" altLang="en-US" sz="1200" dirty="0"/>
              <a:t>으로 되어 있어 소스는 누구나 조회 가능하지만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소스 업로드</a:t>
            </a:r>
            <a:r>
              <a:rPr lang="en-US" altLang="ko-KR" sz="1200" dirty="0"/>
              <a:t>(push)</a:t>
            </a:r>
            <a:r>
              <a:rPr lang="ko-KR" altLang="en-US" sz="1200" dirty="0"/>
              <a:t>는 위 권한 부여된 대상자 국한하여 처리가 가능합니다</a:t>
            </a:r>
            <a:r>
              <a:rPr lang="en-US" altLang="ko-KR" sz="1200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956C48-39BE-4475-9717-63034D43D644}"/>
              </a:ext>
            </a:extLst>
          </p:cNvPr>
          <p:cNvSpPr/>
          <p:nvPr/>
        </p:nvSpPr>
        <p:spPr>
          <a:xfrm>
            <a:off x="3434316" y="2032680"/>
            <a:ext cx="447328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62682C-F648-42B7-8835-33C65489F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008" y="3933056"/>
            <a:ext cx="2989726" cy="1209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DDAEA7-6C5D-4717-8AD5-200F59EAA66C}"/>
              </a:ext>
            </a:extLst>
          </p:cNvPr>
          <p:cNvSpPr/>
          <p:nvPr/>
        </p:nvSpPr>
        <p:spPr>
          <a:xfrm>
            <a:off x="1602532" y="2652152"/>
            <a:ext cx="720000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2F1BEE8-51FF-418C-A8EC-DD707FBF6A74}"/>
              </a:ext>
            </a:extLst>
          </p:cNvPr>
          <p:cNvSpPr/>
          <p:nvPr/>
        </p:nvSpPr>
        <p:spPr>
          <a:xfrm>
            <a:off x="5184117" y="3402694"/>
            <a:ext cx="40642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93A681-2E46-4453-99CC-C5E6CDA827B6}"/>
              </a:ext>
            </a:extLst>
          </p:cNvPr>
          <p:cNvSpPr/>
          <p:nvPr/>
        </p:nvSpPr>
        <p:spPr>
          <a:xfrm>
            <a:off x="3678433" y="4299793"/>
            <a:ext cx="626495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12315DE-616F-48A8-84B0-FBFF1B746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685" y="4827666"/>
            <a:ext cx="3638922" cy="1106742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B7DCF6-6320-416A-B480-0D05BAB5903B}"/>
              </a:ext>
            </a:extLst>
          </p:cNvPr>
          <p:cNvSpPr/>
          <p:nvPr/>
        </p:nvSpPr>
        <p:spPr>
          <a:xfrm>
            <a:off x="3678433" y="4559445"/>
            <a:ext cx="1274567" cy="3364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4B94FDC-5447-4333-A05A-9A4E24623F0A}"/>
              </a:ext>
            </a:extLst>
          </p:cNvPr>
          <p:cNvSpPr/>
          <p:nvPr/>
        </p:nvSpPr>
        <p:spPr>
          <a:xfrm>
            <a:off x="8286391" y="5676428"/>
            <a:ext cx="626495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681271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83263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구성원 추가 및 메일 발송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 people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 후 추가된 구성원에게 메일이 발송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메일 수신 및 승인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메일 로그인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수신된 메일 클릭 후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View Invitation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초대 요청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Accept invitation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초대 허락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방문 수락 완료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Collaborator(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협력자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전환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소스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read,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구성원 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dirty="0"/>
              <a:t>프로젝트를 구성원에 대한 </a:t>
            </a:r>
            <a:r>
              <a:rPr lang="en-US" altLang="ko-KR" sz="1200" dirty="0"/>
              <a:t>Collaborations</a:t>
            </a:r>
            <a:r>
              <a:rPr lang="ko-KR" altLang="en-US" sz="1200" dirty="0"/>
              <a:t>에 </a:t>
            </a:r>
            <a:r>
              <a:rPr lang="en-US" altLang="ko-KR" sz="1200" b="1" dirty="0">
                <a:solidFill>
                  <a:srgbClr val="00FFFF"/>
                </a:solidFill>
              </a:rPr>
              <a:t>Add People </a:t>
            </a:r>
            <a:r>
              <a:rPr lang="ko-KR" altLang="en-US" sz="1200" b="1" dirty="0">
                <a:solidFill>
                  <a:srgbClr val="00FFFF"/>
                </a:solidFill>
              </a:rPr>
              <a:t>후 구성원 메일로 방문 및 승인 요청</a:t>
            </a:r>
            <a:r>
              <a:rPr lang="ko-KR" altLang="en-US" sz="1200" dirty="0"/>
              <a:t>을 처리합니다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현재 </a:t>
            </a:r>
            <a:r>
              <a:rPr lang="en-US" altLang="ko-KR" sz="1200" dirty="0"/>
              <a:t>nbdf </a:t>
            </a:r>
            <a:r>
              <a:rPr lang="ko-KR" altLang="en-US" sz="1200" dirty="0"/>
              <a:t>프로젝트는 </a:t>
            </a:r>
            <a:r>
              <a:rPr lang="en-US" altLang="ko-KR" sz="1200" dirty="0"/>
              <a:t>public</a:t>
            </a:r>
            <a:r>
              <a:rPr lang="ko-KR" altLang="en-US" sz="1200" dirty="0"/>
              <a:t>으로 되어 있어 소스는 누구나 조회 가능하지만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소스 업로드</a:t>
            </a:r>
            <a:r>
              <a:rPr lang="en-US" altLang="ko-KR" sz="1200" dirty="0"/>
              <a:t>(push)</a:t>
            </a:r>
            <a:r>
              <a:rPr lang="ko-KR" altLang="en-US" sz="1200" dirty="0"/>
              <a:t>는 위 권한 부여된 대상자 국한하여 처리가 가능합니다</a:t>
            </a:r>
            <a:r>
              <a:rPr lang="en-US" altLang="ko-KR" sz="1200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0754B07-F3D1-4287-B366-14F0994ECD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27" t="21958" r="16377" b="20975"/>
          <a:stretch/>
        </p:blipFill>
        <p:spPr>
          <a:xfrm>
            <a:off x="349597" y="1422301"/>
            <a:ext cx="5554365" cy="352779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CF13C72-3C53-4045-8FAB-0503B6B1F423}"/>
              </a:ext>
            </a:extLst>
          </p:cNvPr>
          <p:cNvSpPr/>
          <p:nvPr/>
        </p:nvSpPr>
        <p:spPr>
          <a:xfrm>
            <a:off x="1785045" y="3429944"/>
            <a:ext cx="2447876" cy="35356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A04718-25CE-4C7B-B017-A99FD907B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784" y="1422301"/>
            <a:ext cx="2746480" cy="31941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7E2A41F3-9C6B-4DA8-A1C0-E03D66E94763}"/>
              </a:ext>
            </a:extLst>
          </p:cNvPr>
          <p:cNvSpPr/>
          <p:nvPr/>
        </p:nvSpPr>
        <p:spPr>
          <a:xfrm>
            <a:off x="5612090" y="3256939"/>
            <a:ext cx="709062" cy="2656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1297E0-A9BD-4ABA-B30B-0790BCB30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250" y="3604982"/>
            <a:ext cx="2342237" cy="2705472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95F6CC0-04BD-4E54-B0A5-D3656507FC69}"/>
              </a:ext>
            </a:extLst>
          </p:cNvPr>
          <p:cNvSpPr/>
          <p:nvPr/>
        </p:nvSpPr>
        <p:spPr>
          <a:xfrm>
            <a:off x="4723068" y="4519253"/>
            <a:ext cx="943762" cy="2656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EE6C95-4E31-45B4-8670-9B79988F0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04" y="5133683"/>
            <a:ext cx="3335660" cy="5631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417AA6-1B1A-4C8E-AC32-E4750405D6C2}"/>
              </a:ext>
            </a:extLst>
          </p:cNvPr>
          <p:cNvSpPr/>
          <p:nvPr/>
        </p:nvSpPr>
        <p:spPr>
          <a:xfrm>
            <a:off x="488505" y="5150815"/>
            <a:ext cx="3335660" cy="545976"/>
          </a:xfrm>
          <a:prstGeom prst="rect">
            <a:avLst/>
          </a:prstGeom>
          <a:noFill/>
          <a:ln w="28575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19366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</a:t>
            </a:r>
            <a:r>
              <a:rPr lang="ko-KR" altLang="en-US" dirty="0"/>
              <a:t> 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최초 프로젝트 </a:t>
            </a:r>
            <a:r>
              <a:rPr lang="en-US" altLang="ko-KR" dirty="0">
                <a:solidFill>
                  <a:srgbClr val="0000FF"/>
                </a:solidFill>
              </a:rPr>
              <a:t>Clone, pull and push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13352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31307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eGit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환경 확인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Window / Perspective / Version Control (Team) / Git / Configuration 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System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credential.helper = manager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Repository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git a clone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 정보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User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Add Entry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user.name : dims111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user.email : dims1111@gmail.com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0F0F82E3-CE21-443E-9366-12B006091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37995"/>
            <a:ext cx="4885414" cy="37912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45915E3-FA23-481E-8A4E-D4CF3BF8B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467" y="1439064"/>
            <a:ext cx="3919797" cy="2959107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Configuration </a:t>
            </a:r>
            <a:r>
              <a:rPr lang="ko-KR" altLang="en-US" dirty="0"/>
              <a:t>확인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egovframe4.3.1 </a:t>
            </a:r>
            <a:r>
              <a:rPr lang="ko-KR" altLang="en-US" dirty="0"/>
              <a:t>버전에는 </a:t>
            </a:r>
            <a:r>
              <a:rPr lang="en-US" altLang="ko-KR" dirty="0"/>
              <a:t>eGit</a:t>
            </a:r>
            <a:r>
              <a:rPr lang="ko-KR" altLang="en-US" dirty="0"/>
              <a:t>이 설치되어 있으며</a:t>
            </a:r>
            <a:r>
              <a:rPr lang="en-US" altLang="ko-KR" dirty="0"/>
              <a:t> Settings </a:t>
            </a:r>
            <a:r>
              <a:rPr lang="ko-KR" altLang="en-US" dirty="0"/>
              <a:t>파일은 아래와 같습니다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b="1" dirty="0">
                <a:solidFill>
                  <a:srgbClr val="00FFFF"/>
                </a:solidFill>
              </a:rPr>
              <a:t>User Setting</a:t>
            </a:r>
            <a:r>
              <a:rPr lang="ko-KR" altLang="en-US" b="1" dirty="0">
                <a:solidFill>
                  <a:srgbClr val="00FFFF"/>
                </a:solidFill>
              </a:rPr>
              <a:t>은 아래와 같이 직접 등록합니다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A7B80A-4F22-407E-B993-837FEA359BCE}"/>
              </a:ext>
            </a:extLst>
          </p:cNvPr>
          <p:cNvSpPr/>
          <p:nvPr/>
        </p:nvSpPr>
        <p:spPr>
          <a:xfrm>
            <a:off x="1784648" y="2923152"/>
            <a:ext cx="1368152" cy="11902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3D294F-BF44-4B78-9307-DE91131B888F}"/>
              </a:ext>
            </a:extLst>
          </p:cNvPr>
          <p:cNvSpPr/>
          <p:nvPr/>
        </p:nvSpPr>
        <p:spPr>
          <a:xfrm>
            <a:off x="4633604" y="2055893"/>
            <a:ext cx="2232248" cy="140907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2A2A79-91F1-4388-AED1-F04A19B3B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787" y="3465707"/>
            <a:ext cx="3817350" cy="2881768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D03D8BC-5487-4A54-9D46-CD40B04F6AE1}"/>
              </a:ext>
            </a:extLst>
          </p:cNvPr>
          <p:cNvSpPr/>
          <p:nvPr/>
        </p:nvSpPr>
        <p:spPr>
          <a:xfrm>
            <a:off x="3609436" y="4081132"/>
            <a:ext cx="2135652" cy="4135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1433D67-B695-417D-B8ED-45513478F0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604" y="4626126"/>
            <a:ext cx="2646395" cy="141900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68DE2D8F-2D69-468B-9224-13357BA95192}"/>
              </a:ext>
            </a:extLst>
          </p:cNvPr>
          <p:cNvSpPr/>
          <p:nvPr/>
        </p:nvSpPr>
        <p:spPr>
          <a:xfrm>
            <a:off x="4592916" y="5066896"/>
            <a:ext cx="1152172" cy="4135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406638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eGit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관련 창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Window / Show View / Others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조회조건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git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Git Repositories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Staging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멀티선택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(Ctrl +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마우스 클릭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Open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Git Repositories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Clone a Git Repository :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프로젝트 생성 후 최초 로컬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생성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an existing local Git repository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기존 생성된 로컬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Create a now local Git repository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생성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Git Staging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프로제트 소스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수정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삭제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 변경된 내용을 간략하게 작성하고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파일 저장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(Commit)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저장소에 파일 전송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(Push)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처리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C5738C29-10CB-46F8-A472-5947D187B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09033"/>
            <a:ext cx="6985000" cy="4899692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Git Repositories &amp; Staging </a:t>
            </a:r>
            <a:r>
              <a:rPr lang="ko-KR" altLang="en-US" dirty="0"/>
              <a:t>창 추가 및 로컬 </a:t>
            </a:r>
            <a:r>
              <a:rPr lang="en-US" altLang="ko-KR" dirty="0"/>
              <a:t>Git Repository </a:t>
            </a:r>
            <a:r>
              <a:rPr lang="ko-KR" altLang="en-US" dirty="0"/>
              <a:t>추가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사용을 위하여 </a:t>
            </a:r>
            <a:r>
              <a:rPr lang="en-US" altLang="ko-KR" b="1" dirty="0">
                <a:solidFill>
                  <a:srgbClr val="00FFFF"/>
                </a:solidFill>
              </a:rPr>
              <a:t>Git Repositories </a:t>
            </a:r>
            <a:r>
              <a:rPr lang="ko-KR" altLang="en-US" b="1" dirty="0">
                <a:solidFill>
                  <a:srgbClr val="00FFFF"/>
                </a:solidFill>
              </a:rPr>
              <a:t>및 </a:t>
            </a:r>
            <a:r>
              <a:rPr lang="en-US" altLang="ko-KR" b="1" dirty="0">
                <a:solidFill>
                  <a:srgbClr val="00FFFF"/>
                </a:solidFill>
              </a:rPr>
              <a:t>Git Staging </a:t>
            </a:r>
            <a:r>
              <a:rPr lang="ko-KR" altLang="en-US" b="1" dirty="0">
                <a:solidFill>
                  <a:srgbClr val="00FFFF"/>
                </a:solidFill>
              </a:rPr>
              <a:t>창을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로컬 저장소 생성을 위하여 </a:t>
            </a:r>
            <a:r>
              <a:rPr lang="en-US" altLang="ko-KR" dirty="0"/>
              <a:t>Clone a Git Repository </a:t>
            </a:r>
            <a:r>
              <a:rPr lang="ko-KR" altLang="en-US" dirty="0"/>
              <a:t>클릭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80772D-61F2-44CD-9F17-9520E64B3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52" y="1420886"/>
            <a:ext cx="2080068" cy="254031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39DD2F-CEE6-49C7-A401-A232C9A58FEE}"/>
              </a:ext>
            </a:extLst>
          </p:cNvPr>
          <p:cNvSpPr/>
          <p:nvPr/>
        </p:nvSpPr>
        <p:spPr>
          <a:xfrm>
            <a:off x="552348" y="2105775"/>
            <a:ext cx="1094498" cy="2723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0D6910-B6AC-4884-8215-48AEBB9EC0F4}"/>
              </a:ext>
            </a:extLst>
          </p:cNvPr>
          <p:cNvSpPr/>
          <p:nvPr/>
        </p:nvSpPr>
        <p:spPr>
          <a:xfrm>
            <a:off x="2408995" y="4537924"/>
            <a:ext cx="929093" cy="22333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EF49775-1D1B-4F91-B5F8-4448C80A915F}"/>
              </a:ext>
            </a:extLst>
          </p:cNvPr>
          <p:cNvSpPr/>
          <p:nvPr/>
        </p:nvSpPr>
        <p:spPr>
          <a:xfrm>
            <a:off x="1624304" y="5022938"/>
            <a:ext cx="1022002" cy="1525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397980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Git Repositories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Clone a Git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링크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Clone Git Repository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Location : GitHub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에서 생성된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Repository URI : </a:t>
                      </a:r>
                      <a:r>
                        <a:rPr lang="en-US" altLang="ko-KR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https://github.com/nbdf2026/nbdf.git</a:t>
                      </a:r>
                      <a:endParaRPr lang="en-US" altLang="ko-KR" sz="1050" b="1" spc="-1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Host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Repository path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입력하면 자동으로 표기됨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Connection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Protocol : https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기본값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Port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공백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기본값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Authentication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User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dims1111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(GitHub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에서 생성된 사용자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ID)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Password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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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(GitHub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에서 생성된 토큰 키 값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  :  Store in Secure Store : </a:t>
                      </a:r>
                      <a:r>
                        <a:rPr lang="ko-KR" altLang="en-US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체크</a:t>
                      </a:r>
                      <a:endParaRPr lang="en-US" altLang="ko-KR" sz="1050" b="1" spc="-1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AEEF14B9-9B2F-425A-B57E-5502D188A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12875"/>
            <a:ext cx="2381375" cy="1152029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repository(1/4)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83159F-4CC1-4B4B-A199-924AB62E12A2}"/>
              </a:ext>
            </a:extLst>
          </p:cNvPr>
          <p:cNvSpPr/>
          <p:nvPr/>
        </p:nvSpPr>
        <p:spPr>
          <a:xfrm>
            <a:off x="465643" y="2210408"/>
            <a:ext cx="1440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52FA52-E638-4D9C-9A41-05B3E5802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060" y="1412875"/>
            <a:ext cx="3457092" cy="3279334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7A3989-9EDB-4F33-AA25-04EC60D722DB}"/>
              </a:ext>
            </a:extLst>
          </p:cNvPr>
          <p:cNvSpPr/>
          <p:nvPr/>
        </p:nvSpPr>
        <p:spPr>
          <a:xfrm>
            <a:off x="2947824" y="3392038"/>
            <a:ext cx="3229312" cy="46901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8DF522-3A08-4183-8A5F-640E7AF8207E}"/>
              </a:ext>
            </a:extLst>
          </p:cNvPr>
          <p:cNvSpPr/>
          <p:nvPr/>
        </p:nvSpPr>
        <p:spPr>
          <a:xfrm>
            <a:off x="2947824" y="2380842"/>
            <a:ext cx="3229312" cy="8640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62E0CDC-AC5A-44F3-B7A0-0C99C0C64565}"/>
              </a:ext>
            </a:extLst>
          </p:cNvPr>
          <p:cNvSpPr/>
          <p:nvPr/>
        </p:nvSpPr>
        <p:spPr>
          <a:xfrm>
            <a:off x="2947824" y="2242964"/>
            <a:ext cx="2074106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780398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08433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Branch Selection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Branch name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Local Destination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Directory : </a:t>
                      </a:r>
                      <a:r>
                        <a:rPr lang="en-US" altLang="ko-KR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E:\nBDF\workspace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 - nbdf </a:t>
                      </a:r>
                      <a:r>
                        <a:rPr lang="ko-KR" altLang="en-US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폴더는 자동으로 생성됨</a:t>
                      </a:r>
                      <a:endParaRPr lang="en-US" altLang="ko-KR" sz="1050" b="1" spc="-1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참고</a:t>
                      </a: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) workspace 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폴더 아래 </a:t>
                      </a: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nbdf 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폴더가 존재하면 이클립스 종료 후 </a:t>
                      </a: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nbdf 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폴더 삭제 처리</a:t>
                      </a:r>
                      <a:endParaRPr lang="en-US" altLang="ko-KR" sz="1050" b="1" spc="-1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복제된 프로젝트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Import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Package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Explorer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바탕에서 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Import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repository(2/4)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00F709-F846-4341-8BB3-54053A13E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60" y="1414706"/>
            <a:ext cx="2758058" cy="261624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83F042-59FC-4A86-AAEF-8CE56D199C1A}"/>
              </a:ext>
            </a:extLst>
          </p:cNvPr>
          <p:cNvSpPr/>
          <p:nvPr/>
        </p:nvSpPr>
        <p:spPr>
          <a:xfrm>
            <a:off x="416496" y="2159225"/>
            <a:ext cx="726961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E78B84-211C-4BE5-B96E-FAF4669A2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704" y="1938542"/>
            <a:ext cx="2758058" cy="271459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5F7A64-C257-4D67-892B-1595C1A2C007}"/>
              </a:ext>
            </a:extLst>
          </p:cNvPr>
          <p:cNvSpPr/>
          <p:nvPr/>
        </p:nvSpPr>
        <p:spPr>
          <a:xfrm>
            <a:off x="2332933" y="2608512"/>
            <a:ext cx="2620066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5900D4-1A2E-4C8F-B97A-F92A799AA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984" y="3738524"/>
            <a:ext cx="2534282" cy="2572931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5D792B-940D-4E0B-BB14-AED66D13154A}"/>
              </a:ext>
            </a:extLst>
          </p:cNvPr>
          <p:cNvSpPr/>
          <p:nvPr/>
        </p:nvSpPr>
        <p:spPr>
          <a:xfrm>
            <a:off x="5169024" y="5620428"/>
            <a:ext cx="1027202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008134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91858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Import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Projects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 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7. Git Repositories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Local Repository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생성되었으며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pull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push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를 위한 설정도 자동으로 생성됨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8. Project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Clean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복제 후 소스 컴파일 실행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9. Pull </a:t>
                      </a:r>
                      <a:r>
                        <a:rPr lang="ko-KR" altLang="en-US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b="1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URI, User, Password 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정보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Ref mapping (push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처리 기준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repository(3/4)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3EB4BD9-C282-4F47-B87F-182E57236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6820"/>
            <a:ext cx="2561795" cy="352434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F2A3078-F88A-40AB-8DEB-D18746046F00}"/>
              </a:ext>
            </a:extLst>
          </p:cNvPr>
          <p:cNvSpPr/>
          <p:nvPr/>
        </p:nvSpPr>
        <p:spPr>
          <a:xfrm>
            <a:off x="344488" y="2420888"/>
            <a:ext cx="1296000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24B4C7-9F5F-496B-A778-70E65954A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721" y="1409678"/>
            <a:ext cx="2417926" cy="252000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6D07C0E-6A80-4742-95DF-2079006683D2}"/>
              </a:ext>
            </a:extLst>
          </p:cNvPr>
          <p:cNvSpPr/>
          <p:nvPr/>
        </p:nvSpPr>
        <p:spPr>
          <a:xfrm>
            <a:off x="3028921" y="2406248"/>
            <a:ext cx="1924079" cy="126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5FD84BB-3EA7-4DBA-AD82-580FBFC1C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6778" y="2824141"/>
            <a:ext cx="3168352" cy="252000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FB67025-690E-48F1-85BD-36C66C2D7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279" y="4175510"/>
            <a:ext cx="2553209" cy="213220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2870EC9-BDE7-486E-A17D-EF549D80E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7656" y="4620518"/>
            <a:ext cx="2934265" cy="168820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4DADB7D-2646-4CD6-A435-8ABE0CB65E13}"/>
              </a:ext>
            </a:extLst>
          </p:cNvPr>
          <p:cNvSpPr/>
          <p:nvPr/>
        </p:nvSpPr>
        <p:spPr>
          <a:xfrm>
            <a:off x="6302211" y="3414282"/>
            <a:ext cx="506669" cy="27009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F8E748-2422-43B5-ACA0-9FB310D30235}"/>
              </a:ext>
            </a:extLst>
          </p:cNvPr>
          <p:cNvSpPr/>
          <p:nvPr/>
        </p:nvSpPr>
        <p:spPr>
          <a:xfrm>
            <a:off x="4833053" y="4655688"/>
            <a:ext cx="2362077" cy="143514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12A507F-ECC5-4369-81E6-5FFF733DAF46}"/>
              </a:ext>
            </a:extLst>
          </p:cNvPr>
          <p:cNvSpPr/>
          <p:nvPr/>
        </p:nvSpPr>
        <p:spPr>
          <a:xfrm>
            <a:off x="4109356" y="3789040"/>
            <a:ext cx="1357729" cy="2232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432055-6D6C-48A8-BB35-8F089A635D14}"/>
              </a:ext>
            </a:extLst>
          </p:cNvPr>
          <p:cNvSpPr/>
          <p:nvPr/>
        </p:nvSpPr>
        <p:spPr>
          <a:xfrm>
            <a:off x="6573915" y="4013228"/>
            <a:ext cx="506669" cy="15246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6CD7E0B-E03C-419D-A1E2-66EC1A73F02C}"/>
              </a:ext>
            </a:extLst>
          </p:cNvPr>
          <p:cNvSpPr/>
          <p:nvPr/>
        </p:nvSpPr>
        <p:spPr>
          <a:xfrm>
            <a:off x="1699492" y="5157346"/>
            <a:ext cx="2934265" cy="8734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1E65D17-7080-4A4E-BF10-058B24CC7116}"/>
              </a:ext>
            </a:extLst>
          </p:cNvPr>
          <p:cNvCxnSpPr>
            <a:cxnSpLocks/>
            <a:stCxn id="20" idx="3"/>
            <a:endCxn id="15" idx="0"/>
          </p:cNvCxnSpPr>
          <p:nvPr/>
        </p:nvCxnSpPr>
        <p:spPr>
          <a:xfrm>
            <a:off x="4953000" y="2469248"/>
            <a:ext cx="1602546" cy="945034"/>
          </a:xfrm>
          <a:prstGeom prst="bentConnector2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5">
            <a:extLst>
              <a:ext uri="{FF2B5EF4-FFF2-40B4-BE49-F238E27FC236}">
                <a16:creationId xmlns:a16="http://schemas.microsoft.com/office/drawing/2014/main" id="{9DDAE582-DFAF-40E8-8325-9E713FE037D4}"/>
              </a:ext>
            </a:extLst>
          </p:cNvPr>
          <p:cNvCxnSpPr>
            <a:cxnSpLocks/>
            <a:stCxn id="15" idx="3"/>
            <a:endCxn id="17" idx="3"/>
          </p:cNvCxnSpPr>
          <p:nvPr/>
        </p:nvCxnSpPr>
        <p:spPr>
          <a:xfrm>
            <a:off x="6808880" y="3549329"/>
            <a:ext cx="386250" cy="1823933"/>
          </a:xfrm>
          <a:prstGeom prst="bentConnector3">
            <a:avLst>
              <a:gd name="adj1" fmla="val 159184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5">
            <a:extLst>
              <a:ext uri="{FF2B5EF4-FFF2-40B4-BE49-F238E27FC236}">
                <a16:creationId xmlns:a16="http://schemas.microsoft.com/office/drawing/2014/main" id="{C9C4FDBD-6420-463E-9D44-6F0B2C60F44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5467085" y="3900649"/>
            <a:ext cx="1106830" cy="188809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5">
            <a:extLst>
              <a:ext uri="{FF2B5EF4-FFF2-40B4-BE49-F238E27FC236}">
                <a16:creationId xmlns:a16="http://schemas.microsoft.com/office/drawing/2014/main" id="{7E280A12-81C5-4836-A4F1-64586CF05A0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rot="5400000">
            <a:off x="4501109" y="2831205"/>
            <a:ext cx="991658" cy="3660625"/>
          </a:xfrm>
          <a:prstGeom prst="bentConnector3">
            <a:avLst>
              <a:gd name="adj1" fmla="val 16245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83110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6268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10. Push </a:t>
                      </a:r>
                      <a:r>
                        <a:rPr lang="ko-KR" altLang="en-US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b="1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URI, User, Password 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정보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repository(4/4)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24B4C7-9F5F-496B-A778-70E65954A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09678"/>
            <a:ext cx="2417926" cy="252000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6D07C0E-6A80-4742-95DF-2079006683D2}"/>
              </a:ext>
            </a:extLst>
          </p:cNvPr>
          <p:cNvSpPr/>
          <p:nvPr/>
        </p:nvSpPr>
        <p:spPr>
          <a:xfrm>
            <a:off x="395688" y="2527240"/>
            <a:ext cx="1924079" cy="126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591B2F-C8BD-4202-A425-8A005F3D1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913" y="1880431"/>
            <a:ext cx="2934265" cy="248063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0F432AB-B17F-4962-ADA5-A483F9CC6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422" y="3308731"/>
            <a:ext cx="2830066" cy="2363406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2900FE4D-D65D-4F2F-87A7-0266DC2F74C5}"/>
              </a:ext>
            </a:extLst>
          </p:cNvPr>
          <p:cNvSpPr/>
          <p:nvPr/>
        </p:nvSpPr>
        <p:spPr>
          <a:xfrm>
            <a:off x="4950049" y="2454434"/>
            <a:ext cx="418735" cy="2029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03F1F14-C0A3-4BAC-B593-EF6EE246F8E8}"/>
              </a:ext>
            </a:extLst>
          </p:cNvPr>
          <p:cNvSpPr/>
          <p:nvPr/>
        </p:nvSpPr>
        <p:spPr>
          <a:xfrm>
            <a:off x="4592960" y="3942993"/>
            <a:ext cx="2664295" cy="13582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001656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55797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Push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Git Staging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창 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Unstaged Changes 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변경된 파일 목록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전체선택 또는 </a:t>
                      </a:r>
                      <a:r>
                        <a:rPr lang="ko-KR" altLang="en-US" sz="1050" b="0" spc="-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단건선택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아이콘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Staged Changes(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변경된 파일을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repository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 저장하기 위한 파일 목록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Commit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Message(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변경된 내용을 간략하게 기술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Commit and Push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Push Results </a:t>
                      </a:r>
                      <a:r>
                        <a:rPr lang="ko-KR" altLang="en-US" sz="1050" b="0" spc="-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팝업창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내용을 확인 후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Close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Push </a:t>
                      </a:r>
                      <a:r>
                        <a:rPr lang="ko-KR" altLang="en-US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결과 확인</a:t>
                      </a:r>
                      <a:endParaRPr lang="en-US" altLang="ko-KR" sz="1050" b="1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URL : https://github.com/nbdf2026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Pull or Push(2/2)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Pull</a:t>
            </a:r>
            <a:r>
              <a:rPr lang="ko-KR" altLang="en-US" b="1" dirty="0">
                <a:solidFill>
                  <a:srgbClr val="00FFFF"/>
                </a:solidFill>
              </a:rPr>
              <a:t>은 </a:t>
            </a:r>
            <a:r>
              <a:rPr lang="en-US" altLang="ko-KR" b="1" dirty="0">
                <a:solidFill>
                  <a:srgbClr val="00FFFF"/>
                </a:solidFill>
              </a:rPr>
              <a:t>Remote repository</a:t>
            </a:r>
            <a:r>
              <a:rPr lang="ko-KR" altLang="en-US" b="1" dirty="0">
                <a:solidFill>
                  <a:srgbClr val="00FFFF"/>
                </a:solidFill>
              </a:rPr>
              <a:t>에 변경된 내용을 </a:t>
            </a:r>
            <a:r>
              <a:rPr lang="en-US" altLang="ko-KR" b="1" dirty="0">
                <a:solidFill>
                  <a:srgbClr val="00FFFF"/>
                </a:solidFill>
              </a:rPr>
              <a:t>Local repository</a:t>
            </a:r>
            <a:r>
              <a:rPr lang="ko-KR" altLang="en-US" b="1" dirty="0">
                <a:solidFill>
                  <a:srgbClr val="00FFFF"/>
                </a:solidFill>
              </a:rPr>
              <a:t>에 다운로드합니다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en-US" altLang="ko-KR" dirty="0"/>
          </a:p>
          <a:p>
            <a:r>
              <a:rPr lang="en-US" altLang="ko-KR" b="1" dirty="0">
                <a:solidFill>
                  <a:srgbClr val="00FFFF"/>
                </a:solidFill>
              </a:rPr>
              <a:t>Push</a:t>
            </a:r>
            <a:r>
              <a:rPr lang="ko-KR" altLang="en-US" b="1" dirty="0">
                <a:solidFill>
                  <a:srgbClr val="00FFFF"/>
                </a:solidFill>
              </a:rPr>
              <a:t>는 </a:t>
            </a:r>
            <a:r>
              <a:rPr lang="en-US" altLang="ko-KR" b="1" dirty="0">
                <a:solidFill>
                  <a:srgbClr val="00FFFF"/>
                </a:solidFill>
              </a:rPr>
              <a:t>Local repository</a:t>
            </a:r>
            <a:r>
              <a:rPr lang="ko-KR" altLang="en-US" b="1" dirty="0">
                <a:solidFill>
                  <a:srgbClr val="00FFFF"/>
                </a:solidFill>
              </a:rPr>
              <a:t>에 변경된 내용을 </a:t>
            </a:r>
            <a:r>
              <a:rPr lang="en-US" altLang="ko-KR" b="1" dirty="0">
                <a:solidFill>
                  <a:srgbClr val="00FFFF"/>
                </a:solidFill>
              </a:rPr>
              <a:t>Remote repository</a:t>
            </a:r>
            <a:r>
              <a:rPr lang="ko-KR" altLang="en-US" b="1" dirty="0">
                <a:solidFill>
                  <a:srgbClr val="00FFFF"/>
                </a:solidFill>
              </a:rPr>
              <a:t>에 업로드합니다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8B047E-73AC-4B69-BF11-16F6E7C28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40" y="1423169"/>
            <a:ext cx="6982448" cy="258189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A9B04D-FA30-421C-9CAC-CB954F0A14F3}"/>
              </a:ext>
            </a:extLst>
          </p:cNvPr>
          <p:cNvSpPr/>
          <p:nvPr/>
        </p:nvSpPr>
        <p:spPr>
          <a:xfrm>
            <a:off x="6179286" y="3820587"/>
            <a:ext cx="701761" cy="1844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A9906B-88F1-4EE9-B2BB-C0158567E121}"/>
              </a:ext>
            </a:extLst>
          </p:cNvPr>
          <p:cNvSpPr/>
          <p:nvPr/>
        </p:nvSpPr>
        <p:spPr>
          <a:xfrm>
            <a:off x="426651" y="3100507"/>
            <a:ext cx="701761" cy="1844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56BF9E6-D148-425C-B4BD-D344CFAB60FC}"/>
              </a:ext>
            </a:extLst>
          </p:cNvPr>
          <p:cNvSpPr/>
          <p:nvPr/>
        </p:nvSpPr>
        <p:spPr>
          <a:xfrm>
            <a:off x="3851060" y="2289323"/>
            <a:ext cx="1029932" cy="4916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134C3EA-9263-4E94-A7D9-8FBB98603120}"/>
              </a:ext>
            </a:extLst>
          </p:cNvPr>
          <p:cNvSpPr/>
          <p:nvPr/>
        </p:nvSpPr>
        <p:spPr>
          <a:xfrm>
            <a:off x="3080792" y="1923996"/>
            <a:ext cx="360985" cy="1723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223DD8-E8DF-4D48-A5C9-6A3CACA9A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440" y="4073583"/>
            <a:ext cx="3090048" cy="213744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00ACC8-D292-490E-B0CE-1877AAF7B4CE}"/>
              </a:ext>
            </a:extLst>
          </p:cNvPr>
          <p:cNvSpPr/>
          <p:nvPr/>
        </p:nvSpPr>
        <p:spPr>
          <a:xfrm>
            <a:off x="4242400" y="4551519"/>
            <a:ext cx="2942848" cy="2880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94F6CC0-523D-4F63-A98C-B3AA1710B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88" y="3933056"/>
            <a:ext cx="3805580" cy="224401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0477BB54-064A-4A55-9BDF-00C782127513}"/>
              </a:ext>
            </a:extLst>
          </p:cNvPr>
          <p:cNvSpPr/>
          <p:nvPr/>
        </p:nvSpPr>
        <p:spPr>
          <a:xfrm>
            <a:off x="1856655" y="5830380"/>
            <a:ext cx="1872209" cy="34668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010242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Push </a:t>
            </a:r>
            <a:r>
              <a:rPr lang="ko-KR" altLang="en-US" dirty="0"/>
              <a:t>시 권한 오류 시 외부 </a:t>
            </a:r>
            <a:r>
              <a:rPr lang="en-US" altLang="ko-KR" dirty="0"/>
              <a:t>Git </a:t>
            </a:r>
            <a:r>
              <a:rPr lang="ko-KR" altLang="en-US" dirty="0"/>
              <a:t>사용을 통한 </a:t>
            </a:r>
            <a:r>
              <a:rPr lang="en-US" altLang="ko-KR" dirty="0"/>
              <a:t>Push</a:t>
            </a:r>
            <a:r>
              <a:rPr lang="ko-KR" altLang="en-US" dirty="0"/>
              <a:t> 처리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프로젝트의 저장소 </a:t>
            </a:r>
            <a:r>
              <a:rPr lang="en-US" altLang="ko-KR" dirty="0"/>
              <a:t>“https://github.com/nbdf2026/</a:t>
            </a:r>
            <a:r>
              <a:rPr lang="en-US" altLang="ko-KR" dirty="0" err="1"/>
              <a:t>nbdf.git</a:t>
            </a:r>
            <a:r>
              <a:rPr lang="en-US" altLang="ko-KR" dirty="0"/>
              <a:t>” </a:t>
            </a:r>
            <a:r>
              <a:rPr lang="ko-KR" altLang="en-US" dirty="0"/>
              <a:t>구성원</a:t>
            </a:r>
            <a:r>
              <a:rPr lang="en-US" altLang="ko-KR" dirty="0"/>
              <a:t>(Collaborator)</a:t>
            </a:r>
            <a:r>
              <a:rPr lang="ko-KR" altLang="en-US" dirty="0"/>
              <a:t>으로 등록되고 토큰도 정상적으로 발급 받아 </a:t>
            </a:r>
            <a:r>
              <a:rPr lang="en-US" altLang="ko-KR" dirty="0"/>
              <a:t>Push</a:t>
            </a:r>
            <a:r>
              <a:rPr lang="ko-KR" altLang="en-US" dirty="0"/>
              <a:t>가 잘되었는데 익일 다시 </a:t>
            </a:r>
            <a:r>
              <a:rPr lang="en-US" altLang="ko-KR" dirty="0"/>
              <a:t>Push </a:t>
            </a:r>
            <a:r>
              <a:rPr lang="ko-KR" altLang="en-US" dirty="0"/>
              <a:t>시 </a:t>
            </a:r>
            <a:r>
              <a:rPr lang="en-US" altLang="ko-KR" dirty="0"/>
              <a:t>“not authorized” </a:t>
            </a:r>
            <a:r>
              <a:rPr lang="ko-KR" altLang="en-US" dirty="0"/>
              <a:t>오류가 발생할 경우 아래와 같이 처리합니다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84CAEE1-26CA-47FE-8893-D68CC92E7E87}"/>
              </a:ext>
            </a:extLst>
          </p:cNvPr>
          <p:cNvGrpSpPr/>
          <p:nvPr/>
        </p:nvGrpSpPr>
        <p:grpSpPr>
          <a:xfrm>
            <a:off x="3546340" y="1414019"/>
            <a:ext cx="2880000" cy="1150885"/>
            <a:chOff x="6313589" y="2207054"/>
            <a:chExt cx="1620000" cy="1196599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70F5531-440A-4697-893D-D8DF949036E8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프로젝트 경로 이동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3E21D29-6611-4AE8-8C9E-296C20E659C6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C:\Users\dims1&gt;e: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E:\&gt;cd E:\nBDF\workspace\nbdf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D821471-ED4C-4727-8245-E64DC249398A}"/>
              </a:ext>
            </a:extLst>
          </p:cNvPr>
          <p:cNvGrpSpPr/>
          <p:nvPr/>
        </p:nvGrpSpPr>
        <p:grpSpPr>
          <a:xfrm>
            <a:off x="6735232" y="1414019"/>
            <a:ext cx="2880000" cy="1150885"/>
            <a:chOff x="6313589" y="2207054"/>
            <a:chExt cx="1620000" cy="1196599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4C1786B8-8CAE-4262-8B85-F4D1A6A6DD00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Git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버전 확인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69FF811-8068-4D7D-9B91-029E7EC7AFF8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--version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version 2.54.0.windows.1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2CCFC43-F7E9-4B39-A520-E3A1CC0CA13B}"/>
              </a:ext>
            </a:extLst>
          </p:cNvPr>
          <p:cNvGrpSpPr/>
          <p:nvPr/>
        </p:nvGrpSpPr>
        <p:grpSpPr>
          <a:xfrm>
            <a:off x="366592" y="2636912"/>
            <a:ext cx="9248640" cy="1150885"/>
            <a:chOff x="6313589" y="2207054"/>
            <a:chExt cx="1620000" cy="1196599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B612224-CC4A-4874-B103-0BDC21396B77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Remote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repository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정보 확인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로컬과 리모트 헤드정보 일치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endParaRPr lang="ko-KR" altLang="en-US" sz="120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E9FCC20-C95D-4056-A0F0-3B645B31BC20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ls-remote https://github.com/nbdf2026/nbdf.git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7da50d90f1024bb4b32e63095d4231665fd653a7        HEAD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7da50d90f1024bb4b32e63095d4231665fd653a7        refs/heads/main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5D64B5A-48B4-4DD1-A7C6-130AA57B9BE1}"/>
              </a:ext>
            </a:extLst>
          </p:cNvPr>
          <p:cNvGrpSpPr/>
          <p:nvPr/>
        </p:nvGrpSpPr>
        <p:grpSpPr>
          <a:xfrm>
            <a:off x="366592" y="3860627"/>
            <a:ext cx="9248640" cy="2448097"/>
            <a:chOff x="6313589" y="2207054"/>
            <a:chExt cx="1620000" cy="2171615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78C88068-723D-4872-8621-FC1F666A0911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Remote repository push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진행 및 인증 중개 프로그램 적용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72192BF-2B75-4177-AADE-3E1F5DFB98BA}"/>
                </a:ext>
              </a:extLst>
            </p:cNvPr>
            <p:cNvSpPr/>
            <p:nvPr/>
          </p:nvSpPr>
          <p:spPr>
            <a:xfrm>
              <a:off x="6313589" y="2559652"/>
              <a:ext cx="1620000" cy="18190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push origin main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Authorize Git Credential Manager 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웹 화면으로 이동 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Authorize ?? 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버튼 클릭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웹 화면에서 하단 우측 버튼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E:\nBDF\workspace\nbdf&gt;git push origin main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info: please complete authentication in your browser...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Enumerating objects: 28, done.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Writing objects: 100% (28/28), 3.44 KiB | 3.44 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MiB</a:t>
              </a:r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/s, done.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Total 28 (delta 0), reused 0 (delta 0), pack-reused 28 (from 1)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To https://github.com/nbdf2026/nbdf.git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7da50d9..8d337dc  main -&gt; main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113CA7C-5B6F-4A16-B7AC-54DD847D8B5B}"/>
              </a:ext>
            </a:extLst>
          </p:cNvPr>
          <p:cNvGrpSpPr/>
          <p:nvPr/>
        </p:nvGrpSpPr>
        <p:grpSpPr>
          <a:xfrm>
            <a:off x="357448" y="1414019"/>
            <a:ext cx="2880000" cy="1150885"/>
            <a:chOff x="6313589" y="2207054"/>
            <a:chExt cx="1620000" cy="1196599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A83FFA0-A83F-4033-9CF0-9E97C304D412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윈도우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5F73172-8A1C-4196-9775-167562D3AF08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for Windows/x64 Setup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- Git-2.54.0-64-bit.exe</a:t>
              </a: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- Ⅶ.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git 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설치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참조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endParaRPr lang="en-US" altLang="ko-KR" sz="1200" b="1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150920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Share Project</a:t>
            </a:r>
            <a:r>
              <a:rPr lang="ko-KR" altLang="en-US" dirty="0"/>
              <a:t>를 통한 </a:t>
            </a:r>
            <a:r>
              <a:rPr lang="en-US" altLang="ko-KR" dirty="0"/>
              <a:t>Pull </a:t>
            </a:r>
            <a:r>
              <a:rPr lang="ko-KR" altLang="en-US" dirty="0"/>
              <a:t>처리 </a:t>
            </a:r>
            <a:r>
              <a:rPr lang="en-US" altLang="ko-KR" dirty="0"/>
              <a:t>(</a:t>
            </a:r>
            <a:r>
              <a:rPr lang="ko-KR" altLang="en-US" dirty="0"/>
              <a:t>최초 </a:t>
            </a:r>
            <a:r>
              <a:rPr lang="en-US" altLang="ko-KR" dirty="0"/>
              <a:t>Remote repository</a:t>
            </a:r>
            <a:r>
              <a:rPr lang="ko-KR" altLang="en-US" dirty="0"/>
              <a:t>에 파일 업로드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프로젝트가 </a:t>
            </a:r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pc</a:t>
            </a:r>
            <a:r>
              <a:rPr lang="ko-KR" altLang="en-US" b="1" dirty="0">
                <a:solidFill>
                  <a:srgbClr val="00FFFF"/>
                </a:solidFill>
              </a:rPr>
              <a:t>에 존재할 경우 </a:t>
            </a:r>
            <a:r>
              <a:rPr lang="en-US" altLang="ko-KR" b="1" dirty="0">
                <a:solidFill>
                  <a:srgbClr val="00FFFF"/>
                </a:solidFill>
              </a:rPr>
              <a:t>Share project</a:t>
            </a:r>
            <a:r>
              <a:rPr lang="ko-KR" altLang="en-US" b="1" dirty="0">
                <a:solidFill>
                  <a:srgbClr val="00FFFF"/>
                </a:solidFill>
              </a:rPr>
              <a:t>를 통하여 </a:t>
            </a:r>
            <a:r>
              <a:rPr lang="en-US" altLang="ko-KR" b="1" dirty="0">
                <a:solidFill>
                  <a:srgbClr val="00FFFF"/>
                </a:solidFill>
              </a:rPr>
              <a:t>Local repository</a:t>
            </a:r>
            <a:r>
              <a:rPr lang="ko-KR" altLang="en-US" b="1" dirty="0">
                <a:solidFill>
                  <a:srgbClr val="00FFFF"/>
                </a:solidFill>
              </a:rPr>
              <a:t>를 생성</a:t>
            </a:r>
            <a:r>
              <a:rPr lang="ko-KR" altLang="en-US" dirty="0"/>
              <a:t>하고</a:t>
            </a:r>
            <a:r>
              <a:rPr lang="en-US" altLang="ko-KR" dirty="0"/>
              <a:t>, git reset</a:t>
            </a:r>
            <a:r>
              <a:rPr lang="ko-KR" altLang="en-US" dirty="0"/>
              <a:t>을 통하여 전체 소스를 다운로드</a:t>
            </a:r>
            <a:r>
              <a:rPr lang="en-US" altLang="ko-KR" dirty="0"/>
              <a:t>(pull)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b="1" dirty="0">
                <a:solidFill>
                  <a:srgbClr val="00FFFF"/>
                </a:solidFill>
              </a:rPr>
              <a:t>반드시 백업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기존 프로젝트의 모든 정보가 삭제 됨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 후 작업합니다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62425A5-66D5-41AF-9112-387072A1D8DC}"/>
              </a:ext>
            </a:extLst>
          </p:cNvPr>
          <p:cNvGrpSpPr/>
          <p:nvPr/>
        </p:nvGrpSpPr>
        <p:grpSpPr>
          <a:xfrm>
            <a:off x="357448" y="1414019"/>
            <a:ext cx="2880000" cy="862853"/>
            <a:chOff x="6313589" y="2207054"/>
            <a:chExt cx="1620000" cy="897126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61A96F6-5564-48D7-8205-129E9DFB4B6F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이클립스 프로젝트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(nbdf)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6C478C-FFE9-4A43-B596-7643640DD1F2}"/>
                </a:ext>
              </a:extLst>
            </p:cNvPr>
            <p:cNvSpPr/>
            <p:nvPr/>
          </p:nvSpPr>
          <p:spPr>
            <a:xfrm>
              <a:off x="6313589" y="2559653"/>
              <a:ext cx="1620000" cy="5445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오른쪽 메뉴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team / Share Project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7AFC08B-3BF4-42ED-BA54-C588B7BB4CE0}"/>
              </a:ext>
            </a:extLst>
          </p:cNvPr>
          <p:cNvGrpSpPr/>
          <p:nvPr/>
        </p:nvGrpSpPr>
        <p:grpSpPr>
          <a:xfrm>
            <a:off x="357448" y="2420888"/>
            <a:ext cx="2880000" cy="3887835"/>
            <a:chOff x="6313589" y="2207054"/>
            <a:chExt cx="1620000" cy="4042262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33E703C-856E-46CB-858F-7AF57448AB8D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이클립스 터미널 창 오픈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4BB8426-CF76-4D85-8B28-BDAFF1D9BCB8}"/>
                </a:ext>
              </a:extLst>
            </p:cNvPr>
            <p:cNvSpPr/>
            <p:nvPr/>
          </p:nvSpPr>
          <p:spPr>
            <a:xfrm>
              <a:off x="6313589" y="2559652"/>
              <a:ext cx="1620000" cy="368966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Terminal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 접속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메뉴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window / show view / Terminal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추가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Open a Terminal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아이콘 클릭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Terminal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접속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E: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드라이브 이동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cd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nBDF\workspace\nbdf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폴더 이동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377099C-6DF2-4FCE-B59F-6DEF12A33FC9}"/>
              </a:ext>
            </a:extLst>
          </p:cNvPr>
          <p:cNvGrpSpPr/>
          <p:nvPr/>
        </p:nvGrpSpPr>
        <p:grpSpPr>
          <a:xfrm>
            <a:off x="3368823" y="1412776"/>
            <a:ext cx="6264695" cy="4895948"/>
            <a:chOff x="6313589" y="2207054"/>
            <a:chExt cx="1620000" cy="5090418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2F968C7-280A-49AF-9592-2FFB25921BE1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이클립스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eGit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통한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Pull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00937B2-57A2-4AD5-92FF-0ECEE33DC4C3}"/>
                </a:ext>
              </a:extLst>
            </p:cNvPr>
            <p:cNvSpPr/>
            <p:nvPr/>
          </p:nvSpPr>
          <p:spPr>
            <a:xfrm>
              <a:off x="6313589" y="2559653"/>
              <a:ext cx="1620000" cy="473781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깃 버전 확인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–version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nbdf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프로젝트에 변경된 파일을 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Staging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영역에 등록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add .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위 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번에서 취합되 파일을 하나의 이력으로 저장</a:t>
              </a:r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commit -m “nbdf project initial commit”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원격지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(Remote repository)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 업로드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(push)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 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push origin main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로컬 및 원격지 브랜치 조회</a:t>
              </a:r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branch -a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6. </a:t>
              </a: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모든 브랜치 </a:t>
              </a: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Commit </a:t>
              </a: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이력을 한 줄로 표시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E:\nBDF\workspace\nbdf&gt;</a:t>
              </a:r>
              <a:r>
                <a:rPr lang="en-US" altLang="ko-KR" sz="12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log --oneline –all</a:t>
              </a:r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086389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.gitignore </a:t>
            </a:r>
            <a:r>
              <a:rPr lang="ko-KR" altLang="en-US" dirty="0"/>
              <a:t>파일 설정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Remote repository</a:t>
            </a:r>
            <a:r>
              <a:rPr lang="ko-KR" altLang="en-US" dirty="0"/>
              <a:t>에 </a:t>
            </a:r>
            <a:r>
              <a:rPr lang="en-US" altLang="ko-KR" b="1" dirty="0">
                <a:solidFill>
                  <a:srgbClr val="00FFFF"/>
                </a:solidFill>
              </a:rPr>
              <a:t>push</a:t>
            </a:r>
            <a:r>
              <a:rPr lang="ko-KR" altLang="en-US" b="1" dirty="0">
                <a:solidFill>
                  <a:srgbClr val="00FFFF"/>
                </a:solidFill>
              </a:rPr>
              <a:t>할 시 예외적인 파일</a:t>
            </a:r>
            <a:r>
              <a:rPr lang="ko-KR" altLang="en-US" dirty="0"/>
              <a:t>을 제외 후 업로드합니다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62425A5-66D5-41AF-9112-387072A1D8DC}"/>
              </a:ext>
            </a:extLst>
          </p:cNvPr>
          <p:cNvGrpSpPr/>
          <p:nvPr/>
        </p:nvGrpSpPr>
        <p:grpSpPr>
          <a:xfrm>
            <a:off x="357447" y="1414019"/>
            <a:ext cx="9275031" cy="4894705"/>
            <a:chOff x="6313589" y="2207054"/>
            <a:chExt cx="1620000" cy="508912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61A96F6-5564-48D7-8205-129E9DFB4B6F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E:\nBDF\workspace\nbdf\.gitignore</a:t>
              </a:r>
              <a:endParaRPr lang="ko-KR" altLang="en-US" sz="120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6C478C-FFE9-4A43-B596-7643640DD1F2}"/>
                </a:ext>
              </a:extLst>
            </p:cNvPr>
            <p:cNvSpPr/>
            <p:nvPr/>
          </p:nvSpPr>
          <p:spPr>
            <a:xfrm>
              <a:off x="6313589" y="2559652"/>
              <a:ext cx="1620000" cy="47365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# Compiled class file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*.class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# Log file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*.log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# 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BlueJ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files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ctxt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# Mobile Tools for Java (J2ME)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mtj.tmp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# Package Files #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*.jar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*.war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nar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*.ear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*.zip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*.tar.gz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rar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# virtual machine crash logs, see http://www.java.com/en/download/help/error_hotspot.xml</a:t>
              </a:r>
            </a:p>
            <a:p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hs_err_pid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  <a:p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replay_pid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  <a:p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181864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116579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진행시 필요한 공통 요구사항을 라이브러리 개발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TypeDefinition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Service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ExtendLib User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Service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그리드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아이콘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Type : js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PrefixID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ExtendLib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URL : E:\yBDF\workspace\nbdf\src\main\nbdf-ui\nexacrolib\component\ExtendLib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IncludeSub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-directory : true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23262665-F68B-4295-88DF-78435C33DA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8"/>
          <a:stretch/>
        </p:blipFill>
        <p:spPr>
          <a:xfrm>
            <a:off x="344488" y="1412875"/>
            <a:ext cx="6985000" cy="4895850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</a:t>
            </a:r>
            <a:r>
              <a:rPr lang="ko-KR" altLang="en-US" dirty="0"/>
              <a:t>소스 경로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</a:t>
            </a:r>
            <a:r>
              <a:rPr lang="ko-KR" altLang="en-US" b="1" dirty="0">
                <a:solidFill>
                  <a:srgbClr val="00FFFF"/>
                </a:solidFill>
              </a:rPr>
              <a:t>공통으로 작성할 서비스</a:t>
            </a:r>
            <a:r>
              <a:rPr lang="ko-KR" altLang="en-US" dirty="0"/>
              <a:t>를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TypeDefinition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Service</a:t>
            </a:r>
            <a:r>
              <a:rPr lang="ko-KR" altLang="en-US" dirty="0"/>
              <a:t>에 </a:t>
            </a:r>
            <a:r>
              <a:rPr lang="en-US" altLang="ko-KR" b="1" dirty="0">
                <a:solidFill>
                  <a:srgbClr val="00FFFF"/>
                </a:solidFill>
              </a:rPr>
              <a:t>ExtendLib</a:t>
            </a:r>
            <a:r>
              <a:rPr lang="en-US" altLang="ko-KR" dirty="0"/>
              <a:t> </a:t>
            </a:r>
            <a:r>
              <a:rPr lang="ko-KR" altLang="en-US" dirty="0"/>
              <a:t>폴더를 설정 후 공통으로 사용할 </a:t>
            </a:r>
            <a:r>
              <a:rPr lang="en-US" altLang="ko-KR" dirty="0"/>
              <a:t>js</a:t>
            </a:r>
            <a:r>
              <a:rPr lang="ko-KR" altLang="en-US" dirty="0"/>
              <a:t>파일 생성합니다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407350" y="3241350"/>
            <a:ext cx="598681" cy="1268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8BC514-0B57-40CC-8978-9703B709F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403" y="1977921"/>
            <a:ext cx="4831342" cy="37657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53FA8-72E9-4A77-A9D2-EDC50A49B2C1}"/>
              </a:ext>
            </a:extLst>
          </p:cNvPr>
          <p:cNvSpPr/>
          <p:nvPr/>
        </p:nvSpPr>
        <p:spPr>
          <a:xfrm>
            <a:off x="1807445" y="3637473"/>
            <a:ext cx="4729731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237963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json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E:\yBDF\workspace\nbdf\src\main\nbdf-ui\nexacrolib\component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ExtendLib.json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json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소스를 파일에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06F9876D-E9DB-4298-AB2C-E0543517D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2" y="1421039"/>
            <a:ext cx="6976836" cy="3750049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ExtendLib.json </a:t>
            </a:r>
            <a:r>
              <a:rPr lang="ko-KR" altLang="en-US" dirty="0"/>
              <a:t>파일 작성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취합형 </a:t>
            </a:r>
            <a:r>
              <a:rPr lang="ko-KR" altLang="en-US" b="1" dirty="0">
                <a:solidFill>
                  <a:srgbClr val="00FFFF"/>
                </a:solidFill>
              </a:rPr>
              <a:t>공통함수</a:t>
            </a:r>
            <a:r>
              <a:rPr lang="en-US" altLang="ko-KR" b="1" dirty="0">
                <a:solidFill>
                  <a:srgbClr val="00FFFF"/>
                </a:solidFill>
              </a:rPr>
              <a:t>(comUtil.js)</a:t>
            </a:r>
            <a:r>
              <a:rPr lang="ko-KR" altLang="en-US" dirty="0"/>
              <a:t>를 작성하고</a:t>
            </a:r>
            <a:r>
              <a:rPr lang="en-US" altLang="ko-KR" dirty="0"/>
              <a:t>, </a:t>
            </a:r>
            <a:r>
              <a:rPr lang="ko-KR" altLang="en-US" dirty="0"/>
              <a:t>넥사크로에서 사용할 수 있도록 </a:t>
            </a:r>
            <a:r>
              <a:rPr lang="en-US" altLang="ko-KR" b="1" dirty="0">
                <a:solidFill>
                  <a:srgbClr val="00FFFF"/>
                </a:solidFill>
              </a:rPr>
              <a:t>json(ExtendLib.json)</a:t>
            </a:r>
            <a:r>
              <a:rPr lang="ko-KR" altLang="en-US" b="1" dirty="0">
                <a:solidFill>
                  <a:srgbClr val="00FFFF"/>
                </a:solidFill>
              </a:rPr>
              <a:t>파일 </a:t>
            </a:r>
            <a:r>
              <a:rPr lang="ko-KR" altLang="en-US" dirty="0"/>
              <a:t>작성합니다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637635" y="4077072"/>
            <a:ext cx="598681" cy="1268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53FA8-72E9-4A77-A9D2-EDC50A49B2C1}"/>
              </a:ext>
            </a:extLst>
          </p:cNvPr>
          <p:cNvSpPr/>
          <p:nvPr/>
        </p:nvSpPr>
        <p:spPr>
          <a:xfrm>
            <a:off x="2216696" y="4132317"/>
            <a:ext cx="2520000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6B64A33-7C86-45AE-91CF-3EFB68787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841" y="2813050"/>
            <a:ext cx="2790825" cy="34956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7DE952-DC5F-4A38-82A2-9412A5903DCA}"/>
              </a:ext>
            </a:extLst>
          </p:cNvPr>
          <p:cNvSpPr/>
          <p:nvPr/>
        </p:nvSpPr>
        <p:spPr>
          <a:xfrm>
            <a:off x="3512840" y="2813050"/>
            <a:ext cx="2791049" cy="34956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42097C5-BD45-4F38-9D63-94705DAAF74A}"/>
              </a:ext>
            </a:extLst>
          </p:cNvPr>
          <p:cNvSpPr/>
          <p:nvPr/>
        </p:nvSpPr>
        <p:spPr>
          <a:xfrm>
            <a:off x="6753200" y="3429000"/>
            <a:ext cx="2870795" cy="2880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"name": "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ExtendLib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"version": "1.0.0.0001",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"description": "nbdf Common Lib",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"license": "",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"scripts": [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"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ExtendLib/comUtil.js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scriptsfilter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": [    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objInfo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 : [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designscripts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 : [  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}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96738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E:\yBDF\workspace\nbdf\src\main\nbdf-ui\nexacrolib\component\ExtendLib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comUtil.js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js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소스를 파일에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CA4CCB28-0FCB-4047-AAB0-969686D0E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76" y="1423741"/>
            <a:ext cx="6976836" cy="3978184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comUtil.js </a:t>
            </a:r>
            <a:r>
              <a:rPr lang="ko-KR" altLang="en-US" dirty="0"/>
              <a:t>파일 작성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취합형 </a:t>
            </a:r>
            <a:r>
              <a:rPr lang="ko-KR" altLang="en-US" b="1" dirty="0">
                <a:solidFill>
                  <a:srgbClr val="00FFFF"/>
                </a:solidFill>
              </a:rPr>
              <a:t>공통함수</a:t>
            </a:r>
            <a:r>
              <a:rPr lang="en-US" altLang="ko-KR" b="1" dirty="0">
                <a:solidFill>
                  <a:srgbClr val="00FFFF"/>
                </a:solidFill>
              </a:rPr>
              <a:t>(comUtil.js)</a:t>
            </a:r>
            <a:r>
              <a:rPr lang="ko-KR" altLang="en-US" dirty="0"/>
              <a:t>를 작성하고</a:t>
            </a:r>
            <a:r>
              <a:rPr lang="en-US" altLang="ko-KR" dirty="0"/>
              <a:t>, </a:t>
            </a:r>
            <a:r>
              <a:rPr lang="ko-KR" altLang="en-US" dirty="0"/>
              <a:t>넥사크로에서 사용할 수 있도록 </a:t>
            </a:r>
            <a:r>
              <a:rPr lang="en-US" altLang="ko-KR" b="1" dirty="0">
                <a:solidFill>
                  <a:srgbClr val="00FFFF"/>
                </a:solidFill>
              </a:rPr>
              <a:t>json(ExtendLib.json)</a:t>
            </a:r>
            <a:r>
              <a:rPr lang="ko-KR" altLang="en-US" b="1" dirty="0">
                <a:solidFill>
                  <a:srgbClr val="00FFFF"/>
                </a:solidFill>
              </a:rPr>
              <a:t>파일 </a:t>
            </a:r>
            <a:r>
              <a:rPr lang="ko-KR" altLang="en-US" dirty="0"/>
              <a:t>작성합니다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637635" y="4997718"/>
            <a:ext cx="598681" cy="1268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53FA8-72E9-4A77-A9D2-EDC50A49B2C1}"/>
              </a:ext>
            </a:extLst>
          </p:cNvPr>
          <p:cNvSpPr/>
          <p:nvPr/>
        </p:nvSpPr>
        <p:spPr>
          <a:xfrm>
            <a:off x="2216696" y="1988840"/>
            <a:ext cx="2520000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7D430E-64DE-4D1C-8B95-3FEE607E5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257" y="2155924"/>
            <a:ext cx="4078168" cy="41528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512F49-AEB8-467A-B347-2CD624AE59AE}"/>
              </a:ext>
            </a:extLst>
          </p:cNvPr>
          <p:cNvSpPr/>
          <p:nvPr/>
        </p:nvSpPr>
        <p:spPr>
          <a:xfrm>
            <a:off x="2756302" y="2155924"/>
            <a:ext cx="4078168" cy="415280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8863EB1-C22E-48B6-B731-89E597E9AE32}"/>
              </a:ext>
            </a:extLst>
          </p:cNvPr>
          <p:cNvSpPr/>
          <p:nvPr/>
        </p:nvSpPr>
        <p:spPr>
          <a:xfrm>
            <a:off x="6249144" y="3284984"/>
            <a:ext cx="5867058" cy="48245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var </a:t>
            </a:r>
            <a:r>
              <a:rPr lang="en-US" altLang="ko-KR" sz="800" b="1" dirty="0" err="1">
                <a:solidFill>
                  <a:srgbClr val="0000FF"/>
                </a:solidFill>
                <a:latin typeface="맑은 고딕" panose="020B0503020000020004" pitchFamily="50" charset="-127"/>
              </a:rPr>
              <a:t>pForm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b="1" dirty="0" err="1">
                <a:solidFill>
                  <a:srgbClr val="0000FF"/>
                </a:solidFill>
                <a:latin typeface="맑은 고딕" panose="020B0503020000020004" pitchFamily="50" charset="-127"/>
              </a:rPr>
              <a:t>nexacro.Form.prototype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===============================================================================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공통함수에 대한 내역을 간략하게 정의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===============================================================================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●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gfn_isNull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: </a:t>
            </a:r>
            <a:r>
              <a:rPr lang="ko-KR" altLang="en-US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입력값이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null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여부를 체크하여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True/False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리턴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입력값이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null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여부를 체크하여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True/False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리턴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@param {object}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object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 @return {Boolean]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가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undefined, null,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NaN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"",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Array.length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0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인 경우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 true,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이외의 경우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 false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*/</a:t>
            </a:r>
          </a:p>
          <a:p>
            <a:r>
              <a:rPr lang="en-US" altLang="ko-KR" sz="800" b="1" dirty="0" err="1">
                <a:solidFill>
                  <a:srgbClr val="0000FF"/>
                </a:solidFill>
                <a:latin typeface="맑은 고딕" panose="020B0503020000020004" pitchFamily="50" charset="-127"/>
              </a:rPr>
              <a:t>pForm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800" b="1" dirty="0" err="1">
                <a:solidFill>
                  <a:schemeClr val="accent6"/>
                </a:solidFill>
                <a:latin typeface="맑은 고딕" panose="020B0503020000020004" pitchFamily="50" charset="-127"/>
              </a:rPr>
              <a:t>gfn_isNull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function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(new String(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).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valueOf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 == "undefined")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null)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NaN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") &amp;&amp; (new String(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sValue.length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).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valueOf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 == "undefined"))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sValue.length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0)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sValue.toString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 == "")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(new String(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).trim(' ') == "")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return false;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409779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사용을 위한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json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TypeDefinition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Object / Modules / +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json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E:\yBDF\workspace\nbdf\src\main\nbdf-ui\nexacrolib\component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ExtendLib.json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열기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980801AA-52A1-451F-852B-55531C434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985000" cy="4895849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</a:t>
            </a:r>
            <a:r>
              <a:rPr lang="ko-KR" altLang="en-US" dirty="0"/>
              <a:t>오브젝트 추가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</a:t>
            </a:r>
            <a:r>
              <a:rPr lang="en-US" altLang="ko-KR" b="1" dirty="0">
                <a:solidFill>
                  <a:srgbClr val="00FFFF"/>
                </a:solidFill>
              </a:rPr>
              <a:t>js</a:t>
            </a:r>
            <a:r>
              <a:rPr lang="ko-KR" altLang="en-US" b="1" dirty="0">
                <a:solidFill>
                  <a:srgbClr val="00FFFF"/>
                </a:solidFill>
              </a:rPr>
              <a:t>파일</a:t>
            </a:r>
            <a:r>
              <a:rPr lang="en-US" altLang="ko-KR" b="1" dirty="0">
                <a:solidFill>
                  <a:srgbClr val="00FFFF"/>
                </a:solidFill>
              </a:rPr>
              <a:t>(comUtil.js)</a:t>
            </a:r>
            <a:r>
              <a:rPr lang="ko-KR" altLang="en-US" b="1" dirty="0">
                <a:solidFill>
                  <a:srgbClr val="00FFFF"/>
                </a:solidFill>
              </a:rPr>
              <a:t>로 공통함수를 작성 후 </a:t>
            </a:r>
            <a:r>
              <a:rPr lang="en-US" altLang="ko-KR" b="1" dirty="0">
                <a:solidFill>
                  <a:srgbClr val="00FFFF"/>
                </a:solidFill>
              </a:rPr>
              <a:t>json(ExtendLib)</a:t>
            </a:r>
            <a:r>
              <a:rPr lang="ko-KR" altLang="en-US" dirty="0"/>
              <a:t>을 통하여 넥사크로에서 사용할 수 있도록 </a:t>
            </a:r>
            <a:r>
              <a:rPr lang="en-US" altLang="ko-KR" b="1" dirty="0">
                <a:solidFill>
                  <a:srgbClr val="00FFFF"/>
                </a:solidFill>
              </a:rPr>
              <a:t>Object</a:t>
            </a:r>
            <a:r>
              <a:rPr lang="ko-KR" altLang="en-US" b="1" dirty="0">
                <a:solidFill>
                  <a:srgbClr val="00FFFF"/>
                </a:solidFill>
              </a:rPr>
              <a:t>로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407350" y="3157296"/>
            <a:ext cx="598681" cy="1268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BD5C3F9-8715-4CDA-B8E2-678C28C0D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808" y="2218582"/>
            <a:ext cx="4729731" cy="368655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C27DA7-4BE2-4739-9FA8-73CF8B98C73D}"/>
              </a:ext>
            </a:extLst>
          </p:cNvPr>
          <p:cNvSpPr/>
          <p:nvPr/>
        </p:nvSpPr>
        <p:spPr>
          <a:xfrm>
            <a:off x="1387864" y="3245588"/>
            <a:ext cx="1245485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6734AE3-308F-41BF-A9AF-253198EF4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753" y="2852936"/>
            <a:ext cx="4464496" cy="28274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D8304A-FC81-46AC-BEDD-C1ACB4042386}"/>
              </a:ext>
            </a:extLst>
          </p:cNvPr>
          <p:cNvSpPr/>
          <p:nvPr/>
        </p:nvSpPr>
        <p:spPr>
          <a:xfrm>
            <a:off x="3512838" y="4564800"/>
            <a:ext cx="3528393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384187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General Path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Tool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Options / Project / Generate / General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General Path : E:\yBDF\workspace\nbdf\src\main\webapp\nbdf-ui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컴파일 경로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생성된 프로그램에 대하여 </a:t>
            </a:r>
            <a:r>
              <a:rPr lang="ko-KR" altLang="en-US" b="1" dirty="0">
                <a:solidFill>
                  <a:srgbClr val="00FFFF"/>
                </a:solidFill>
              </a:rPr>
              <a:t>컴파일 후 생성할 디렉터리</a:t>
            </a:r>
            <a:r>
              <a:rPr lang="ko-KR" altLang="en-US" dirty="0"/>
              <a:t>를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경로 </a:t>
            </a:r>
            <a:r>
              <a:rPr lang="en-US" altLang="ko-KR" dirty="0"/>
              <a:t>: E:\yBDF\workspace\nbdf\</a:t>
            </a:r>
            <a:r>
              <a:rPr lang="en-US" altLang="ko-KR" b="1" dirty="0">
                <a:solidFill>
                  <a:srgbClr val="00FFFF"/>
                </a:solidFill>
              </a:rPr>
              <a:t>src\main\webapp\nbdf-ui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AD2F4EF-E41B-4F72-AA9D-5B040F973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014432" cy="459652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4280905-B0FC-4838-BC48-18324C05F53D}"/>
              </a:ext>
            </a:extLst>
          </p:cNvPr>
          <p:cNvSpPr/>
          <p:nvPr/>
        </p:nvSpPr>
        <p:spPr>
          <a:xfrm>
            <a:off x="2106786" y="1762570"/>
            <a:ext cx="4070350" cy="4422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391868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호출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gfn_isNull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(Object)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호출 및 테스트 결과를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공통함수 호출 및 테스트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공통함수를 추가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ko-KR" altLang="en-US" b="1" dirty="0">
                <a:solidFill>
                  <a:srgbClr val="00FFFF"/>
                </a:solidFill>
              </a:rPr>
              <a:t>프로그램에 함수</a:t>
            </a:r>
            <a:r>
              <a:rPr lang="en-US" altLang="ko-KR" b="1" dirty="0">
                <a:solidFill>
                  <a:srgbClr val="00FFFF"/>
                </a:solidFill>
              </a:rPr>
              <a:t>(gfn_isNull)</a:t>
            </a:r>
            <a:r>
              <a:rPr lang="ko-KR" altLang="en-US" b="1" dirty="0">
                <a:solidFill>
                  <a:srgbClr val="00FFFF"/>
                </a:solidFill>
              </a:rPr>
              <a:t> 호출 및 테스트</a:t>
            </a:r>
            <a:r>
              <a:rPr lang="ko-KR" altLang="en-US" dirty="0"/>
              <a:t>한 결과입니다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0859B7-0ADC-4B21-B232-0F5651210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5426372" cy="443445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B6B6590-D6F4-4665-8D3C-F90336253D85}"/>
              </a:ext>
            </a:extLst>
          </p:cNvPr>
          <p:cNvSpPr/>
          <p:nvPr/>
        </p:nvSpPr>
        <p:spPr>
          <a:xfrm>
            <a:off x="3735685" y="3002120"/>
            <a:ext cx="1073299" cy="4422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7383D68-F435-4310-AFD9-09BA9BA4C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681" y="3653384"/>
            <a:ext cx="5069607" cy="12692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D65819-D650-45A6-809C-5091A797D711}"/>
              </a:ext>
            </a:extLst>
          </p:cNvPr>
          <p:cNvSpPr/>
          <p:nvPr/>
        </p:nvSpPr>
        <p:spPr>
          <a:xfrm>
            <a:off x="3008784" y="3970577"/>
            <a:ext cx="1944215" cy="8020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C5D7EE6-7468-4A72-8CF4-A95C40DD7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593" y="4068669"/>
            <a:ext cx="3279029" cy="22400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375915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조회 프로그램 작성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791745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</a:t>
            </a:r>
            <a:r>
              <a:rPr lang="en-US" altLang="ko-KR" dirty="0"/>
              <a:t>Spring </a:t>
            </a:r>
            <a:r>
              <a:rPr lang="ko-KR" altLang="en-US" dirty="0"/>
              <a:t>데이터 조회 흐름도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300" dirty="0"/>
              <a:t>넥사크로에서 </a:t>
            </a:r>
            <a:r>
              <a:rPr lang="ko-KR" altLang="en-US" sz="1300" b="1" dirty="0">
                <a:solidFill>
                  <a:srgbClr val="00FFFF"/>
                </a:solidFill>
              </a:rPr>
              <a:t>데이터셋 또는 매개변수 </a:t>
            </a:r>
            <a:r>
              <a:rPr lang="en-US" altLang="ko-KR" sz="1300" b="1" dirty="0">
                <a:solidFill>
                  <a:srgbClr val="00FFFF"/>
                </a:solidFill>
              </a:rPr>
              <a:t>URL</a:t>
            </a:r>
            <a:r>
              <a:rPr lang="ko-KR" altLang="en-US" sz="1300" b="1" dirty="0">
                <a:solidFill>
                  <a:srgbClr val="00FFFF"/>
                </a:solidFill>
              </a:rPr>
              <a:t>로 호출</a:t>
            </a:r>
            <a:r>
              <a:rPr lang="ko-KR" altLang="en-US" sz="1300" dirty="0"/>
              <a:t>하면</a:t>
            </a:r>
            <a:r>
              <a:rPr lang="en-US" altLang="ko-KR" sz="1300" dirty="0"/>
              <a:t>, DispatcherServlet</a:t>
            </a:r>
            <a:r>
              <a:rPr lang="ko-KR" altLang="en-US" sz="1300" dirty="0"/>
              <a:t> 요청을 수신하여 컨트롤러를 찾고</a:t>
            </a:r>
            <a:r>
              <a:rPr lang="en-US" altLang="ko-KR" sz="1300" dirty="0"/>
              <a:t>, </a:t>
            </a:r>
            <a:r>
              <a:rPr lang="ko-KR" altLang="en-US" sz="1300" b="1" dirty="0">
                <a:solidFill>
                  <a:srgbClr val="00FFFF"/>
                </a:solidFill>
              </a:rPr>
              <a:t>컨트롤러는 서비스 및 </a:t>
            </a:r>
            <a:r>
              <a:rPr lang="en-US" altLang="ko-KR" sz="1300" b="1" dirty="0">
                <a:solidFill>
                  <a:srgbClr val="00FFFF"/>
                </a:solidFill>
              </a:rPr>
              <a:t>DAO</a:t>
            </a:r>
            <a:r>
              <a:rPr lang="ko-KR" altLang="en-US" sz="1300" b="1" dirty="0">
                <a:solidFill>
                  <a:srgbClr val="00FFFF"/>
                </a:solidFill>
              </a:rPr>
              <a:t>를 호출</a:t>
            </a:r>
            <a:r>
              <a:rPr lang="ko-KR" altLang="en-US" sz="1300" dirty="0"/>
              <a:t>과 처리결과를 모델에 저장 후 컨트롤러 </a:t>
            </a:r>
            <a:r>
              <a:rPr lang="en-US" altLang="ko-KR" sz="1300" b="1" dirty="0">
                <a:solidFill>
                  <a:srgbClr val="00FFFF"/>
                </a:solidFill>
              </a:rPr>
              <a:t>ModelAndView </a:t>
            </a:r>
            <a:r>
              <a:rPr lang="ko-KR" altLang="en-US" sz="1300" b="1" dirty="0">
                <a:solidFill>
                  <a:srgbClr val="00FFFF"/>
                </a:solidFill>
              </a:rPr>
              <a:t>반환하며</a:t>
            </a:r>
            <a:r>
              <a:rPr lang="en-US" altLang="ko-KR" sz="1300" b="1" dirty="0">
                <a:solidFill>
                  <a:srgbClr val="00FFFF"/>
                </a:solidFill>
              </a:rPr>
              <a:t>, ViewResolver</a:t>
            </a:r>
            <a:r>
              <a:rPr lang="ko-KR" altLang="en-US" sz="1300" b="1" dirty="0">
                <a:solidFill>
                  <a:srgbClr val="00FFFF"/>
                </a:solidFill>
              </a:rPr>
              <a:t>가 </a:t>
            </a:r>
            <a:r>
              <a:rPr lang="en-US" altLang="ko-KR" sz="1300" b="1" dirty="0">
                <a:solidFill>
                  <a:srgbClr val="00FFFF"/>
                </a:solidFill>
              </a:rPr>
              <a:t>JSP </a:t>
            </a:r>
            <a:r>
              <a:rPr lang="ko-KR" altLang="en-US" sz="1300" b="1" dirty="0">
                <a:solidFill>
                  <a:srgbClr val="00FFFF"/>
                </a:solidFill>
              </a:rPr>
              <a:t>경로 결정하여</a:t>
            </a:r>
            <a:r>
              <a:rPr lang="en-US" altLang="ko-KR" sz="1300" b="1" dirty="0">
                <a:solidFill>
                  <a:srgbClr val="00FFFF"/>
                </a:solidFill>
              </a:rPr>
              <a:t> </a:t>
            </a:r>
            <a:r>
              <a:rPr lang="ko-KR" altLang="en-US" sz="1300" b="1" dirty="0">
                <a:solidFill>
                  <a:srgbClr val="00FFFF"/>
                </a:solidFill>
              </a:rPr>
              <a:t>최종 </a:t>
            </a:r>
            <a:r>
              <a:rPr lang="en-US" altLang="ko-KR" sz="1300" b="1" dirty="0">
                <a:solidFill>
                  <a:srgbClr val="00FFFF"/>
                </a:solidFill>
              </a:rPr>
              <a:t>VIEW</a:t>
            </a:r>
            <a:r>
              <a:rPr lang="ko-KR" altLang="en-US" sz="1300" b="1" dirty="0">
                <a:solidFill>
                  <a:srgbClr val="00FFFF"/>
                </a:solidFill>
              </a:rPr>
              <a:t>가 화면에 결과</a:t>
            </a:r>
            <a:r>
              <a:rPr lang="ko-KR" altLang="en-US" sz="1300" dirty="0"/>
              <a:t>를 응답합니다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19D0ABB-E3A9-494D-B486-8A9098CCAFA5}"/>
              </a:ext>
            </a:extLst>
          </p:cNvPr>
          <p:cNvGrpSpPr/>
          <p:nvPr/>
        </p:nvGrpSpPr>
        <p:grpSpPr>
          <a:xfrm>
            <a:off x="344488" y="2207054"/>
            <a:ext cx="3847730" cy="2224024"/>
            <a:chOff x="344488" y="2276932"/>
            <a:chExt cx="2880320" cy="2224024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457C2E6-79D8-43B3-86FD-FC991F970FDD}"/>
                </a:ext>
              </a:extLst>
            </p:cNvPr>
            <p:cNvSpPr/>
            <p:nvPr/>
          </p:nvSpPr>
          <p:spPr>
            <a:xfrm>
              <a:off x="344488" y="2276932"/>
              <a:ext cx="288032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Nexacro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Client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호출</a:t>
              </a:r>
              <a:endParaRPr lang="en-US" altLang="ko-KR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(Data Set, Parameter)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814B2F7-778A-4708-B2C2-411992EB48E3}"/>
                </a:ext>
              </a:extLst>
            </p:cNvPr>
            <p:cNvSpPr/>
            <p:nvPr/>
          </p:nvSpPr>
          <p:spPr>
            <a:xfrm>
              <a:off x="344488" y="2704048"/>
              <a:ext cx="2880320" cy="179690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this.transaction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("selectComCodeTypeList"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,"http://localhost:8080/nbdf/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inSearch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=dsSearch"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dsComCodeType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=outSelectList 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dsRowCount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=outSelectCount"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userId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=" + sUserId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fn_callBack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);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C8A70EB-1112-468F-850B-FDDA683CC329}"/>
              </a:ext>
            </a:extLst>
          </p:cNvPr>
          <p:cNvGrpSpPr/>
          <p:nvPr/>
        </p:nvGrpSpPr>
        <p:grpSpPr>
          <a:xfrm>
            <a:off x="4917176" y="2207054"/>
            <a:ext cx="1620000" cy="715115"/>
            <a:chOff x="3765048" y="2207054"/>
            <a:chExt cx="1620000" cy="71511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828F8D5-3236-4EB0-BBC8-A0D239E75CF2}"/>
                </a:ext>
              </a:extLst>
            </p:cNvPr>
            <p:cNvSpPr/>
            <p:nvPr/>
          </p:nvSpPr>
          <p:spPr>
            <a:xfrm>
              <a:off x="3765048" y="2207054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Controller Class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web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302B224-0201-4C91-9D54-4F6A9617B216}"/>
                </a:ext>
              </a:extLst>
            </p:cNvPr>
            <p:cNvSpPr/>
            <p:nvPr/>
          </p:nvSpPr>
          <p:spPr>
            <a:xfrm>
              <a:off x="3765048" y="2634169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EduNexaController.java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F77195E-44F2-4FEA-B444-610CCEDB2C86}"/>
              </a:ext>
            </a:extLst>
          </p:cNvPr>
          <p:cNvGrpSpPr/>
          <p:nvPr/>
        </p:nvGrpSpPr>
        <p:grpSpPr>
          <a:xfrm>
            <a:off x="6995883" y="2207054"/>
            <a:ext cx="1620000" cy="715116"/>
            <a:chOff x="6313589" y="2207054"/>
            <a:chExt cx="1620000" cy="71511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64DB92D-CEE4-44EB-BA4A-9B8D8B51FE41}"/>
                </a:ext>
              </a:extLst>
            </p:cNvPr>
            <p:cNvSpPr/>
            <p:nvPr/>
          </p:nvSpPr>
          <p:spPr>
            <a:xfrm>
              <a:off x="6313589" y="2207054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Service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Interface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service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B5B6FB1-7674-49BB-A98C-F4E30992406D}"/>
                </a:ext>
              </a:extLst>
            </p:cNvPr>
            <p:cNvSpPr/>
            <p:nvPr/>
          </p:nvSpPr>
          <p:spPr>
            <a:xfrm>
              <a:off x="6313589" y="2634170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EduNexaService.java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ED542CB-32D4-4779-8F2C-8434A11284F9}"/>
              </a:ext>
            </a:extLst>
          </p:cNvPr>
          <p:cNvGrpSpPr/>
          <p:nvPr/>
        </p:nvGrpSpPr>
        <p:grpSpPr>
          <a:xfrm>
            <a:off x="7941512" y="3280136"/>
            <a:ext cx="1620000" cy="715116"/>
            <a:chOff x="7365448" y="3136120"/>
            <a:chExt cx="1620000" cy="71511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F7205C7-A972-481B-A7AA-5E280D196F62}"/>
                </a:ext>
              </a:extLst>
            </p:cNvPr>
            <p:cNvSpPr/>
            <p:nvPr/>
          </p:nvSpPr>
          <p:spPr>
            <a:xfrm>
              <a:off x="7365448" y="3136120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Service Implement Class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impl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D83FCF8-55EF-4697-ACB2-EEAAEF46A0A3}"/>
                </a:ext>
              </a:extLst>
            </p:cNvPr>
            <p:cNvSpPr/>
            <p:nvPr/>
          </p:nvSpPr>
          <p:spPr>
            <a:xfrm>
              <a:off x="7365448" y="3563236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EduNexaServiceImpl.java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D54D20D-8284-4301-88B5-83726EA36839}"/>
              </a:ext>
            </a:extLst>
          </p:cNvPr>
          <p:cNvGrpSpPr/>
          <p:nvPr/>
        </p:nvGrpSpPr>
        <p:grpSpPr>
          <a:xfrm>
            <a:off x="7941512" y="4370068"/>
            <a:ext cx="1620000" cy="715116"/>
            <a:chOff x="7365448" y="4010028"/>
            <a:chExt cx="1620000" cy="71511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88C3180-5AF3-4289-B258-25D2A7901673}"/>
                </a:ext>
              </a:extLst>
            </p:cNvPr>
            <p:cNvSpPr/>
            <p:nvPr/>
          </p:nvSpPr>
          <p:spPr>
            <a:xfrm>
              <a:off x="7365448" y="4010028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Mapper Interface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impl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9CBF740-82EE-4593-B0B6-368456030EEC}"/>
                </a:ext>
              </a:extLst>
            </p:cNvPr>
            <p:cNvSpPr/>
            <p:nvPr/>
          </p:nvSpPr>
          <p:spPr>
            <a:xfrm>
              <a:off x="7365448" y="4437144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EduNexaMapper.java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DCE572-EAEF-4E3C-AD2B-31967EFD1E1D}"/>
              </a:ext>
            </a:extLst>
          </p:cNvPr>
          <p:cNvSpPr/>
          <p:nvPr/>
        </p:nvSpPr>
        <p:spPr>
          <a:xfrm>
            <a:off x="4660090" y="141324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scr / main / java</a:t>
            </a:r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 / example</a:t>
            </a:r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hcm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FA60FB75-BF58-485D-B5EE-1DB9286D253B}"/>
              </a:ext>
            </a:extLst>
          </p:cNvPr>
          <p:cNvCxnSpPr>
            <a:cxnSpLocks/>
            <a:stCxn id="19" idx="2"/>
            <a:endCxn id="8" idx="0"/>
          </p:cNvCxnSpPr>
          <p:nvPr/>
        </p:nvCxnSpPr>
        <p:spPr>
          <a:xfrm rot="5400000">
            <a:off x="6192553" y="1451456"/>
            <a:ext cx="290222" cy="1220975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20BE872F-BB81-42D6-86E5-9B79F43056D0}"/>
              </a:ext>
            </a:extLst>
          </p:cNvPr>
          <p:cNvCxnSpPr>
            <a:cxnSpLocks/>
            <a:endCxn id="9" idx="0"/>
          </p:cNvCxnSpPr>
          <p:nvPr/>
        </p:nvCxnSpPr>
        <p:spPr>
          <a:xfrm rot="16200000" flipH="1">
            <a:off x="7335155" y="1736326"/>
            <a:ext cx="290222" cy="651233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AB8259C2-3D09-469D-BBAC-57906C740E2C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>
            <a:off x="8615883" y="2423054"/>
            <a:ext cx="135629" cy="857082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2D82236-E63C-4B83-AE6A-8057BE4DA111}"/>
              </a:ext>
            </a:extLst>
          </p:cNvPr>
          <p:cNvSpPr/>
          <p:nvPr/>
        </p:nvSpPr>
        <p:spPr>
          <a:xfrm>
            <a:off x="3343609" y="4221554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scr / main / resources</a:t>
            </a:r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 / sqlmap</a:t>
            </a:r>
            <a:endParaRPr lang="en-US" altLang="ko-KR" sz="1400" b="1" spc="-1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8258E84-7C47-4D46-9C49-3795337C31C0}"/>
              </a:ext>
            </a:extLst>
          </p:cNvPr>
          <p:cNvGrpSpPr/>
          <p:nvPr/>
        </p:nvGrpSpPr>
        <p:grpSpPr>
          <a:xfrm>
            <a:off x="6690717" y="5596389"/>
            <a:ext cx="1620000" cy="712931"/>
            <a:chOff x="6519488" y="5491693"/>
            <a:chExt cx="1620000" cy="712931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B8580A8-B8A4-4715-AB99-C1D3BA449965}"/>
                </a:ext>
              </a:extLst>
            </p:cNvPr>
            <p:cNvSpPr/>
            <p:nvPr/>
          </p:nvSpPr>
          <p:spPr>
            <a:xfrm>
              <a:off x="6519488" y="5491693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Mybatis mapper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mapper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439025E-984C-41CB-865C-EC320EDC265B}"/>
                </a:ext>
              </a:extLst>
            </p:cNvPr>
            <p:cNvSpPr/>
            <p:nvPr/>
          </p:nvSpPr>
          <p:spPr>
            <a:xfrm>
              <a:off x="6519488" y="5916624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EduNexaMapperSQL.xml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F218A37E-FAE3-497B-85F2-8E3F625F0F71}"/>
              </a:ext>
            </a:extLst>
          </p:cNvPr>
          <p:cNvCxnSpPr>
            <a:cxnSpLocks/>
            <a:stCxn id="47" idx="2"/>
            <a:endCxn id="12" idx="1"/>
          </p:cNvCxnSpPr>
          <p:nvPr/>
        </p:nvCxnSpPr>
        <p:spPr>
          <a:xfrm rot="16200000" flipH="1">
            <a:off x="6049579" y="5171250"/>
            <a:ext cx="223229" cy="1059047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8256DC1-A1C6-41E0-AD8B-5E5C90106194}"/>
              </a:ext>
            </a:extLst>
          </p:cNvPr>
          <p:cNvGrpSpPr/>
          <p:nvPr/>
        </p:nvGrpSpPr>
        <p:grpSpPr>
          <a:xfrm>
            <a:off x="4821670" y="4869160"/>
            <a:ext cx="1620000" cy="720000"/>
            <a:chOff x="3828506" y="4999251"/>
            <a:chExt cx="1620000" cy="720000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43DBF242-1CA5-4BFA-A0D4-7EBCCEFA17FD}"/>
                </a:ext>
              </a:extLst>
            </p:cNvPr>
            <p:cNvSpPr/>
            <p:nvPr/>
          </p:nvSpPr>
          <p:spPr>
            <a:xfrm>
              <a:off x="3828506" y="4999251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Mybatis mapper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hcm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896B471E-58C7-4803-B87D-15B8A5DDF01C}"/>
                </a:ext>
              </a:extLst>
            </p:cNvPr>
            <p:cNvSpPr/>
            <p:nvPr/>
          </p:nvSpPr>
          <p:spPr>
            <a:xfrm>
              <a:off x="3828506" y="5431251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sql-mapper-config.xml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cxnSp>
        <p:nvCxnSpPr>
          <p:cNvPr id="48" name="연결선: 꺾임 36">
            <a:extLst>
              <a:ext uri="{FF2B5EF4-FFF2-40B4-BE49-F238E27FC236}">
                <a16:creationId xmlns:a16="http://schemas.microsoft.com/office/drawing/2014/main" id="{88973F1B-66C6-4F4C-BB45-FD93F342D1A6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>
            <a:off x="5631670" y="4725144"/>
            <a:ext cx="0" cy="144016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36">
            <a:extLst>
              <a:ext uri="{FF2B5EF4-FFF2-40B4-BE49-F238E27FC236}">
                <a16:creationId xmlns:a16="http://schemas.microsoft.com/office/drawing/2014/main" id="{5A9D5EB7-1B0B-4D6A-BA7C-20D494CFD7A1}"/>
              </a:ext>
            </a:extLst>
          </p:cNvPr>
          <p:cNvCxnSpPr>
            <a:cxnSpLocks/>
            <a:endCxn id="12" idx="3"/>
          </p:cNvCxnSpPr>
          <p:nvPr/>
        </p:nvCxnSpPr>
        <p:spPr>
          <a:xfrm rot="5400000">
            <a:off x="8167514" y="5228389"/>
            <a:ext cx="727204" cy="440797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2DDA025B-A849-4212-A4A9-2EAB92BD94B7}"/>
              </a:ext>
            </a:extLst>
          </p:cNvPr>
          <p:cNvCxnSpPr>
            <a:cxnSpLocks/>
          </p:cNvCxnSpPr>
          <p:nvPr/>
        </p:nvCxnSpPr>
        <p:spPr>
          <a:xfrm>
            <a:off x="4200488" y="2474402"/>
            <a:ext cx="720000" cy="0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4">
            <a:extLst>
              <a:ext uri="{FF2B5EF4-FFF2-40B4-BE49-F238E27FC236}">
                <a16:creationId xmlns:a16="http://schemas.microsoft.com/office/drawing/2014/main" id="{A9CD6B5A-5248-4BB4-8B89-A001BC57D5A3}"/>
              </a:ext>
            </a:extLst>
          </p:cNvPr>
          <p:cNvCxnSpPr>
            <a:cxnSpLocks/>
          </p:cNvCxnSpPr>
          <p:nvPr/>
        </p:nvCxnSpPr>
        <p:spPr>
          <a:xfrm flipH="1">
            <a:off x="4200488" y="2332552"/>
            <a:ext cx="720000" cy="0"/>
          </a:xfrm>
          <a:prstGeom prst="straightConnector1">
            <a:avLst/>
          </a:prstGeom>
          <a:ln w="3175">
            <a:solidFill>
              <a:srgbClr val="FF33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F08411B-E677-4955-9DEC-AA85298D6287}"/>
              </a:ext>
            </a:extLst>
          </p:cNvPr>
          <p:cNvSpPr/>
          <p:nvPr/>
        </p:nvSpPr>
        <p:spPr>
          <a:xfrm>
            <a:off x="4317100" y="2509224"/>
            <a:ext cx="431776" cy="138499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algn="ctr"/>
            <a:r>
              <a: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inSearch</a:t>
            </a:r>
            <a:endParaRPr lang="ko-KR" altLang="en-US" sz="9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7330E1E-BED2-4F18-90FB-C569B158C4E2}"/>
              </a:ext>
            </a:extLst>
          </p:cNvPr>
          <p:cNvSpPr/>
          <p:nvPr/>
        </p:nvSpPr>
        <p:spPr>
          <a:xfrm>
            <a:off x="4241385" y="2048857"/>
            <a:ext cx="656196" cy="276999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algn="ctr"/>
            <a:r>
              <a: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dsComCodeType</a:t>
            </a:r>
          </a:p>
          <a:p>
            <a:pPr algn="ctr"/>
            <a:r>
              <a: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dsRowCount</a:t>
            </a:r>
            <a:endParaRPr lang="ko-KR" altLang="en-US" sz="900" dirty="0"/>
          </a:p>
        </p:txBody>
      </p:sp>
      <p:cxnSp>
        <p:nvCxnSpPr>
          <p:cNvPr id="40" name="연결선: 꺾임 64">
            <a:extLst>
              <a:ext uri="{FF2B5EF4-FFF2-40B4-BE49-F238E27FC236}">
                <a16:creationId xmlns:a16="http://schemas.microsoft.com/office/drawing/2014/main" id="{FE7786DF-F418-4022-B624-EAA51CB98FA9}"/>
              </a:ext>
            </a:extLst>
          </p:cNvPr>
          <p:cNvCxnSpPr>
            <a:cxnSpLocks/>
          </p:cNvCxnSpPr>
          <p:nvPr/>
        </p:nvCxnSpPr>
        <p:spPr>
          <a:xfrm>
            <a:off x="6537176" y="2474402"/>
            <a:ext cx="458707" cy="0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64">
            <a:extLst>
              <a:ext uri="{FF2B5EF4-FFF2-40B4-BE49-F238E27FC236}">
                <a16:creationId xmlns:a16="http://schemas.microsoft.com/office/drawing/2014/main" id="{64E5A708-2E61-44A3-B2C5-FF9E9E5AB793}"/>
              </a:ext>
            </a:extLst>
          </p:cNvPr>
          <p:cNvCxnSpPr>
            <a:cxnSpLocks/>
          </p:cNvCxnSpPr>
          <p:nvPr/>
        </p:nvCxnSpPr>
        <p:spPr>
          <a:xfrm flipH="1">
            <a:off x="6537176" y="2332552"/>
            <a:ext cx="458707" cy="0"/>
          </a:xfrm>
          <a:prstGeom prst="straightConnector1">
            <a:avLst/>
          </a:prstGeom>
          <a:ln w="3175">
            <a:solidFill>
              <a:srgbClr val="FF33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64">
            <a:extLst>
              <a:ext uri="{FF2B5EF4-FFF2-40B4-BE49-F238E27FC236}">
                <a16:creationId xmlns:a16="http://schemas.microsoft.com/office/drawing/2014/main" id="{B4403053-5F0D-41D5-B253-28FD5093F048}"/>
              </a:ext>
            </a:extLst>
          </p:cNvPr>
          <p:cNvCxnSpPr>
            <a:cxnSpLocks/>
            <a:stCxn id="17" idx="2"/>
            <a:endCxn id="11" idx="0"/>
          </p:cNvCxnSpPr>
          <p:nvPr/>
        </p:nvCxnSpPr>
        <p:spPr>
          <a:xfrm>
            <a:off x="8751512" y="3995252"/>
            <a:ext cx="0" cy="374816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3271076B-BF8A-4927-A07D-24A70EE9630F}"/>
              </a:ext>
            </a:extLst>
          </p:cNvPr>
          <p:cNvCxnSpPr>
            <a:cxnSpLocks/>
          </p:cNvCxnSpPr>
          <p:nvPr/>
        </p:nvCxnSpPr>
        <p:spPr>
          <a:xfrm>
            <a:off x="8625408" y="2309528"/>
            <a:ext cx="216000" cy="972000"/>
          </a:xfrm>
          <a:prstGeom prst="bentConnector2">
            <a:avLst/>
          </a:prstGeom>
          <a:ln w="3175">
            <a:solidFill>
              <a:srgbClr val="FF33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64">
            <a:extLst>
              <a:ext uri="{FF2B5EF4-FFF2-40B4-BE49-F238E27FC236}">
                <a16:creationId xmlns:a16="http://schemas.microsoft.com/office/drawing/2014/main" id="{6251D110-A49B-4361-86B4-AEBF5DDCCF0C}"/>
              </a:ext>
            </a:extLst>
          </p:cNvPr>
          <p:cNvCxnSpPr>
            <a:cxnSpLocks/>
          </p:cNvCxnSpPr>
          <p:nvPr/>
        </p:nvCxnSpPr>
        <p:spPr>
          <a:xfrm flipV="1">
            <a:off x="8841408" y="3995252"/>
            <a:ext cx="0" cy="374816"/>
          </a:xfrm>
          <a:prstGeom prst="straightConnector1">
            <a:avLst/>
          </a:prstGeom>
          <a:ln w="3175">
            <a:solidFill>
              <a:srgbClr val="FF33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36">
            <a:extLst>
              <a:ext uri="{FF2B5EF4-FFF2-40B4-BE49-F238E27FC236}">
                <a16:creationId xmlns:a16="http://schemas.microsoft.com/office/drawing/2014/main" id="{FEFF1718-EB80-4D03-8CBA-3B6AFAA9CBFE}"/>
              </a:ext>
            </a:extLst>
          </p:cNvPr>
          <p:cNvCxnSpPr>
            <a:cxnSpLocks/>
          </p:cNvCxnSpPr>
          <p:nvPr/>
        </p:nvCxnSpPr>
        <p:spPr>
          <a:xfrm rot="5400000">
            <a:off x="8164969" y="5229186"/>
            <a:ext cx="828000" cy="540000"/>
          </a:xfrm>
          <a:prstGeom prst="bentConnector2">
            <a:avLst/>
          </a:prstGeom>
          <a:ln w="3175">
            <a:solidFill>
              <a:srgbClr val="FF33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08036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데이터 조회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사용자가 조회 </a:t>
            </a:r>
            <a:r>
              <a:rPr lang="ko-KR" altLang="en-US" b="1" dirty="0">
                <a:solidFill>
                  <a:srgbClr val="00FFFF"/>
                </a:solidFill>
              </a:rPr>
              <a:t>조건의 데이터셋 </a:t>
            </a:r>
            <a:r>
              <a:rPr lang="ko-KR" altLang="en-US" dirty="0"/>
              <a:t>또는 서버단에서 처리할 </a:t>
            </a:r>
            <a:r>
              <a:rPr lang="ko-KR" altLang="en-US" b="1" dirty="0">
                <a:solidFill>
                  <a:srgbClr val="00FFFF"/>
                </a:solidFill>
              </a:rPr>
              <a:t>매개변수를 트랜잭션 함수</a:t>
            </a:r>
            <a:r>
              <a:rPr lang="ko-KR" altLang="en-US" dirty="0"/>
              <a:t>를 통하여 전달하고</a:t>
            </a:r>
            <a:r>
              <a:rPr lang="en-US" altLang="ko-KR" dirty="0"/>
              <a:t>, </a:t>
            </a:r>
            <a:r>
              <a:rPr lang="ko-KR" altLang="en-US" dirty="0"/>
              <a:t>서버단에서 처리된 결과를 </a:t>
            </a:r>
            <a:r>
              <a:rPr lang="en-US" altLang="ko-KR" b="1" dirty="0">
                <a:solidFill>
                  <a:srgbClr val="00FFFF"/>
                </a:solidFill>
              </a:rPr>
              <a:t>OUT</a:t>
            </a:r>
            <a:r>
              <a:rPr lang="ko-KR" altLang="en-US" b="1" dirty="0">
                <a:solidFill>
                  <a:srgbClr val="00FFFF"/>
                </a:solidFill>
              </a:rPr>
              <a:t>데이터셋에 저장 후 트랜잭션 결과를 처리하는 콜백함수를 통하여 결과를 확인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19D0ABB-E3A9-494D-B486-8A9098CCAFA5}"/>
              </a:ext>
            </a:extLst>
          </p:cNvPr>
          <p:cNvGrpSpPr/>
          <p:nvPr/>
        </p:nvGrpSpPr>
        <p:grpSpPr>
          <a:xfrm>
            <a:off x="344487" y="1412776"/>
            <a:ext cx="9289031" cy="1583283"/>
            <a:chOff x="344487" y="2418872"/>
            <a:chExt cx="7010590" cy="158328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457C2E6-79D8-43B3-86FD-FC991F970FDD}"/>
                </a:ext>
              </a:extLst>
            </p:cNvPr>
            <p:cNvSpPr/>
            <p:nvPr/>
          </p:nvSpPr>
          <p:spPr>
            <a:xfrm>
              <a:off x="344487" y="2418872"/>
              <a:ext cx="7003402" cy="28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조회 버튼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: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this.btnSearch_onclick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= function(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obj:nexacro.Button,e:nexacro.ClickEventInfo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1050" b="1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814B2F7-778A-4708-B2C2-411992EB48E3}"/>
                </a:ext>
              </a:extLst>
            </p:cNvPr>
            <p:cNvSpPr/>
            <p:nvPr/>
          </p:nvSpPr>
          <p:spPr>
            <a:xfrm>
              <a:off x="344487" y="2704048"/>
              <a:ext cx="7010590" cy="129810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this.transaction("selectComCodeTypeList"                                               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서비스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,"http://localhost:8080/nbdf/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호출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URL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,"inSearch=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dsSearch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                                                   //INPUT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데이터셋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서버 송신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Data Set Name=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화면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input Data Set Name)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dsComCodeType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=outSelectList 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=outSelectCount"                //OUTPUT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데이터셋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화면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output Data Set Name=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서버 수신된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Data Set Name)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,"userId=" + sUserId                                                   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매개변수</a:t>
              </a:r>
            </a:p>
            <a:p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,"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fn_callBack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                                                        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콜백함수</a:t>
              </a:r>
            </a:p>
            <a:p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);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4793E77-7273-4CF8-8303-5D82026D2A83}"/>
              </a:ext>
            </a:extLst>
          </p:cNvPr>
          <p:cNvGrpSpPr/>
          <p:nvPr/>
        </p:nvGrpSpPr>
        <p:grpSpPr>
          <a:xfrm>
            <a:off x="344487" y="3068960"/>
            <a:ext cx="9289031" cy="3312790"/>
            <a:chOff x="344487" y="2425880"/>
            <a:chExt cx="7010590" cy="331279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6E135AF-A4BF-4448-BC92-B9DE14941BF1}"/>
                </a:ext>
              </a:extLst>
            </p:cNvPr>
            <p:cNvSpPr/>
            <p:nvPr/>
          </p:nvSpPr>
          <p:spPr>
            <a:xfrm>
              <a:off x="344487" y="2425880"/>
              <a:ext cx="7003402" cy="28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콜백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함수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: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this.fn_callBack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= function(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strSvcID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,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strErrCd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,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strErrMsg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1050" b="1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C96146E-2638-4249-9968-327A18B3F0EC}"/>
                </a:ext>
              </a:extLst>
            </p:cNvPr>
            <p:cNvSpPr/>
            <p:nvPr/>
          </p:nvSpPr>
          <p:spPr>
            <a:xfrm>
              <a:off x="344487" y="2704048"/>
              <a:ext cx="7010590" cy="303462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this.fn_callBack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function(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strSvcID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strErrCd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strErrMsg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if(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strErrCd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&lt; 0)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alert("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오류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" +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strErrMsg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endParaRPr lang="en-US" altLang="ko-KR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switch(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strSvcID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case "selectComCodeTypeList":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trace("###########################################################");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//trace(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this.dsRowCount.saveXML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());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var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this.dsRowCount.getColumn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(0, "ROW_CNT");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this.stRowCount.text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"row count : " +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if 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== 0)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alert("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조회조건에 일치하는 데이터가 존재하지 않습니다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.");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}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break;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};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534730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컨트롤러 생성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컨트롤러 생성을 통하여 </a:t>
            </a:r>
            <a:r>
              <a:rPr lang="ko-KR" altLang="en-US" b="1" dirty="0">
                <a:solidFill>
                  <a:srgbClr val="00FFFF"/>
                </a:solidFill>
              </a:rPr>
              <a:t>클라이언트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넥사크로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에서 요청한 데이터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데이터셋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매개변수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dirty="0"/>
              <a:t>에 대하여 </a:t>
            </a:r>
            <a:r>
              <a:rPr lang="ko-KR" altLang="en-US" b="1" dirty="0">
                <a:solidFill>
                  <a:srgbClr val="00FFFF"/>
                </a:solidFill>
              </a:rPr>
              <a:t>자바</a:t>
            </a:r>
            <a:r>
              <a:rPr lang="ko-KR" altLang="en-US" dirty="0"/>
              <a:t>에서 인식할 수 있는 </a:t>
            </a:r>
            <a:r>
              <a:rPr lang="ko-KR" altLang="en-US" b="1" dirty="0">
                <a:solidFill>
                  <a:srgbClr val="00FFFF"/>
                </a:solidFill>
              </a:rPr>
              <a:t>데이터 전환</a:t>
            </a:r>
            <a:r>
              <a:rPr lang="ko-KR" altLang="en-US" dirty="0"/>
              <a:t>과 </a:t>
            </a:r>
            <a:r>
              <a:rPr lang="ko-KR" altLang="en-US" b="1" dirty="0">
                <a:solidFill>
                  <a:srgbClr val="00FFFF"/>
                </a:solidFill>
              </a:rPr>
              <a:t>서버 모델에서 처리된 결과</a:t>
            </a:r>
            <a:r>
              <a:rPr lang="ko-KR" altLang="en-US" dirty="0"/>
              <a:t>를 </a:t>
            </a:r>
            <a:r>
              <a:rPr lang="en-US" altLang="ko-KR" b="1" dirty="0">
                <a:solidFill>
                  <a:srgbClr val="00FFFF"/>
                </a:solidFill>
              </a:rPr>
              <a:t>ViewResolver</a:t>
            </a:r>
            <a:r>
              <a:rPr lang="ko-KR" altLang="en-US" b="1" dirty="0">
                <a:solidFill>
                  <a:srgbClr val="00FFFF"/>
                </a:solidFill>
              </a:rPr>
              <a:t>통하여 클라이언트에 전달</a:t>
            </a:r>
            <a:r>
              <a:rPr lang="ko-KR" altLang="en-US" dirty="0"/>
              <a:t>하는 클래스입니다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Controller Class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EduNexaController.java</a:t>
            </a:r>
          </a:p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new / class</a:t>
            </a:r>
            <a:endParaRPr lang="ko-KR" altLang="en-US" sz="1200" b="1" spc="-100" dirty="0">
              <a:solidFill>
                <a:srgbClr val="0000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16496" y="1918962"/>
            <a:ext cx="2700000" cy="1573752"/>
            <a:chOff x="488505" y="1700874"/>
            <a:chExt cx="2520280" cy="157375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2482626"/>
              <a:ext cx="2520280" cy="79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@Controller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(value = "com/COM10000")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EduNexaController {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...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  <a:endParaRPr lang="ko-KR" altLang="en-US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329D0B2-1571-4E63-A991-88FD57DE8518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org.springframework.stereotype.Controller;</a:t>
              </a:r>
              <a:endParaRPr lang="ko-KR" altLang="en-US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컨트롤러 생성과 어노테이션 등록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F601B45-31AB-466B-9F87-D9BF50FF0C22}"/>
              </a:ext>
            </a:extLst>
          </p:cNvPr>
          <p:cNvGrpSpPr/>
          <p:nvPr/>
        </p:nvGrpSpPr>
        <p:grpSpPr>
          <a:xfrm>
            <a:off x="3224809" y="1916832"/>
            <a:ext cx="3348000" cy="1580171"/>
            <a:chOff x="488505" y="1554013"/>
            <a:chExt cx="2520280" cy="1580171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13983603-EAAB-4977-9A2E-60CE32081611}"/>
                </a:ext>
              </a:extLst>
            </p:cNvPr>
            <p:cNvSpPr/>
            <p:nvPr/>
          </p:nvSpPr>
          <p:spPr>
            <a:xfrm>
              <a:off x="488505" y="2342184"/>
              <a:ext cx="2520280" cy="79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@Controller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(value = "com/COM10000")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private Logger log = LoggerFactory.getLogger(this.getClass());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  <a:endParaRPr lang="ko-KR" altLang="en-US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B3989EA-3B80-4947-8BD9-0DE7078815D0}"/>
                </a:ext>
              </a:extLst>
            </p:cNvPr>
            <p:cNvSpPr/>
            <p:nvPr/>
          </p:nvSpPr>
          <p:spPr>
            <a:xfrm>
              <a:off x="488505" y="1844824"/>
              <a:ext cx="2520280" cy="4320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org.slf4j.Logger;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org.slf4j.LoggerFactory;</a:t>
              </a:r>
              <a:endParaRPr lang="ko-KR" altLang="en-US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4C4C448-BBFC-4AD8-9788-B3711F3504E3}"/>
                </a:ext>
              </a:extLst>
            </p:cNvPr>
            <p:cNvSpPr/>
            <p:nvPr/>
          </p:nvSpPr>
          <p:spPr>
            <a:xfrm>
              <a:off x="488505" y="1554013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로그출력 변수 선언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DE81EE1-B6D0-4DF0-ABF3-D031CFB504E5}"/>
              </a:ext>
            </a:extLst>
          </p:cNvPr>
          <p:cNvGrpSpPr/>
          <p:nvPr/>
        </p:nvGrpSpPr>
        <p:grpSpPr>
          <a:xfrm>
            <a:off x="416497" y="3522345"/>
            <a:ext cx="4968552" cy="2858983"/>
            <a:chOff x="488505" y="1554013"/>
            <a:chExt cx="2520280" cy="2858983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6BAEBCB7-545B-4325-A7DC-AF3FF73A79E6}"/>
                </a:ext>
              </a:extLst>
            </p:cNvPr>
            <p:cNvSpPr/>
            <p:nvPr/>
          </p:nvSpPr>
          <p:spPr>
            <a:xfrm>
              <a:off x="488505" y="2342183"/>
              <a:ext cx="2520280" cy="207081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@Controller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@RequestMapping(value = "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900" b="1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EduNexaController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private Logger log = LoggerFactory.getLogger(this.getClass());</a:t>
              </a:r>
            </a:p>
            <a:p>
              <a:endParaRPr lang="en-US" altLang="ko-KR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@RequestMapping(value = "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public NexacroResult selectComCodeTypeList(@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ParamDataSet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(name = "inSearch") Map&lt;String, Object&gt; dsSearch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                        ,@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ParamVariable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(name = "userId") String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userID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 throws Exception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log.debug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("####################################################");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log. debug("</a:t>
              </a:r>
              <a:r>
                <a:rPr lang="ko-KR" altLang="en-US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넥사크로 호출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log. debug("####################################################");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NexacroResult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result = new NexacroResult();		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return result;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}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  <a:endParaRPr lang="ko-KR" altLang="en-US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8C9C1E3-3307-4F6A-9A2C-C4497E40C71F}"/>
                </a:ext>
              </a:extLst>
            </p:cNvPr>
            <p:cNvSpPr/>
            <p:nvPr/>
          </p:nvSpPr>
          <p:spPr>
            <a:xfrm>
              <a:off x="488505" y="1844824"/>
              <a:ext cx="2520280" cy="4320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org.springframework.stereotype.Controller;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900" spc="-1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com.nexacro.uiadapter.spring.core.data.NexacroResult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  <a:endParaRPr lang="ko-KR" altLang="en-US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46E90496-4631-4717-B6B8-FB557640A5F9}"/>
                </a:ext>
              </a:extLst>
            </p:cNvPr>
            <p:cNvSpPr/>
            <p:nvPr/>
          </p:nvSpPr>
          <p:spPr>
            <a:xfrm>
              <a:off x="488505" y="1554013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조회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결과 리턴 컨트롤러 생성과 어노테이션 등록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6AB35C31-A342-403F-9123-E5AFA7A1FBB7}"/>
              </a:ext>
            </a:extLst>
          </p:cNvPr>
          <p:cNvGrpSpPr/>
          <p:nvPr/>
        </p:nvGrpSpPr>
        <p:grpSpPr>
          <a:xfrm>
            <a:off x="5457059" y="3522345"/>
            <a:ext cx="3888431" cy="2606932"/>
            <a:chOff x="742426" y="1412776"/>
            <a:chExt cx="2122342" cy="2606932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7BF85126-09BA-4386-AA02-1FA931794758}"/>
                </a:ext>
              </a:extLst>
            </p:cNvPr>
            <p:cNvSpPr/>
            <p:nvPr/>
          </p:nvSpPr>
          <p:spPr>
            <a:xfrm>
              <a:off x="742426" y="1772815"/>
              <a:ext cx="2122342" cy="224689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this.transaction("selectComCodeTypeList"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,"http://localhost:8080/nbdf/</a:t>
              </a:r>
              <a:r>
                <a:rPr lang="en-US" altLang="ko-KR" sz="8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en-US" altLang="ko-KR" sz="8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,"inSearch=dsSearch"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,"dsComCodeType=outSelectList dsRowCount=outSelectCount"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,"userId=" + sUserId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,“</a:t>
              </a:r>
              <a:r>
                <a:rPr lang="en-US" altLang="ko-KR" sz="8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fn_callback</a:t>
              </a:r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);</a:t>
              </a:r>
              <a:endParaRPr lang="ko-KR" altLang="en-US" sz="8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47395545-ABDD-4719-B63F-79CABC51FA19}"/>
                </a:ext>
              </a:extLst>
            </p:cNvPr>
            <p:cNvSpPr/>
            <p:nvPr/>
          </p:nvSpPr>
          <p:spPr>
            <a:xfrm>
              <a:off x="742426" y="1412776"/>
              <a:ext cx="2122342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넥사크로 호출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864818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컨트롤러 생성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컨트롤러 생성을 통하여 </a:t>
            </a:r>
            <a:r>
              <a:rPr lang="ko-KR" altLang="en-US" b="1" dirty="0">
                <a:solidFill>
                  <a:srgbClr val="00FFFF"/>
                </a:solidFill>
              </a:rPr>
              <a:t>클라이언트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넥사크로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에서 요청한 데이터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데이터셋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매개변수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dirty="0"/>
              <a:t>에 대하여 </a:t>
            </a:r>
            <a:r>
              <a:rPr lang="ko-KR" altLang="en-US" b="1" dirty="0">
                <a:solidFill>
                  <a:srgbClr val="00FFFF"/>
                </a:solidFill>
              </a:rPr>
              <a:t>자바</a:t>
            </a:r>
            <a:r>
              <a:rPr lang="ko-KR" altLang="en-US" dirty="0"/>
              <a:t>에서 인식할 수 있는 </a:t>
            </a:r>
            <a:r>
              <a:rPr lang="ko-KR" altLang="en-US" b="1" dirty="0">
                <a:solidFill>
                  <a:srgbClr val="00FFFF"/>
                </a:solidFill>
              </a:rPr>
              <a:t>데이터 전환</a:t>
            </a:r>
            <a:r>
              <a:rPr lang="ko-KR" altLang="en-US" dirty="0"/>
              <a:t>과 </a:t>
            </a:r>
            <a:r>
              <a:rPr lang="ko-KR" altLang="en-US" b="1" dirty="0">
                <a:solidFill>
                  <a:srgbClr val="00FFFF"/>
                </a:solidFill>
              </a:rPr>
              <a:t>서버 모델에서 처리된 결과</a:t>
            </a:r>
            <a:r>
              <a:rPr lang="ko-KR" altLang="en-US" dirty="0"/>
              <a:t>를 </a:t>
            </a:r>
            <a:r>
              <a:rPr lang="en-US" altLang="ko-KR" b="1" dirty="0">
                <a:solidFill>
                  <a:srgbClr val="00FFFF"/>
                </a:solidFill>
              </a:rPr>
              <a:t>ViewResolver</a:t>
            </a:r>
            <a:r>
              <a:rPr lang="ko-KR" altLang="en-US" b="1" dirty="0">
                <a:solidFill>
                  <a:srgbClr val="00FFFF"/>
                </a:solidFill>
              </a:rPr>
              <a:t>통하여 클라이언트에 전달</a:t>
            </a:r>
            <a:r>
              <a:rPr lang="ko-KR" altLang="en-US" dirty="0"/>
              <a:t>하는 클래스입니다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F7E9BD1-72E2-42C6-AB5C-B34AFFADF599}"/>
              </a:ext>
            </a:extLst>
          </p:cNvPr>
          <p:cNvSpPr/>
          <p:nvPr/>
        </p:nvSpPr>
        <p:spPr>
          <a:xfrm>
            <a:off x="344488" y="1412875"/>
            <a:ext cx="9279507" cy="139694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package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egovframework.example.hcm.web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java.math.BigDecimal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java.util.List;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java.util.Map;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javax.annotation.Resource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org.slf4j.Logger;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org.slf4j.LoggerFactory;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org.springframework.stereotype.Controller;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org.springframework.web.bind.annotation.RequestMapping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com.nexacro.uiadapter.spring.core.annotation.ParamDataSet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com.nexacro.uiadapter.spring.core.annotation.ParamVariable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com.nexacro.uiadapter.spring.core.data.NexacroResult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egovframework.example.hcm.service.EduNexaService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Types comments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작성일자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2026. 5. 15.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목    적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조회 및 건수 조회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          코드유형 데이터 저장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신규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수정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삭제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설    명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클라이언트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에서 요청한 데이터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데이터셋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매개변수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대하여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          자바에서 인식할 수 있는 형태의 데이터로 전환 및 서버에서 처리된 결과를 클라이언트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전달하는 클래스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@Controller     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해당 클래스를 웹 요청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(URL)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을 처리하는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클래스로 등록하는 어노테이션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@RequestMapping : Spring Framework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URL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요청을 컨트롤러 메서드와 매핑하는 어노테이션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@Controller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@RequestMapping(value = "com/COM10000")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public class EduNexaController {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목    적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로그 출력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설    명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서버에서 로그를 출력하기 위한 변수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pom.xml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Log4j2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라이브러리 추가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log4j-api / log4j-core / log4j-slf4j2-impl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로그설정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log4j2.xml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수정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private Logger log = LoggerFactory.getLogger(this.getClass());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//EduNexaService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대한 의존성 주입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@Resource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private EduNexaService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eduNexaService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Methods comments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작성일자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2026. 5. 15.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목    적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조회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매개변수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Map&lt;String, Object&gt; dsSearch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          String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리    턴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NexacroResult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*/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@RequestMapping(value = "selectComCodeTypeList.do")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public NexacroResult selectComCodeTypeList(@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ParamDataSet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(name = "inSearch") Map&lt;String, Object&gt; dsSearch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                    ,@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ParamVariable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(name = "userId") String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 throws Exception {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데이터 셋 </a:t>
            </a:r>
            <a:r>
              <a:rPr lang="ko-KR" altLang="en-US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로우타입</a:t>
            </a:r>
            <a:endParaRPr lang="ko-KR" altLang="en-US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//0(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초기상태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1(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조회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2(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신규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4(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수정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8(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삭제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int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nRowType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(Integer)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dsSearch.get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DataSetRowType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DataSetRowType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nRowType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("dsSearch(CODE_TYPE)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dsSearch.get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("CODE_TYPE"));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("dsSearch(CODE_TYPE_NM)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dsSearch.get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("CODE_TYPE_NM"));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건수 조회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리스트 맵 데이터를 맵 데이터로 추출 후 </a:t>
            </a:r>
            <a:r>
              <a:rPr lang="ko-KR" altLang="en-US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맵의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컬럼의 값을 추출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List&lt;Map&lt;String, Object&gt;&gt;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selectCodeTypeCount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eduNexaService.selectComCodeTypeCount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(dsSearch);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Map&lt;String, Object&gt;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selCntMap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selectCodeTypeCount.get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(0);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rowCnt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selCntMap.get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("ROW_CNT");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rowCnt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rowCnt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조회를 위한 메소드 호출 및 결과 리턴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List&lt;Map&lt;String, Object&gt;&gt;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eduNexaService.selectComCodeTypeList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(dsSearch);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존재하는 데이터 확인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for(int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=0;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selectCodeTypeList.size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++)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0)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}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//List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데이터를 각각의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 추출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Map&lt;String, Object&gt;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//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의 값을 컬럼 단위로 추출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("CODE_TYPE_ID");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String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(String)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("["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+ "]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("["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+ "]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selectCodeTypeList.size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()-1)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NexacroResult result = new NexacroResult();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자바객체로 처리된 결과를 넥사크로 데이터셋 형태로 전환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result.addDataSet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("outSelectList",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result.addDataSet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("outSelectCount",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selectCodeTypeCount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return result;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356580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서비스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컨트롤러에서 생성한 메소드에 대하여 </a:t>
            </a:r>
            <a:r>
              <a:rPr lang="ko-KR" altLang="en-US" b="1" dirty="0">
                <a:solidFill>
                  <a:srgbClr val="00FFFF"/>
                </a:solidFill>
              </a:rPr>
              <a:t>구현체로 데이터를 인터페이스</a:t>
            </a:r>
            <a:r>
              <a:rPr lang="ko-KR" altLang="en-US" dirty="0"/>
              <a:t> 하기 위한 </a:t>
            </a:r>
            <a:r>
              <a:rPr lang="ko-KR" altLang="en-US" b="1" dirty="0">
                <a:solidFill>
                  <a:srgbClr val="00FFFF"/>
                </a:solidFill>
              </a:rPr>
              <a:t>메소드를 정의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Service</a:t>
            </a:r>
            <a:r>
              <a:rPr lang="ko-KR" altLang="en-US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Interface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service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EduNexaService.java</a:t>
            </a:r>
          </a:p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new</a:t>
            </a:r>
            <a:r>
              <a:rPr lang="en-US" altLang="ko-KR" sz="1200" b="1" spc="-100">
                <a:solidFill>
                  <a:srgbClr val="0000FF"/>
                </a:solidFill>
                <a:latin typeface="맑은 고딕" panose="020B0503020000020004" pitchFamily="50" charset="-127"/>
              </a:rPr>
              <a:t>/interface</a:t>
            </a:r>
            <a:endParaRPr lang="ko-KR" altLang="en-US" sz="1200" b="1" spc="-100" dirty="0">
              <a:solidFill>
                <a:srgbClr val="0000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448945" y="1918962"/>
            <a:ext cx="5080177" cy="4389764"/>
            <a:chOff x="488505" y="1700874"/>
            <a:chExt cx="2520280" cy="4389764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40"/>
              <a:ext cx="2520280" cy="41017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Types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및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          코드유형 데이터 저장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    명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컨트롤러에서 선언된 메소드를 구현체에 전달하기 위한 인터페이스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EduNexaService {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(Map&lt;String, Object&gt; dsSearch) throws Exception;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조회 및 건수 조회를 위한 서비스 인터페이스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3960440" cy="1716204"/>
            <a:chOff x="488505" y="1700874"/>
            <a:chExt cx="2520280" cy="171620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04C4756-2D92-4F09-810F-2114BFA88223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public 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List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&lt;Map&lt;String, Object&gt;&gt; selectComCodeTypeList(Map&lt;String, Object&gt; dsSearch) throws Exception;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List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객체 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BFFFFD8-79BF-4348-A11E-ECB34E3059CA}"/>
              </a:ext>
            </a:extLst>
          </p:cNvPr>
          <p:cNvGrpSpPr/>
          <p:nvPr/>
        </p:nvGrpSpPr>
        <p:grpSpPr>
          <a:xfrm>
            <a:off x="416496" y="3744839"/>
            <a:ext cx="3960440" cy="1716204"/>
            <a:chOff x="488505" y="1700874"/>
            <a:chExt cx="2520280" cy="1716204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530B9BB-CCA4-4F19-BEEC-FE63DD30A430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public List&lt;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Map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&lt;String, Object&gt;&gt; selectComCodeTypeList(Map&lt;String, Object&gt; dsSearch) throws Exception;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C7AC9DF-775F-45A9-AA47-F038CA1EABF6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CA869F2-191D-44EC-823E-EA65CFB7CD5B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Map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객체 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151858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서비스 구현체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인터페이스 받은 객체의 데이터를 대상으로 </a:t>
            </a:r>
            <a:r>
              <a:rPr lang="ko-KR" altLang="en-US" b="1" dirty="0">
                <a:solidFill>
                  <a:srgbClr val="00FFFF"/>
                </a:solidFill>
              </a:rPr>
              <a:t>비즈니스 로직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조회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신규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수정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삭제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처리 등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을 구현하는 클래스를 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Service Implement Class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impl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EduNexaServiceImpl.java</a:t>
            </a:r>
            <a:endParaRPr lang="ko-KR" altLang="en-US" sz="1200" b="1" spc="-100" dirty="0">
              <a:solidFill>
                <a:srgbClr val="0000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953000" y="1918962"/>
            <a:ext cx="4576122" cy="6838630"/>
            <a:chOff x="488505" y="1700874"/>
            <a:chExt cx="2520280" cy="6838630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39"/>
              <a:ext cx="2520280" cy="655066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 egovframework.example.hcm.service.impl;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javax.annotation.Resource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egovframework.example.hcm.service.EduNexaService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Types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및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          코드유형 데이터 저장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    명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서비스에서 전달된 정보를 대상으로 비즈니스 로직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(SQL </a:t>
              </a:r>
              <a:r>
                <a:rPr lang="ko-KR" altLang="en-US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매퍼에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전달 및 결과 리턴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을 구현하는 클래스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 import :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//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에 대한 의존성 주입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@Resource(name = "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private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Overriding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코드유형을 조회하는 메소드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 {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//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메소드 저장 후 오류 발생시 좌측 메뉴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"Create Method ..."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클릭하면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파일에 인터페이스 메소드가 자동으로 생성됨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return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eduNexaMapper.selectComCodeTypeList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Overriding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조회된 건수를 조회하는 메소드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(Map&lt;String, Object&gt; dsSearch) throws Exception {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//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메소드 저장 후 오류 발생시 좌측 메뉴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"Create Method ..."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클릭하면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파일에 인터페이스 메소드가 자동으로 생성됨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return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조회 및 건수 조회를 위한 구현체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3960440" cy="1716204"/>
            <a:chOff x="488505" y="1700874"/>
            <a:chExt cx="2520280" cy="171620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04C4756-2D92-4F09-810F-2114BFA88223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...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@Service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어노테이션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BFFFFD8-79BF-4348-A11E-ECB34E3059CA}"/>
              </a:ext>
            </a:extLst>
          </p:cNvPr>
          <p:cNvGrpSpPr/>
          <p:nvPr/>
        </p:nvGrpSpPr>
        <p:grpSpPr>
          <a:xfrm>
            <a:off x="416496" y="3744839"/>
            <a:ext cx="4441632" cy="2563886"/>
            <a:chOff x="488505" y="1700874"/>
            <a:chExt cx="2520280" cy="256388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530B9BB-CCA4-4F19-BEEC-FE63DD30A430}"/>
                </a:ext>
              </a:extLst>
            </p:cNvPr>
            <p:cNvSpPr/>
            <p:nvPr/>
          </p:nvSpPr>
          <p:spPr>
            <a:xfrm>
              <a:off x="488505" y="2482626"/>
              <a:ext cx="2520280" cy="178213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@Resource(name = "</a:t>
              </a:r>
              <a:r>
                <a:rPr lang="en-US" altLang="ko-KR" sz="9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private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return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eduNexaMapper.selectComCodeTypeList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C7AC9DF-775F-45A9-AA47-F038CA1EABF6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javax.annotation.Resource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CA869F2-191D-44EC-823E-EA65CFB7CD5B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Mapper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의존성 주입 및 데이터 조회 메소드 호출과 리턴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611803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매퍼 서비스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DB SQL</a:t>
            </a:r>
            <a:r>
              <a:rPr lang="en-US" altLang="ko-KR" dirty="0"/>
              <a:t>(</a:t>
            </a:r>
            <a:r>
              <a:rPr lang="ko-KR" altLang="en-US" dirty="0"/>
              <a:t>조회</a:t>
            </a:r>
            <a:r>
              <a:rPr lang="en-US" altLang="ko-KR" dirty="0"/>
              <a:t>, </a:t>
            </a:r>
            <a:r>
              <a:rPr lang="ko-KR" altLang="en-US" dirty="0"/>
              <a:t>신규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처리 등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객체를 연결</a:t>
            </a:r>
            <a:r>
              <a:rPr lang="ko-KR" altLang="en-US" dirty="0"/>
              <a:t>하는 </a:t>
            </a:r>
            <a:r>
              <a:rPr lang="ko-KR" altLang="en-US" b="1" dirty="0">
                <a:solidFill>
                  <a:srgbClr val="00FFFF"/>
                </a:solidFill>
              </a:rPr>
              <a:t>인터페이스 클래스를 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Mapper Interface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impl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EduNexaMapper.java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953000" y="1918962"/>
            <a:ext cx="4576122" cy="4641814"/>
            <a:chOff x="488505" y="1700874"/>
            <a:chExt cx="2520280" cy="4641814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39"/>
              <a:ext cx="2520280" cy="435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 egovframework.example.hcm.service.impl;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org.egovframe.rte.psl.dataaccess.mapper.Mapper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Types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및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          코드유형 데이터 저장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    명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DB SQL(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조회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처리 등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과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객체를 연결하는 인터페이스 클래스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@Mapper 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해당 인터페이스를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SQL Mapper(DB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처리 객체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로 등록하는 어노테이션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@Mapper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{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코드유형의 데이터를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(Map&lt;String, Object&gt; dsSearch) throws Exception;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조회 및 건수 조회를 위한 구현체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3960440" cy="1716204"/>
            <a:chOff x="488505" y="1700874"/>
            <a:chExt cx="2520280" cy="171620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04C4756-2D92-4F09-810F-2114BFA88223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...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@Service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어노테이션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BFFFFD8-79BF-4348-A11E-ECB34E3059CA}"/>
              </a:ext>
            </a:extLst>
          </p:cNvPr>
          <p:cNvGrpSpPr/>
          <p:nvPr/>
        </p:nvGrpSpPr>
        <p:grpSpPr>
          <a:xfrm>
            <a:off x="416496" y="3744839"/>
            <a:ext cx="4441632" cy="2563886"/>
            <a:chOff x="488505" y="1700874"/>
            <a:chExt cx="2520280" cy="256388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530B9BB-CCA4-4F19-BEEC-FE63DD30A430}"/>
                </a:ext>
              </a:extLst>
            </p:cNvPr>
            <p:cNvSpPr/>
            <p:nvPr/>
          </p:nvSpPr>
          <p:spPr>
            <a:xfrm>
              <a:off x="488505" y="2482626"/>
              <a:ext cx="2520280" cy="178213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@Resource(name = "</a:t>
              </a:r>
              <a:r>
                <a:rPr lang="en-US" altLang="ko-KR" sz="9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private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return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eduNexaMapper.selectComCodeTypeList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C7AC9DF-775F-45A9-AA47-F038CA1EABF6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javax.annotation.Resource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CA869F2-191D-44EC-823E-EA65CFB7CD5B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Mapper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의존성 주입 및 데이터 조회 메소드 호출과 리턴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844371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DB SQL</a:t>
            </a:r>
            <a:r>
              <a:rPr lang="ko-KR" altLang="en-US" dirty="0"/>
              <a:t>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트랜잭션 데이터에 대하여 </a:t>
            </a:r>
            <a:r>
              <a:rPr lang="ko-KR" altLang="en-US" b="1" dirty="0">
                <a:solidFill>
                  <a:srgbClr val="00FFFF"/>
                </a:solidFill>
              </a:rPr>
              <a:t>조회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신규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수정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삭제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처리하기 위한 쿼리를 작성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SQL </a:t>
            </a:r>
            <a:r>
              <a:rPr lang="ko-KR" altLang="en-US" dirty="0"/>
              <a:t>작성 규칙은 </a:t>
            </a:r>
            <a:r>
              <a:rPr lang="en-US" altLang="ko-KR" dirty="0"/>
              <a:t>MyBatis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Mybatis mapper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mapper</a:t>
            </a:r>
            <a:endParaRPr lang="ko-KR" altLang="en-US" sz="1050" b="1" spc="-100" dirty="0">
              <a:solidFill>
                <a:srgbClr val="00FF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EduNexaMapperSQL.xml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953000" y="1918962"/>
            <a:ext cx="4576122" cy="4641814"/>
            <a:chOff x="488505" y="1700874"/>
            <a:chExt cx="2520280" cy="4641814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39"/>
              <a:ext cx="2520280" cy="435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&lt;?xml version="1.0" encoding="UTF-8"?&gt;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&lt;!DOCTYPE mapper PUBLIC "-//mybatis.org//DTD Mapper 3.0//EN" "http://mybatis.org/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dtd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/mybatis-3-mapper.dtd"&gt;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&lt;mapper namespace="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egovframework.example.hcm.service.impl.EduNexaMapper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"&gt;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&lt;!--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--&gt;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&lt;select id="selectComCodeTypeList"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resultType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="map"&gt;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select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cct.code_type_id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cct.code_type_nm_s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cct.start_date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cct.end_date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cct.entry_type_cd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cct.remark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cct.create_date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cct.create_by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cct.update_date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cct.update_by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from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com_code_type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where 1=1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like #{CODE_TYPE}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like #{CODE_TYPE_NM}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order by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&lt;/select&gt;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&lt;!--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건수 조회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--&gt;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&lt;select id="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resultType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="map"&gt;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select count(1) as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row_cnt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from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com_code_type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where 1=1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like #{CODE_TYPE}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like #{CODE_TYPE_NM}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&lt;/select&gt;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&lt;/mapper&gt;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 조회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 및 처리를 위한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SQL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4441632" cy="1510038"/>
            <a:chOff x="488505" y="1700874"/>
            <a:chExt cx="2520280" cy="1510038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122207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&lt;?xml version="1.0" encoding="UTF-8"?&gt;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&lt;!DOCTYPE mapper PUBLIC "-//mybatis.org//DTD Mapper 3.0//EN" "http://mybatis.org/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dtd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/mybatis-3-mapper.dtd"&gt;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&lt;mapper 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namespace="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egovframework.example.hcm.service.impl.EduNexaMapper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"&gt;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매퍼 네임 스페이스를 지정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463202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EEB0A1-2AEA-4944-925A-0AE3B637C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4" y="1425092"/>
            <a:ext cx="6968624" cy="34668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기류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1400" spc="-100" smtClean="0">
            <a:solidFill>
              <a:schemeClr val="tx1"/>
            </a:solidFill>
            <a:latin typeface="나눔고딕" pitchFamily="50" charset="-127"/>
            <a:ea typeface="나눔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  <a:headEnd type="none" w="med" len="med"/>
          <a:tail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>
        <a:spAutoFit/>
      </a:bodyPr>
      <a:lstStyle>
        <a:defPPr algn="ctr">
          <a:defRPr sz="1300" b="1" dirty="0" smtClean="0">
            <a:latin typeface="나눔고딕" pitchFamily="50" charset="-127"/>
            <a:ea typeface="나눔고딕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80198</TotalTime>
  <Words>23863</Words>
  <Application>Microsoft Office PowerPoint</Application>
  <PresentationFormat>A4 용지(210x297mm)</PresentationFormat>
  <Paragraphs>3220</Paragraphs>
  <Slides>124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124</vt:i4>
      </vt:variant>
    </vt:vector>
  </HeadingPairs>
  <TitlesOfParts>
    <vt:vector size="131" baseType="lpstr">
      <vt:lpstr>Arial</vt:lpstr>
      <vt:lpstr>D2Coding</vt:lpstr>
      <vt:lpstr>맑은 고딕</vt:lpstr>
      <vt:lpstr>Times New Roman</vt:lpstr>
      <vt:lpstr>Pretendard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빌트원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교육자료</dc:title>
  <dc:subject>교육자료</dc:subject>
  <dc:creator>강정기</dc:creator>
  <cp:lastModifiedBy>강정기</cp:lastModifiedBy>
  <cp:revision>5152</cp:revision>
  <dcterms:created xsi:type="dcterms:W3CDTF">2012-09-11T01:43:36Z</dcterms:created>
  <dcterms:modified xsi:type="dcterms:W3CDTF">2026-06-19T07:52:54Z</dcterms:modified>
</cp:coreProperties>
</file>